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7" r:id="rId8"/>
    <p:sldId id="291" r:id="rId9"/>
    <p:sldId id="292" r:id="rId10"/>
    <p:sldId id="290" r:id="rId11"/>
    <p:sldId id="287" r:id="rId12"/>
    <p:sldId id="268" r:id="rId13"/>
    <p:sldId id="269" r:id="rId14"/>
    <p:sldId id="294" r:id="rId15"/>
    <p:sldId id="295" r:id="rId16"/>
    <p:sldId id="296" r:id="rId17"/>
    <p:sldId id="289" r:id="rId18"/>
    <p:sldId id="284" r:id="rId19"/>
  </p:sldIdLst>
  <p:sldSz cx="9753600" cy="7315200"/>
  <p:notesSz cx="6858000" cy="9144000"/>
  <p:embeddedFontLst>
    <p:embeddedFont>
      <p:font typeface="Calibri" panose="020F0502020204030204" pitchFamily="34" charset="0"/>
      <p:regular r:id="rId21"/>
      <p:bold r:id="rId22"/>
      <p:italic r:id="rId23"/>
      <p:boldItalic r:id="rId24"/>
    </p:embeddedFont>
    <p:embeddedFont>
      <p:font typeface="Consolas" panose="020B0609020204030204" pitchFamily="49" charset="0"/>
      <p:regular r:id="rId25"/>
      <p:bold r:id="rId26"/>
      <p:italic r:id="rId27"/>
      <p:boldItalic r:id="rId28"/>
    </p:embeddedFont>
    <p:embeddedFont>
      <p:font typeface="Arial Bold" panose="020B0704020202020204" pitchFamily="34" charset="0"/>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1330" autoAdjust="0"/>
  </p:normalViewPr>
  <p:slideViewPr>
    <p:cSldViewPr showGuides="1">
      <p:cViewPr varScale="1">
        <p:scale>
          <a:sx n="75" d="100"/>
          <a:sy n="75" d="100"/>
        </p:scale>
        <p:origin x="2412" y="6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pPr algn="l">
              <a:lnSpc>
                <a:spcPts val="4900"/>
              </a:lnSpc>
            </a:pPr>
            <a:r>
              <a:rPr lang="vi-VN" dirty="0" smtClean="0"/>
              <a:t>Kính thưa thầy,</a:t>
            </a:r>
            <a:br>
              <a:rPr lang="vi-VN" dirty="0" smtClean="0"/>
            </a:br>
            <a:r>
              <a:rPr lang="en-US" dirty="0" err="1" smtClean="0"/>
              <a:t>Em</a:t>
            </a:r>
            <a:r>
              <a:rPr lang="en-US" dirty="0" smtClean="0"/>
              <a:t> </a:t>
            </a:r>
            <a:r>
              <a:rPr lang="vi-VN" dirty="0" smtClean="0"/>
              <a:t>xin phép được trình bày </a:t>
            </a:r>
            <a:r>
              <a:rPr lang="vi-VN" b="1" dirty="0" smtClean="0"/>
              <a:t>báo cáo </a:t>
            </a:r>
            <a:r>
              <a:rPr lang="en-US" b="1" dirty="0" err="1" smtClean="0"/>
              <a:t>đồ</a:t>
            </a:r>
            <a:r>
              <a:rPr lang="en-US" b="1" baseline="0" dirty="0" smtClean="0"/>
              <a:t> </a:t>
            </a:r>
            <a:r>
              <a:rPr lang="en-US" b="1" baseline="0" dirty="0" err="1" smtClean="0"/>
              <a:t>án</a:t>
            </a:r>
            <a:r>
              <a:rPr lang="en-US" b="1" baseline="0" dirty="0" smtClean="0"/>
              <a:t> </a:t>
            </a:r>
            <a:r>
              <a:rPr lang="en-US" b="1" dirty="0" err="1" smtClean="0"/>
              <a:t>chuyên</a:t>
            </a:r>
            <a:r>
              <a:rPr lang="en-US" b="1" baseline="0" dirty="0" smtClean="0"/>
              <a:t> </a:t>
            </a:r>
            <a:r>
              <a:rPr lang="en-US" b="1" baseline="0" dirty="0" err="1" smtClean="0"/>
              <a:t>ngành</a:t>
            </a:r>
            <a:r>
              <a:rPr lang="en-US" b="1" baseline="0" dirty="0" smtClean="0"/>
              <a:t> </a:t>
            </a:r>
            <a:r>
              <a:rPr lang="vi-VN" dirty="0" smtClean="0"/>
              <a:t>với đề tài:</a:t>
            </a:r>
            <a:r>
              <a:rPr lang="en-US" dirty="0" smtClean="0"/>
              <a:t> </a:t>
            </a:r>
            <a:r>
              <a:rPr lang="vi-VN" b="1" dirty="0" smtClean="0"/>
              <a:t>“</a:t>
            </a:r>
            <a:r>
              <a:rPr lang="en-US" sz="1200" b="1" dirty="0" smtClean="0">
                <a:solidFill>
                  <a:srgbClr val="C00000"/>
                </a:solidFill>
                <a:latin typeface="Arial Bold" panose="020B0704020202020204"/>
                <a:ea typeface="Arial Bold" panose="020B0704020202020204"/>
                <a:cs typeface="Arial Bold" panose="020B0704020202020204"/>
                <a:sym typeface="Arial Bold" panose="020B0704020202020204"/>
              </a:rPr>
              <a:t>XÂY DỰNG WEBSITE BÁN LAPTOP ĐÃ QUA SỬ DỤNG</a:t>
            </a:r>
            <a:r>
              <a:rPr lang="vi-VN" b="1" dirty="0" smtClean="0"/>
              <a:t>”</a:t>
            </a:r>
            <a:r>
              <a:rPr lang="vi-VN" dirty="0" smtClean="0"/>
              <a:t>.</a:t>
            </a:r>
          </a:p>
          <a:p>
            <a:r>
              <a:rPr lang="vi-VN" dirty="0" smtClean="0"/>
              <a:t>Đề tài tập trung vào</a:t>
            </a:r>
            <a:r>
              <a:rPr lang="en-US" dirty="0" smtClean="0"/>
              <a:t> </a:t>
            </a:r>
            <a:r>
              <a:rPr lang="en-US" dirty="0" err="1" smtClean="0"/>
              <a:t>việc</a:t>
            </a:r>
            <a:r>
              <a:rPr lang="en-US" baseline="0" dirty="0" smtClean="0"/>
              <a:t> </a:t>
            </a:r>
            <a:r>
              <a:rPr lang="vi-VN" dirty="0" smtClean="0"/>
              <a:t>Xây dựng website bán laptop </a:t>
            </a:r>
            <a:r>
              <a:rPr lang="en-US" dirty="0" err="1" smtClean="0"/>
              <a:t>đã</a:t>
            </a:r>
            <a:r>
              <a:rPr lang="en-US" baseline="0" dirty="0" smtClean="0"/>
              <a:t> qua </a:t>
            </a:r>
            <a:r>
              <a:rPr lang="en-US" baseline="0" dirty="0" err="1" smtClean="0"/>
              <a:t>sử</a:t>
            </a:r>
            <a:r>
              <a:rPr lang="en-US" baseline="0" dirty="0" smtClean="0"/>
              <a:t> </a:t>
            </a:r>
            <a:r>
              <a:rPr lang="en-US" baseline="0" dirty="0" err="1" smtClean="0"/>
              <a:t>dụng</a:t>
            </a:r>
            <a:r>
              <a:rPr lang="en-US" baseline="0" dirty="0" smtClean="0"/>
              <a:t>,</a:t>
            </a:r>
            <a:r>
              <a:rPr lang="vi-VN" dirty="0" smtClean="0"/>
              <a:t> hỗ trợ quản lý sản phẩm và đơn hàng hiệu quả.</a:t>
            </a:r>
          </a:p>
          <a:p>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2</a:t>
            </a:r>
            <a:endParaRPr lang="en-US" dirty="0"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dirty="0" smtClean="0"/>
              <a:t>Nhu cầu mua bán laptop đã qua sử dụng ngày càng tăng do giá thành rẻ, cấu hình đa dạng, phù hợp với sinh viên và người đi làm.</a:t>
            </a:r>
          </a:p>
          <a:p>
            <a:r>
              <a:rPr lang="vi-VN" dirty="0" smtClean="0"/>
              <a:t>Nhiều cửa hàng laptop cũ vẫn quản lý thủ công, thiếu hệ thống website bán hàng và quản lý tập trung.</a:t>
            </a:r>
          </a:p>
          <a:p>
            <a:r>
              <a:rPr lang="vi-VN" dirty="0" smtClean="0"/>
              <a:t>Việc chưa số hóa gây khó khăn trong quản lý sản phẩm, cập nhật giá và trải nghiệm người dùng.</a:t>
            </a:r>
          </a:p>
          <a:p>
            <a:r>
              <a:rPr lang="vi-VN" dirty="0" smtClean="0"/>
              <a:t>Sinh viên mong muốn vận dụng kiến thức lập trình web và cơ sở dữ liệu để xây dựng một hệ thống thực tế.</a:t>
            </a:r>
            <a:endParaRPr lang="vi-VN"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b="1" dirty="0" smtClean="0"/>
              <a:t>Mục tiêu của đề tài</a:t>
            </a:r>
          </a:p>
          <a:p>
            <a:r>
              <a:rPr lang="vi-VN" dirty="0" smtClean="0"/>
              <a:t>Xây dựng website bán laptop cũ hỗ trợ quản lý sản phẩm và đơn hàng hiệu quả.</a:t>
            </a:r>
          </a:p>
          <a:p>
            <a:r>
              <a:rPr lang="vi-VN" dirty="0" smtClean="0"/>
              <a:t>Tối ưu trải nghiệm người dùng khi tìm kiếm, xem chi tiết và đặt mua laptop.</a:t>
            </a:r>
          </a:p>
          <a:p>
            <a:r>
              <a:rPr lang="vi-VN" dirty="0" smtClean="0"/>
              <a:t>Cung cấp trang quản trị cho cửa hàng quản lý dữ liệu tập trung.</a:t>
            </a:r>
          </a:p>
          <a:p>
            <a:r>
              <a:rPr lang="vi-VN" dirty="0" smtClean="0"/>
              <a:t>Ứng dụng công nghệ web hiện đại: ReactJS, Node.js, MySQL.</a:t>
            </a:r>
          </a:p>
          <a:p>
            <a:r>
              <a:rPr lang="vi-VN" dirty="0" smtClean="0"/>
              <a:t>Rèn luyện kỹ năng phân tích, thiết kế và triển khai hệ thống thực tế.</a:t>
            </a:r>
            <a:endParaRPr lang="vi-VN"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b="1" dirty="0" smtClean="0"/>
              <a:t>1.3. Đối tượng nghiên cứu</a:t>
            </a:r>
          </a:p>
          <a:p>
            <a:r>
              <a:rPr lang="vi-VN" dirty="0" smtClean="0"/>
              <a:t>Quy trình mua bán laptop đã qua sử dụng tại cửa hàng.</a:t>
            </a:r>
          </a:p>
          <a:p>
            <a:r>
              <a:rPr lang="vi-VN" dirty="0" smtClean="0"/>
              <a:t>Người dùng hệ thống: khách hàng và quản trị viên.</a:t>
            </a:r>
          </a:p>
          <a:p>
            <a:r>
              <a:rPr lang="vi-VN" dirty="0" smtClean="0"/>
              <a:t>Mô hình quản lý sản phẩm, đơn hàng, tài khoản người dùng.</a:t>
            </a:r>
          </a:p>
          <a:p>
            <a:r>
              <a:rPr lang="vi-VN" dirty="0" smtClean="0"/>
              <a:t>Công nghệ web: ReactJS, Node.js, MySQL, Docker.</a:t>
            </a:r>
            <a:endParaRPr lang="en-US" dirty="0" smtClean="0"/>
          </a:p>
          <a:p>
            <a:endParaRPr lang="en-US" dirty="0" smtClean="0"/>
          </a:p>
          <a:p>
            <a:r>
              <a:rPr lang="vi-VN" b="1" dirty="0" smtClean="0"/>
              <a:t>1.4. Phạm vi nghiên cứu</a:t>
            </a:r>
          </a:p>
          <a:p>
            <a:r>
              <a:rPr lang="vi-VN" dirty="0" smtClean="0"/>
              <a:t>Website bán laptop cũ phục vụ xem, tìm kiếm, đặt mua sản phẩm.</a:t>
            </a:r>
          </a:p>
          <a:p>
            <a:r>
              <a:rPr lang="vi-VN" dirty="0" smtClean="0"/>
              <a:t>Trang quản trị quản lý sản phẩm, đơn hàng, khách hàng.</a:t>
            </a:r>
          </a:p>
          <a:p>
            <a:r>
              <a:rPr lang="vi-VN" dirty="0" smtClean="0"/>
              <a:t>Hệ thống chạy ở mức mô phỏng phục vụ đồ án (localhost/Docker).</a:t>
            </a:r>
          </a:p>
          <a:p>
            <a:r>
              <a:rPr lang="vi-VN" dirty="0" smtClean="0"/>
              <a:t>Không tích hợp thanh toán online thực tế.</a:t>
            </a:r>
          </a:p>
          <a:p>
            <a:r>
              <a:rPr lang="vi-VN" dirty="0" smtClean="0"/>
              <a:t>Không mở rộng sang dịch vụ sửa chữa hoặc đổi trả.</a:t>
            </a:r>
          </a:p>
          <a:p>
            <a:endParaRPr lang="en-US" dirty="0" smtClean="0"/>
          </a:p>
          <a:p>
            <a:endParaRPr lang="vi-VN"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b="1" dirty="0" smtClean="0"/>
              <a:t>Công nghệ sử dụng</a:t>
            </a:r>
          </a:p>
          <a:p>
            <a:r>
              <a:rPr lang="vi-VN" b="1" dirty="0" smtClean="0"/>
              <a:t>ReactJS</a:t>
            </a:r>
            <a:r>
              <a:rPr lang="vi-VN" dirty="0" smtClean="0"/>
              <a:t>:</a:t>
            </a:r>
            <a:br>
              <a:rPr lang="vi-VN" dirty="0" smtClean="0"/>
            </a:br>
            <a:r>
              <a:rPr lang="vi-VN" dirty="0" smtClean="0"/>
              <a:t>Xây dựng giao diện SPA, tái sử dụng component, cập nhật giao diện nhanh.</a:t>
            </a:r>
          </a:p>
          <a:p>
            <a:r>
              <a:rPr lang="vi-VN" b="1" dirty="0" smtClean="0"/>
              <a:t>Node.js &amp; ExpressJS</a:t>
            </a:r>
            <a:r>
              <a:rPr lang="vi-VN" dirty="0" smtClean="0"/>
              <a:t>:</a:t>
            </a:r>
            <a:br>
              <a:rPr lang="vi-VN" dirty="0" smtClean="0"/>
            </a:br>
            <a:r>
              <a:rPr lang="vi-VN" dirty="0" smtClean="0"/>
              <a:t>Xây dựng backend, xử lý API, xác thực và nghiệp vụ hệ thống.</a:t>
            </a:r>
          </a:p>
          <a:p>
            <a:r>
              <a:rPr lang="vi-VN" b="1" dirty="0" smtClean="0"/>
              <a:t>MySQL</a:t>
            </a:r>
            <a:r>
              <a:rPr lang="vi-VN" dirty="0" smtClean="0"/>
              <a:t>:</a:t>
            </a:r>
            <a:br>
              <a:rPr lang="vi-VN" dirty="0" smtClean="0"/>
            </a:br>
            <a:r>
              <a:rPr lang="vi-VN" dirty="0" smtClean="0"/>
              <a:t>Quản lý dữ liệu người dùng, sản phẩm, đơn hàng.</a:t>
            </a:r>
          </a:p>
          <a:p>
            <a:r>
              <a:rPr lang="vi-VN" b="1" dirty="0" smtClean="0"/>
              <a:t>Docker</a:t>
            </a:r>
            <a:r>
              <a:rPr lang="vi-VN" dirty="0" smtClean="0"/>
              <a:t>:</a:t>
            </a:r>
            <a:br>
              <a:rPr lang="vi-VN" dirty="0" smtClean="0"/>
            </a:br>
            <a:r>
              <a:rPr lang="vi-VN" dirty="0" smtClean="0"/>
              <a:t>Đóng gói và triển khai hệ thống đồng nhất trên nhiều môi trường.</a:t>
            </a:r>
            <a:endParaRPr lang="vi-VN"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dirty="0" smtClean="0"/>
              <a:t>Hệ thống được xây dựng dưới dạng website thương mại điện tử chuyên mua bán laptop đã qua sử dụng.</a:t>
            </a:r>
            <a:br>
              <a:rPr lang="vi-VN" dirty="0" smtClean="0"/>
            </a:br>
            <a:r>
              <a:rPr lang="vi-VN" dirty="0" smtClean="0"/>
              <a:t>Website cung cấp các chức năng cốt lõi như xem, tìm kiếm, mua hàng, đánh giá và lưu sản phẩm yêu thích,</a:t>
            </a:r>
            <a:br>
              <a:rPr lang="vi-VN" dirty="0" smtClean="0"/>
            </a:br>
            <a:r>
              <a:rPr lang="vi-VN" dirty="0" smtClean="0"/>
              <a:t>nhằm hướng tới một nền tảng uy tín, giao dịch an toàn và dễ sử dụng cho người dùng.</a:t>
            </a:r>
          </a:p>
          <a:p>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Hệ thống được thiết kế với nhiều nhóm người dùng khác nhau, mỗi nhóm có các chức năng và quyền hạn riêng,</a:t>
            </a:r>
            <a:r>
              <a:rPr lang="en-US" dirty="0" smtClean="0"/>
              <a:t> </a:t>
            </a:r>
            <a:r>
              <a:rPr lang="vi-VN" dirty="0" smtClean="0"/>
              <a:t>nhằm đảm bảo hoạt động hiệu quả và quản lý chặt chẽ.</a:t>
            </a:r>
            <a:endParaRPr lang="en-US" dirty="0" smtClean="0"/>
          </a:p>
          <a:p>
            <a:endParaRPr lang="en-US" dirty="0" smtClean="0"/>
          </a:p>
          <a:p>
            <a:r>
              <a:rPr lang="vi-VN" dirty="0" smtClean="0"/>
              <a:t>Người dùng chưa đăng nhập có thể xem, tìm kiếm, lọc và xem chi tiết sản phẩm.</a:t>
            </a:r>
            <a:r>
              <a:rPr lang="en-US" dirty="0" smtClean="0"/>
              <a:t> </a:t>
            </a:r>
            <a:r>
              <a:rPr lang="vi-VN" dirty="0" smtClean="0"/>
              <a:t>Sau khi đăng nhập, người dùng có thể đặt hàng, theo dõi lịch sử mua hàng, lưu sản phẩm yêu thích,</a:t>
            </a:r>
            <a:r>
              <a:rPr lang="en-US" dirty="0" smtClean="0"/>
              <a:t> </a:t>
            </a:r>
            <a:r>
              <a:rPr lang="vi-VN" dirty="0" smtClean="0"/>
              <a:t>đánh giá sản phẩm và xác thực sinh viên để nhận các ưu đãi phù hợp.</a:t>
            </a:r>
            <a:endParaRPr lang="en-US" dirty="0" smtClean="0"/>
          </a:p>
        </p:txBody>
      </p:sp>
      <p:sp>
        <p:nvSpPr>
          <p:cNvPr id="4" name="Slide Number Placeholder 3"/>
          <p:cNvSpPr>
            <a:spLocks noGrp="1"/>
          </p:cNvSpPr>
          <p:nvPr>
            <p:ph type="sldNum" sz="quarter" idx="10"/>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3401476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dirty="0" smtClean="0"/>
              <a:t>Quản trị viên chịu trách nhiệm quản lý và vận hành toàn bộ hệ thống, bao gồm sản phẩm, danh mục, đơn hàng,</a:t>
            </a:r>
            <a:r>
              <a:rPr lang="en-US" dirty="0" smtClean="0"/>
              <a:t> </a:t>
            </a:r>
            <a:r>
              <a:rPr lang="vi-VN" dirty="0" smtClean="0"/>
              <a:t>người dùng, xác thực sinh viên, xử lý liên hệ và theo dõi các thống kê tổng quan.</a:t>
            </a:r>
          </a:p>
          <a:p>
            <a:r>
              <a:rPr lang="vi-VN" dirty="0" smtClean="0"/>
              <a:t>Nhân viên hỗ trợ vận hành hệ thống với quyền hạn giới hạn,</a:t>
            </a:r>
            <a:r>
              <a:rPr lang="en-US" dirty="0" smtClean="0"/>
              <a:t> </a:t>
            </a:r>
            <a:r>
              <a:rPr lang="vi-VN" dirty="0" smtClean="0"/>
              <a:t>tham gia xử lý nghiệp vụ hằng ngày nhưng không có quyền quản lý nhân sự.</a:t>
            </a:r>
            <a:endParaRPr lang="en-US" dirty="0" smtClean="0"/>
          </a:p>
        </p:txBody>
      </p:sp>
      <p:sp>
        <p:nvSpPr>
          <p:cNvPr id="4" name="Slide Number Placeholder 3"/>
          <p:cNvSpPr>
            <a:spLocks noGrp="1"/>
          </p:cNvSpPr>
          <p:nvPr>
            <p:ph type="sldNum" sz="quarter" idx="10"/>
          </p:nvPr>
        </p:nvSpPr>
        <p:spPr/>
        <p:txBody>
          <a:bodyPr/>
          <a:lstStyle/>
          <a:p>
            <a:fld id="{871B2431-D351-4C6E-A3CF-9DFAC0E3E050}" type="slidenum">
              <a:rPr lang="cs-CZ" smtClean="0"/>
              <a:t>9</a:t>
            </a:fld>
            <a:endParaRPr lang="cs-CZ"/>
          </a:p>
        </p:txBody>
      </p:sp>
    </p:spTree>
    <p:extLst>
      <p:ext uri="{BB962C8B-B14F-4D97-AF65-F5344CB8AC3E}">
        <p14:creationId xmlns:p14="http://schemas.microsoft.com/office/powerpoint/2010/main" val="3169071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2359889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Sau quá trình phân tích, thiết kế và triển khai hệ thống, đề tài đã đạt được một số kết quả chính, thể hiện ở</a:t>
            </a:r>
            <a:r>
              <a:rPr lang="en-US" dirty="0" smtClean="0"/>
              <a:t>…</a:t>
            </a:r>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Tiếp theo là kết quả đánh giá hiệu năng hệ thống, bao gồm hiệu năng tải trang ở phía người dùng và thời gian phản hồi của các API ở phía backend.</a:t>
            </a:r>
          </a:p>
        </p:txBody>
      </p:sp>
      <p:sp>
        <p:nvSpPr>
          <p:cNvPr id="4" name="Slide Number Placeholder 3"/>
          <p:cNvSpPr>
            <a:spLocks noGrp="1"/>
          </p:cNvSpPr>
          <p:nvPr>
            <p:ph type="sldNum" sz="quarter" idx="10"/>
          </p:nvPr>
        </p:nvSpPr>
        <p:spPr/>
        <p:txBody>
          <a:bodyPr/>
          <a:lstStyle/>
          <a:p>
            <a:fld id="{871B2431-D351-4C6E-A3CF-9DFAC0E3E050}" type="slidenum">
              <a:rPr lang="cs-CZ" smtClean="0"/>
              <a:t>12</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Ngoài hiệu năng, cũng tập trung đánh giá trải nghiệm người dùng để đảm bảo hệ thống dễ sử dụng và thân thiện.</a:t>
            </a:r>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13</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Tiếp theo, </a:t>
            </a:r>
            <a:r>
              <a:rPr lang="en-US" dirty="0" err="1" smtClean="0"/>
              <a:t>tôi</a:t>
            </a:r>
            <a:r>
              <a:rPr lang="en-US" baseline="0" dirty="0" smtClean="0"/>
              <a:t> </a:t>
            </a:r>
            <a:r>
              <a:rPr lang="vi-VN" dirty="0" smtClean="0"/>
              <a:t>xin giới thiệu giao diện hệ thống,</a:t>
            </a:r>
            <a:r>
              <a:rPr lang="en-US" dirty="0" smtClean="0"/>
              <a:t> </a:t>
            </a:r>
            <a:r>
              <a:rPr lang="en-US" dirty="0" err="1" smtClean="0"/>
              <a:t>vì</a:t>
            </a:r>
            <a:r>
              <a:rPr lang="en-US" baseline="0" dirty="0" smtClean="0"/>
              <a:t> </a:t>
            </a:r>
            <a:r>
              <a:rPr lang="en-US" baseline="0" dirty="0" err="1" smtClean="0"/>
              <a:t>thời</a:t>
            </a:r>
            <a:r>
              <a:rPr lang="en-US" baseline="0" dirty="0" smtClean="0"/>
              <a:t> </a:t>
            </a:r>
            <a:r>
              <a:rPr lang="en-US" baseline="0" dirty="0" err="1" smtClean="0"/>
              <a:t>gian</a:t>
            </a:r>
            <a:r>
              <a:rPr lang="en-US" baseline="0" dirty="0" smtClean="0"/>
              <a:t> </a:t>
            </a:r>
            <a:r>
              <a:rPr lang="en-US" baseline="0" dirty="0" err="1" smtClean="0"/>
              <a:t>có</a:t>
            </a:r>
            <a:r>
              <a:rPr lang="en-US" baseline="0" dirty="0" smtClean="0"/>
              <a:t> </a:t>
            </a:r>
            <a:r>
              <a:rPr lang="en-US" baseline="0" dirty="0" err="1" smtClean="0"/>
              <a:t>hạn</a:t>
            </a:r>
            <a:r>
              <a:rPr lang="en-US" baseline="0" dirty="0" smtClean="0"/>
              <a:t> </a:t>
            </a:r>
            <a:r>
              <a:rPr lang="en-US" baseline="0" dirty="0" err="1" smtClean="0"/>
              <a:t>nên</a:t>
            </a:r>
            <a:r>
              <a:rPr lang="en-US" baseline="0" dirty="0" smtClean="0"/>
              <a:t> </a:t>
            </a:r>
            <a:r>
              <a:rPr lang="en-US" baseline="0" dirty="0" err="1" smtClean="0"/>
              <a:t>tôi</a:t>
            </a:r>
            <a:r>
              <a:rPr lang="en-US" baseline="0" dirty="0" smtClean="0"/>
              <a:t> </a:t>
            </a:r>
            <a:r>
              <a:rPr lang="en-US" baseline="0" dirty="0" err="1" smtClean="0"/>
              <a:t>chỉ</a:t>
            </a:r>
            <a:r>
              <a:rPr lang="en-US" baseline="0" dirty="0" smtClean="0"/>
              <a:t> </a:t>
            </a:r>
            <a:r>
              <a:rPr lang="en-US" baseline="0" dirty="0" err="1" smtClean="0"/>
              <a:t>liệt</a:t>
            </a:r>
            <a:r>
              <a:rPr lang="en-US" baseline="0" dirty="0" smtClean="0"/>
              <a:t> </a:t>
            </a:r>
            <a:r>
              <a:rPr lang="en-US" baseline="0" dirty="0" err="1" smtClean="0"/>
              <a:t>kê</a:t>
            </a:r>
            <a:r>
              <a:rPr lang="en-US" baseline="0" dirty="0" smtClean="0"/>
              <a:t> 2 </a:t>
            </a:r>
            <a:r>
              <a:rPr lang="en-US" baseline="0" dirty="0" err="1" smtClean="0"/>
              <a:t>trang</a:t>
            </a:r>
            <a:r>
              <a:rPr lang="en-US" baseline="0" dirty="0" smtClean="0"/>
              <a:t>,</a:t>
            </a:r>
            <a:r>
              <a:rPr lang="vi-VN" dirty="0" smtClean="0"/>
              <a:t> bao gồm trang chủ và trang chi tiết sản phẩm, được thiết kế đơn giản, trực quan và thân thiện với người dùng.</a:t>
            </a:r>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14</a:t>
            </a:fld>
            <a:endParaRPr lang="cs-CZ"/>
          </a:p>
        </p:txBody>
      </p:sp>
    </p:spTree>
    <p:extLst>
      <p:ext uri="{BB962C8B-B14F-4D97-AF65-F5344CB8AC3E}">
        <p14:creationId xmlns:p14="http://schemas.microsoft.com/office/powerpoint/2010/main" val="3959068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Hệ thống được kiểm thử các API quan trọng nhằm đảm bảo tính chính xác và ổn định.</a:t>
            </a:r>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689936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149648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60675" y="512763"/>
            <a:ext cx="3422650" cy="2566987"/>
          </a:xfrm>
        </p:spPr>
      </p:sp>
      <p:sp>
        <p:nvSpPr>
          <p:cNvPr id="3" name="Notes Placeholder 2"/>
          <p:cNvSpPr>
            <a:spLocks noGrp="1"/>
          </p:cNvSpPr>
          <p:nvPr>
            <p:ph type="body" idx="1"/>
          </p:nvPr>
        </p:nvSpPr>
        <p:spPr/>
        <p:txBody>
          <a:bodyPr/>
          <a:lstStyle/>
          <a:p>
            <a:r>
              <a:rPr lang="vi-VN" dirty="0" smtClean="0"/>
              <a:t>Qua quá trình triển khai và đánh giá, hệ thống đã đáp ứng đầy đủ các yêu cầu đặt ra, hoạt động ổn định và sẵn sàng cho việc mở rộng trong tương lai.</a:t>
            </a:r>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17</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dirty="0" smtClean="0"/>
              <a:t>Cuối cùng, nhóm chúng em xin chân thành cảm ơn thầy </a:t>
            </a:r>
            <a:r>
              <a:rPr lang="vi-VN" b="1" dirty="0" smtClean="0"/>
              <a:t>TS. Thạch Kọng Saoane</a:t>
            </a:r>
            <a:r>
              <a:rPr lang="vi-VN" dirty="0" smtClean="0"/>
              <a:t> đã tận tình hướng dẫn và hỗ trợ trong suốt quá trình học tập và thực hiện đề tài.</a:t>
            </a:r>
          </a:p>
          <a:p>
            <a:r>
              <a:rPr lang="vi-VN" dirty="0" smtClean="0"/>
              <a:t>Nhóm xin trân trọng cảm ơn quý thầy cô và các bạn đã lắng nghe phần trình bày.</a:t>
            </a:r>
            <a:br>
              <a:rPr lang="vi-VN" dirty="0" smtClean="0"/>
            </a:br>
            <a:r>
              <a:rPr lang="vi-VN" b="1" dirty="0" smtClean="0"/>
              <a:t>Chúng em xin hết.</a:t>
            </a:r>
            <a:endParaRPr lang="vi-VN" dirty="0"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image" Target="../media/image6.svg"/><Relationship Id="rId12"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4.svg"/><Relationship Id="rId10" Type="http://schemas.openxmlformats.org/officeDocument/2006/relationships/image" Target="../media/image9.svg"/><Relationship Id="rId9" Type="http://schemas.openxmlformats.org/officeDocument/2006/relationships/image" Target="../media/image6.png"/><Relationship Id="rId1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4.sv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7.png"/><Relationship Id="rId7" Type="http://schemas.openxmlformats.org/officeDocument/2006/relationships/image" Target="../media/image29.svg"/><Relationship Id="rId12"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11" Type="http://schemas.openxmlformats.org/officeDocument/2006/relationships/image" Target="../media/image21.png"/><Relationship Id="rId10" Type="http://schemas.openxmlformats.org/officeDocument/2006/relationships/image" Target="../media/image20.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notesSlide" Target="../notesSlides/notesSlide11.xml"/><Relationship Id="rId5" Type="http://schemas.openxmlformats.org/officeDocument/2006/relationships/tags" Target="../tags/tag5.xml"/><Relationship Id="rId10"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1257599"/>
            <a:chOff x="0" y="0"/>
            <a:chExt cx="3612444" cy="465778"/>
          </a:xfrm>
        </p:grpSpPr>
        <p:sp>
          <p:nvSpPr>
            <p:cNvPr id="3" name="Freeform 3"/>
            <p:cNvSpPr/>
            <p:nvPr/>
          </p:nvSpPr>
          <p:spPr>
            <a:xfrm>
              <a:off x="0" y="0"/>
              <a:ext cx="3612445" cy="465778"/>
            </a:xfrm>
            <a:custGeom>
              <a:avLst/>
              <a:gdLst/>
              <a:ahLst/>
              <a:cxnLst/>
              <a:rect l="l" t="t" r="r" b="b"/>
              <a:pathLst>
                <a:path w="3612445" h="465778">
                  <a:moveTo>
                    <a:pt x="0" y="0"/>
                  </a:moveTo>
                  <a:lnTo>
                    <a:pt x="3612445" y="0"/>
                  </a:lnTo>
                  <a:lnTo>
                    <a:pt x="3612445" y="465778"/>
                  </a:lnTo>
                  <a:lnTo>
                    <a:pt x="0" y="465778"/>
                  </a:lnTo>
                  <a:close/>
                </a:path>
              </a:pathLst>
            </a:custGeom>
            <a:solidFill>
              <a:srgbClr val="FFF200"/>
            </a:solidFill>
          </p:spPr>
        </p:sp>
        <p:sp>
          <p:nvSpPr>
            <p:cNvPr id="4" name="TextBox 4"/>
            <p:cNvSpPr txBox="1"/>
            <p:nvPr/>
          </p:nvSpPr>
          <p:spPr>
            <a:xfrm>
              <a:off x="0" y="-19050"/>
              <a:ext cx="3612444" cy="484828"/>
            </a:xfrm>
            <a:prstGeom prst="rect">
              <a:avLst/>
            </a:prstGeom>
          </p:spPr>
          <p:txBody>
            <a:bodyPr lIns="50800" tIns="50800" rIns="50800" bIns="50800" rtlCol="0" anchor="ctr"/>
            <a:lstStyle/>
            <a:p>
              <a:pPr algn="ctr">
                <a:lnSpc>
                  <a:spcPts val="1665"/>
                </a:lnSpc>
              </a:pPr>
              <a:endParaRPr/>
            </a:p>
          </p:txBody>
        </p:sp>
      </p:grpSp>
      <p:grpSp>
        <p:nvGrpSpPr>
          <p:cNvPr id="5" name="Group 5"/>
          <p:cNvGrpSpPr/>
          <p:nvPr/>
        </p:nvGrpSpPr>
        <p:grpSpPr>
          <a:xfrm>
            <a:off x="1676400" y="128381"/>
            <a:ext cx="6884213" cy="997713"/>
            <a:chOff x="0" y="0"/>
            <a:chExt cx="6775501" cy="1330284"/>
          </a:xfrm>
        </p:grpSpPr>
        <p:sp>
          <p:nvSpPr>
            <p:cNvPr id="6" name="Freeform 6"/>
            <p:cNvSpPr/>
            <p:nvPr/>
          </p:nvSpPr>
          <p:spPr>
            <a:xfrm>
              <a:off x="0" y="0"/>
              <a:ext cx="6775501" cy="1330284"/>
            </a:xfrm>
            <a:custGeom>
              <a:avLst/>
              <a:gdLst/>
              <a:ahLst/>
              <a:cxnLst/>
              <a:rect l="l" t="t" r="r" b="b"/>
              <a:pathLst>
                <a:path w="6775501" h="1330284">
                  <a:moveTo>
                    <a:pt x="0" y="0"/>
                  </a:moveTo>
                  <a:lnTo>
                    <a:pt x="6775501" y="0"/>
                  </a:lnTo>
                  <a:lnTo>
                    <a:pt x="6775501" y="1330284"/>
                  </a:lnTo>
                  <a:lnTo>
                    <a:pt x="0" y="1330284"/>
                  </a:lnTo>
                  <a:close/>
                </a:path>
              </a:pathLst>
            </a:custGeom>
            <a:solidFill>
              <a:srgbClr val="000000">
                <a:alpha val="0"/>
              </a:srgbClr>
            </a:solidFill>
          </p:spPr>
        </p:sp>
        <p:sp>
          <p:nvSpPr>
            <p:cNvPr id="7" name="TextBox 7"/>
            <p:cNvSpPr txBox="1"/>
            <p:nvPr/>
          </p:nvSpPr>
          <p:spPr>
            <a:xfrm>
              <a:off x="0" y="-9525"/>
              <a:ext cx="6775501" cy="1339809"/>
            </a:xfrm>
            <a:prstGeom prst="rect">
              <a:avLst/>
            </a:prstGeom>
          </p:spPr>
          <p:txBody>
            <a:bodyPr lIns="0" tIns="0" rIns="0" bIns="0" rtlCol="0" anchor="ctr"/>
            <a:lstStyle/>
            <a:p>
              <a:pPr algn="ctr"/>
              <a:r>
                <a:rPr lang="en-US" sz="3000" b="1" dirty="0">
                  <a:solidFill>
                    <a:srgbClr val="0025CC"/>
                  </a:solidFill>
                  <a:latin typeface="Arial Bold" panose="020B0704020202020204"/>
                  <a:ea typeface="Arial Bold" panose="020B0704020202020204"/>
                  <a:cs typeface="Arial Bold" panose="020B0704020202020204"/>
                  <a:sym typeface="Arial Bold" panose="020B0704020202020204"/>
                </a:rPr>
                <a:t>TRƯỜNG KỸ THUẬT VÀ CÔNG NGHỆ</a:t>
              </a:r>
            </a:p>
            <a:p>
              <a:pPr algn="ctr"/>
              <a:r>
                <a:rPr lang="en-US" sz="3000" b="1" dirty="0">
                  <a:solidFill>
                    <a:srgbClr val="0025CC"/>
                  </a:solidFill>
                  <a:latin typeface="Arial Bold" panose="020B0704020202020204"/>
                  <a:ea typeface="Arial Bold" panose="020B0704020202020204"/>
                  <a:cs typeface="Arial Bold" panose="020B0704020202020204"/>
                  <a:sym typeface="Arial Bold" panose="020B0704020202020204"/>
                </a:rPr>
                <a:t>KHOA CÔNG NGHỆ THÔNG TIN</a:t>
              </a:r>
            </a:p>
          </p:txBody>
        </p:sp>
      </p:grpSp>
      <p:grpSp>
        <p:nvGrpSpPr>
          <p:cNvPr id="8" name="Group 8"/>
          <p:cNvGrpSpPr/>
          <p:nvPr/>
        </p:nvGrpSpPr>
        <p:grpSpPr>
          <a:xfrm>
            <a:off x="260201" y="6832240"/>
            <a:ext cx="9233200" cy="331402"/>
            <a:chOff x="0" y="-19049"/>
            <a:chExt cx="12310933" cy="441869"/>
          </a:xfrm>
        </p:grpSpPr>
        <p:grpSp>
          <p:nvGrpSpPr>
            <p:cNvPr id="9" name="Group 9"/>
            <p:cNvGrpSpPr>
              <a:grpSpLocks noChangeAspect="1"/>
            </p:cNvGrpSpPr>
            <p:nvPr/>
          </p:nvGrpSpPr>
          <p:grpSpPr>
            <a:xfrm>
              <a:off x="2682866" y="46656"/>
              <a:ext cx="9628067" cy="146307"/>
              <a:chOff x="90219" y="0"/>
              <a:chExt cx="12362509" cy="187859"/>
            </a:xfrm>
          </p:grpSpPr>
          <p:sp>
            <p:nvSpPr>
              <p:cNvPr id="10"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1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1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
        <p:nvSpPr>
          <p:cNvPr id="13" name="Freeform 13"/>
          <p:cNvSpPr/>
          <p:nvPr/>
        </p:nvSpPr>
        <p:spPr>
          <a:xfrm>
            <a:off x="340399" y="64972"/>
            <a:ext cx="1127656" cy="1127656"/>
          </a:xfrm>
          <a:custGeom>
            <a:avLst/>
            <a:gdLst/>
            <a:ahLst/>
            <a:cxnLst/>
            <a:rect l="l" t="t" r="r" b="b"/>
            <a:pathLst>
              <a:path w="1127656" h="1127656">
                <a:moveTo>
                  <a:pt x="0" y="0"/>
                </a:moveTo>
                <a:lnTo>
                  <a:pt x="1127656" y="0"/>
                </a:lnTo>
                <a:lnTo>
                  <a:pt x="1127656" y="1127656"/>
                </a:lnTo>
                <a:lnTo>
                  <a:pt x="0" y="1127656"/>
                </a:lnTo>
                <a:lnTo>
                  <a:pt x="0" y="0"/>
                </a:lnTo>
                <a:close/>
              </a:path>
            </a:pathLst>
          </a:custGeom>
          <a:blipFill>
            <a:blip r:embed="rId4"/>
            <a:stretch>
              <a:fillRect/>
            </a:stretch>
          </a:blipFill>
        </p:spPr>
      </p:sp>
      <p:sp>
        <p:nvSpPr>
          <p:cNvPr id="14" name="TextBox 14"/>
          <p:cNvSpPr txBox="1"/>
          <p:nvPr/>
        </p:nvSpPr>
        <p:spPr>
          <a:xfrm>
            <a:off x="1877099" y="1488033"/>
            <a:ext cx="5894207" cy="333425"/>
          </a:xfrm>
          <a:prstGeom prst="rect">
            <a:avLst/>
          </a:prstGeom>
        </p:spPr>
        <p:txBody>
          <a:bodyPr wrap="square" lIns="0" tIns="0" rIns="0" bIns="0" rtlCol="0" anchor="t">
            <a:spAutoFit/>
          </a:bodyPr>
          <a:lstStyle/>
          <a:p>
            <a:pPr algn="ctr">
              <a:lnSpc>
                <a:spcPts val="2640"/>
              </a:lnSpc>
            </a:pPr>
            <a:r>
              <a:rPr lang="en-US" sz="2500" b="1" dirty="0">
                <a:solidFill>
                  <a:srgbClr val="0025CC"/>
                </a:solidFill>
                <a:latin typeface="Arial" panose="020B0604020202020204"/>
                <a:ea typeface="Arial" panose="020B0604020202020204"/>
                <a:cs typeface="Arial" panose="020B0604020202020204"/>
                <a:sym typeface="Arial" panose="020B0604020202020204"/>
              </a:rPr>
              <a:t>BÁO CÁO ĐỒ ÁN </a:t>
            </a:r>
            <a:r>
              <a:rPr lang="en-US" sz="2500" b="1" dirty="0" smtClean="0">
                <a:solidFill>
                  <a:srgbClr val="0025CC"/>
                </a:solidFill>
                <a:latin typeface="Arial" panose="020B0604020202020204"/>
                <a:ea typeface="Arial" panose="020B0604020202020204"/>
                <a:cs typeface="Arial" panose="020B0604020202020204"/>
                <a:sym typeface="Arial" panose="020B0604020202020204"/>
              </a:rPr>
              <a:t>CHUYÊN NGÀNH</a:t>
            </a:r>
            <a:endParaRPr lang="en-US" sz="2500" b="1" dirty="0">
              <a:solidFill>
                <a:srgbClr val="0025CC"/>
              </a:solidFill>
              <a:latin typeface="Arial" panose="020B0604020202020204"/>
              <a:ea typeface="Arial" panose="020B0604020202020204"/>
              <a:cs typeface="Arial" panose="020B0604020202020204"/>
              <a:sym typeface="Arial" panose="020B0604020202020204"/>
            </a:endParaRPr>
          </a:p>
        </p:txBody>
      </p:sp>
      <p:sp>
        <p:nvSpPr>
          <p:cNvPr id="15" name="Freeform 15"/>
          <p:cNvSpPr/>
          <p:nvPr/>
        </p:nvSpPr>
        <p:spPr>
          <a:xfrm>
            <a:off x="3448050" y="2228850"/>
            <a:ext cx="2857500" cy="2857500"/>
          </a:xfrm>
          <a:custGeom>
            <a:avLst/>
            <a:gdLst/>
            <a:ahLst/>
            <a:cxnLst/>
            <a:rect l="l" t="t" r="r" b="b"/>
            <a:pathLst>
              <a:path w="2857500" h="2857500">
                <a:moveTo>
                  <a:pt x="0" y="0"/>
                </a:moveTo>
                <a:lnTo>
                  <a:pt x="2857500" y="0"/>
                </a:lnTo>
                <a:lnTo>
                  <a:pt x="2857500" y="2857500"/>
                </a:lnTo>
                <a:lnTo>
                  <a:pt x="0" y="2857500"/>
                </a:lnTo>
                <a:lnTo>
                  <a:pt x="0" y="0"/>
                </a:lnTo>
                <a:close/>
              </a:path>
            </a:pathLst>
          </a:custGeom>
          <a:blipFill>
            <a:blip r:embed="rId4">
              <a:alphaModFix amt="9999"/>
            </a:blip>
            <a:stretch>
              <a:fillRect/>
            </a:stretch>
          </a:blipFill>
        </p:spPr>
      </p:sp>
      <p:sp>
        <p:nvSpPr>
          <p:cNvPr id="16" name="TextBox 16"/>
          <p:cNvSpPr txBox="1"/>
          <p:nvPr/>
        </p:nvSpPr>
        <p:spPr>
          <a:xfrm>
            <a:off x="0" y="2939443"/>
            <a:ext cx="9753600" cy="1256754"/>
          </a:xfrm>
          <a:prstGeom prst="rect">
            <a:avLst/>
          </a:prstGeom>
        </p:spPr>
        <p:txBody>
          <a:bodyPr wrap="square" lIns="0" tIns="0" rIns="0" bIns="0" rtlCol="0" anchor="t">
            <a:spAutoFit/>
          </a:bodyPr>
          <a:lstStyle/>
          <a:p>
            <a:pPr algn="ctr">
              <a:lnSpc>
                <a:spcPts val="4900"/>
              </a:lnSpc>
            </a:pPr>
            <a:r>
              <a:rPr lang="en-US" sz="4000" b="1" dirty="0" smtClean="0">
                <a:solidFill>
                  <a:srgbClr val="C00000"/>
                </a:solidFill>
                <a:latin typeface="Arial Bold" panose="020B0704020202020204"/>
                <a:ea typeface="Arial Bold" panose="020B0704020202020204"/>
                <a:cs typeface="Arial Bold" panose="020B0704020202020204"/>
                <a:sym typeface="Arial Bold" panose="020B0704020202020204"/>
              </a:rPr>
              <a:t>XÂY DỰNG WEBSITE BÁN LAPTOP</a:t>
            </a:r>
          </a:p>
          <a:p>
            <a:pPr algn="ctr">
              <a:lnSpc>
                <a:spcPts val="4900"/>
              </a:lnSpc>
            </a:pPr>
            <a:r>
              <a:rPr lang="en-US" sz="4000" b="1" dirty="0" smtClean="0">
                <a:solidFill>
                  <a:srgbClr val="C00000"/>
                </a:solidFill>
                <a:latin typeface="Arial Bold" panose="020B0704020202020204"/>
                <a:ea typeface="Arial Bold" panose="020B0704020202020204"/>
                <a:cs typeface="Arial Bold" panose="020B0704020202020204"/>
                <a:sym typeface="Arial Bold" panose="020B0704020202020204"/>
              </a:rPr>
              <a:t>ĐÃ QUA SỬ DỤNG</a:t>
            </a:r>
            <a:endParaRPr lang="en-US" sz="4000"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nvGrpSpPr>
          <p:cNvPr id="21" name="Group 20"/>
          <p:cNvGrpSpPr/>
          <p:nvPr/>
        </p:nvGrpSpPr>
        <p:grpSpPr>
          <a:xfrm>
            <a:off x="1592580" y="4381584"/>
            <a:ext cx="6568439" cy="1994392"/>
            <a:chOff x="731521" y="5000625"/>
            <a:chExt cx="6568439" cy="1994392"/>
          </a:xfrm>
        </p:grpSpPr>
        <p:sp>
          <p:nvSpPr>
            <p:cNvPr id="17" name="TextBox 17"/>
            <p:cNvSpPr txBox="1"/>
            <p:nvPr/>
          </p:nvSpPr>
          <p:spPr>
            <a:xfrm>
              <a:off x="731521" y="5000625"/>
              <a:ext cx="3305308" cy="1107996"/>
            </a:xfrm>
            <a:prstGeom prst="rect">
              <a:avLst/>
            </a:prstGeom>
          </p:spPr>
          <p:txBody>
            <a:bodyPr wrap="square" lIns="0" tIns="0" rIns="0" bIns="0" rtlCol="0" anchor="t">
              <a:spAutoFit/>
            </a:bodyPr>
            <a:lstStyle/>
            <a:p>
              <a:pPr algn="l">
                <a:lnSpc>
                  <a:spcPct val="150000"/>
                </a:lnSpc>
              </a:pPr>
              <a:r>
                <a:rPr lang="en-US" sz="2400" dirty="0" err="1">
                  <a:solidFill>
                    <a:srgbClr val="0025CC"/>
                  </a:solidFill>
                  <a:latin typeface="Arial" panose="020B0604020202020204" pitchFamily="34" charset="0"/>
                  <a:ea typeface="Arial" panose="020B0604020202020204"/>
                  <a:cs typeface="Arial" panose="020B0604020202020204" pitchFamily="34" charset="0"/>
                  <a:sym typeface="Arial" panose="020B0604020202020204"/>
                </a:rPr>
                <a:t>Giảng</a:t>
              </a:r>
              <a:r>
                <a:rPr lang="en-US" sz="2400" dirty="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viên</a:t>
              </a:r>
              <a:r>
                <a:rPr lang="en-US" sz="2400" dirty="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hướng</a:t>
              </a:r>
              <a:r>
                <a:rPr lang="en-US" sz="2400" dirty="0"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dẫn</a:t>
              </a:r>
              <a:r>
                <a:rPr lang="en-US" sz="2400" dirty="0"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a:t>
              </a:r>
              <a:endParaRPr lang="en-US" sz="2400" dirty="0">
                <a:solidFill>
                  <a:srgbClr val="0025CC"/>
                </a:solidFill>
                <a:latin typeface="Arial" panose="020B0604020202020204" pitchFamily="34" charset="0"/>
                <a:ea typeface="Arial" panose="020B0604020202020204"/>
                <a:cs typeface="Arial" panose="020B0604020202020204" pitchFamily="34" charset="0"/>
                <a:sym typeface="Arial" panose="020B0604020202020204"/>
              </a:endParaRPr>
            </a:p>
            <a:p>
              <a:pPr algn="l">
                <a:lnSpc>
                  <a:spcPct val="150000"/>
                </a:lnSpc>
              </a:pPr>
              <a:r>
                <a:rPr lang="en-US" sz="2400" b="1" dirty="0" err="1"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ThS</a:t>
              </a:r>
              <a:r>
                <a:rPr lang="en-US" sz="2400" b="1" dirty="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 </a:t>
              </a:r>
              <a:r>
                <a:rPr lang="en-US" sz="2400" b="1" dirty="0" err="1"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Võ</a:t>
              </a:r>
              <a:r>
                <a:rPr lang="en-US" sz="2400" b="1" dirty="0"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 </a:t>
              </a:r>
              <a:r>
                <a:rPr lang="en-US" sz="2400" b="1" dirty="0" err="1"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Thành</a:t>
              </a:r>
              <a:r>
                <a:rPr lang="en-US" sz="2400" b="1" dirty="0"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 C</a:t>
              </a:r>
              <a:endParaRPr lang="en-US" sz="2400" b="1" dirty="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endParaRPr>
            </a:p>
          </p:txBody>
        </p:sp>
        <p:sp>
          <p:nvSpPr>
            <p:cNvPr id="18" name="TextBox 18"/>
            <p:cNvSpPr txBox="1"/>
            <p:nvPr/>
          </p:nvSpPr>
          <p:spPr>
            <a:xfrm>
              <a:off x="4427933" y="5000625"/>
              <a:ext cx="2872027" cy="1994392"/>
            </a:xfrm>
            <a:prstGeom prst="rect">
              <a:avLst/>
            </a:prstGeom>
          </p:spPr>
          <p:txBody>
            <a:bodyPr wrap="square" lIns="0" tIns="0" rIns="0" bIns="0" rtlCol="0" anchor="t">
              <a:spAutoFit/>
            </a:bodyPr>
            <a:lstStyle/>
            <a:p>
              <a:pPr algn="l">
                <a:lnSpc>
                  <a:spcPct val="150000"/>
                </a:lnSpc>
              </a:pPr>
              <a:r>
                <a:rPr lang="en-US" sz="2400" dirty="0" err="1"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Sinh</a:t>
              </a:r>
              <a:r>
                <a:rPr lang="en-US" sz="2400" dirty="0"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viên</a:t>
              </a:r>
              <a:r>
                <a:rPr lang="en-US" sz="2400" dirty="0" smtClean="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a:solidFill>
                    <a:srgbClr val="0025CC"/>
                  </a:solidFill>
                  <a:latin typeface="Arial" panose="020B0604020202020204" pitchFamily="34" charset="0"/>
                  <a:ea typeface="Arial" panose="020B0604020202020204"/>
                  <a:cs typeface="Arial" panose="020B0604020202020204" pitchFamily="34" charset="0"/>
                  <a:sym typeface="Arial" panose="020B0604020202020204"/>
                </a:rPr>
                <a:t>thực</a:t>
              </a:r>
              <a:r>
                <a:rPr lang="en-US" sz="2400" dirty="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 </a:t>
              </a:r>
              <a:r>
                <a:rPr lang="en-US" sz="2400" dirty="0" err="1">
                  <a:solidFill>
                    <a:srgbClr val="0025CC"/>
                  </a:solidFill>
                  <a:latin typeface="Arial" panose="020B0604020202020204" pitchFamily="34" charset="0"/>
                  <a:ea typeface="Arial" panose="020B0604020202020204"/>
                  <a:cs typeface="Arial" panose="020B0604020202020204" pitchFamily="34" charset="0"/>
                  <a:sym typeface="Arial" panose="020B0604020202020204"/>
                </a:rPr>
                <a:t>hiện</a:t>
              </a:r>
              <a:r>
                <a:rPr lang="en-US" sz="2400" dirty="0">
                  <a:solidFill>
                    <a:srgbClr val="0025CC"/>
                  </a:solidFill>
                  <a:latin typeface="Arial" panose="020B0604020202020204" pitchFamily="34" charset="0"/>
                  <a:ea typeface="Arial" panose="020B0604020202020204"/>
                  <a:cs typeface="Arial" panose="020B0604020202020204" pitchFamily="34" charset="0"/>
                  <a:sym typeface="Arial" panose="020B0604020202020204"/>
                </a:rPr>
                <a:t>:</a:t>
              </a:r>
            </a:p>
            <a:p>
              <a:pPr algn="l">
                <a:lnSpc>
                  <a:spcPct val="150000"/>
                </a:lnSpc>
              </a:pPr>
              <a:r>
                <a:rPr lang="en-US" sz="2400" b="1" dirty="0" err="1">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Nguyễn</a:t>
              </a:r>
              <a:r>
                <a:rPr lang="en-US" sz="2400" b="1" dirty="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 </a:t>
              </a:r>
              <a:r>
                <a:rPr lang="en-US" sz="2400" b="1" dirty="0" err="1">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Phúc</a:t>
              </a:r>
              <a:r>
                <a:rPr lang="en-US" sz="2400" b="1" dirty="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 An </a:t>
              </a:r>
              <a:endParaRPr lang="en-US" sz="2400" b="1" dirty="0"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endParaRPr>
            </a:p>
            <a:p>
              <a:pPr algn="l">
                <a:lnSpc>
                  <a:spcPct val="120000"/>
                </a:lnSpc>
              </a:pPr>
              <a:r>
                <a:rPr lang="en-US" sz="2400" b="1" dirty="0"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110122214</a:t>
              </a:r>
            </a:p>
            <a:p>
              <a:pPr algn="l">
                <a:lnSpc>
                  <a:spcPct val="120000"/>
                </a:lnSpc>
              </a:pPr>
              <a:r>
                <a:rPr lang="en-US" sz="2400" b="1" dirty="0" smtClean="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rPr>
                <a:t>DA22TTA</a:t>
              </a:r>
              <a:endParaRPr lang="en-US" sz="2400" b="1" dirty="0">
                <a:solidFill>
                  <a:srgbClr val="0025CC"/>
                </a:solidFill>
                <a:latin typeface="Arial" panose="020B0604020202020204" pitchFamily="34" charset="0"/>
                <a:ea typeface="Arial Bold" panose="020B0704020202020204"/>
                <a:cs typeface="Arial" panose="020B0604020202020204" pitchFamily="34" charset="0"/>
                <a:sym typeface="Arial Bold" panose="020B0704020202020204"/>
              </a:endParaRPr>
            </a:p>
          </p:txBody>
        </p:sp>
      </p:grpSp>
      <p:sp>
        <p:nvSpPr>
          <p:cNvPr id="19" name="TextBox 19"/>
          <p:cNvSpPr txBox="1"/>
          <p:nvPr/>
        </p:nvSpPr>
        <p:spPr>
          <a:xfrm>
            <a:off x="2646280" y="6532136"/>
            <a:ext cx="4461040" cy="304866"/>
          </a:xfrm>
          <a:prstGeom prst="rect">
            <a:avLst/>
          </a:prstGeom>
        </p:spPr>
        <p:txBody>
          <a:bodyPr lIns="0" tIns="0" rIns="0" bIns="0" rtlCol="0" anchor="t">
            <a:spAutoFit/>
          </a:bodyPr>
          <a:lstStyle/>
          <a:p>
            <a:pPr algn="ctr">
              <a:lnSpc>
                <a:spcPts val="2400"/>
              </a:lnSpc>
            </a:pPr>
            <a:r>
              <a:rPr lang="en-US" sz="2000" dirty="0" err="1">
                <a:solidFill>
                  <a:srgbClr val="1F5CAA"/>
                </a:solidFill>
                <a:latin typeface="Arial" panose="020B0604020202020204"/>
                <a:ea typeface="Arial" panose="020B0604020202020204"/>
                <a:cs typeface="Arial" panose="020B0604020202020204"/>
                <a:sym typeface="Arial" panose="020B0604020202020204"/>
              </a:rPr>
              <a:t>Vĩnh</a:t>
            </a:r>
            <a:r>
              <a:rPr lang="en-US" sz="2000" dirty="0">
                <a:solidFill>
                  <a:srgbClr val="1F5CAA"/>
                </a:solidFill>
                <a:latin typeface="Arial" panose="020B0604020202020204"/>
                <a:ea typeface="Arial" panose="020B0604020202020204"/>
                <a:cs typeface="Arial" panose="020B0604020202020204"/>
                <a:sym typeface="Arial" panose="020B0604020202020204"/>
              </a:rPr>
              <a:t> Long, </a:t>
            </a:r>
            <a:r>
              <a:rPr lang="en-US" sz="2000" dirty="0" err="1">
                <a:solidFill>
                  <a:srgbClr val="1F5CAA"/>
                </a:solidFill>
                <a:latin typeface="Arial" panose="020B0604020202020204"/>
                <a:ea typeface="Arial" panose="020B0604020202020204"/>
                <a:cs typeface="Arial" panose="020B0604020202020204"/>
                <a:sym typeface="Arial" panose="020B0604020202020204"/>
              </a:rPr>
              <a:t>ngày</a:t>
            </a:r>
            <a:r>
              <a:rPr lang="en-US" sz="2000" dirty="0">
                <a:solidFill>
                  <a:srgbClr val="1F5CAA"/>
                </a:solidFill>
                <a:latin typeface="Arial" panose="020B0604020202020204"/>
                <a:ea typeface="Arial" panose="020B0604020202020204"/>
                <a:cs typeface="Arial" panose="020B0604020202020204"/>
                <a:sym typeface="Arial" panose="020B0604020202020204"/>
              </a:rPr>
              <a:t> </a:t>
            </a:r>
            <a:r>
              <a:rPr lang="en-US" sz="2000" dirty="0" smtClean="0">
                <a:solidFill>
                  <a:srgbClr val="1F5CAA"/>
                </a:solidFill>
                <a:latin typeface="Arial" panose="020B0604020202020204"/>
                <a:ea typeface="Arial" panose="020B0604020202020204"/>
                <a:cs typeface="Arial" panose="020B0604020202020204"/>
                <a:sym typeface="Arial" panose="020B0604020202020204"/>
              </a:rPr>
              <a:t>1 </a:t>
            </a:r>
            <a:r>
              <a:rPr lang="en-US" sz="2000" dirty="0" err="1">
                <a:solidFill>
                  <a:srgbClr val="1F5CAA"/>
                </a:solidFill>
                <a:latin typeface="Arial" panose="020B0604020202020204"/>
                <a:ea typeface="Arial" panose="020B0604020202020204"/>
                <a:cs typeface="Arial" panose="020B0604020202020204"/>
                <a:sym typeface="Arial" panose="020B0604020202020204"/>
              </a:rPr>
              <a:t>tháng</a:t>
            </a:r>
            <a:r>
              <a:rPr lang="en-US" sz="2000" dirty="0">
                <a:solidFill>
                  <a:srgbClr val="1F5CAA"/>
                </a:solidFill>
                <a:latin typeface="Arial" panose="020B0604020202020204"/>
                <a:ea typeface="Arial" panose="020B0604020202020204"/>
                <a:cs typeface="Arial" panose="020B0604020202020204"/>
                <a:sym typeface="Arial" panose="020B0604020202020204"/>
              </a:rPr>
              <a:t> </a:t>
            </a:r>
            <a:r>
              <a:rPr lang="en-US" sz="2000" dirty="0" smtClean="0">
                <a:solidFill>
                  <a:srgbClr val="1F5CAA"/>
                </a:solidFill>
                <a:latin typeface="Arial" panose="020B0604020202020204"/>
                <a:ea typeface="Arial" panose="020B0604020202020204"/>
                <a:cs typeface="Arial" panose="020B0604020202020204"/>
                <a:sym typeface="Arial" panose="020B0604020202020204"/>
              </a:rPr>
              <a:t>1 </a:t>
            </a:r>
            <a:r>
              <a:rPr lang="en-US" sz="2000" dirty="0" err="1">
                <a:solidFill>
                  <a:srgbClr val="1F5CAA"/>
                </a:solidFill>
                <a:latin typeface="Arial" panose="020B0604020202020204"/>
                <a:ea typeface="Arial" panose="020B0604020202020204"/>
                <a:cs typeface="Arial" panose="020B0604020202020204"/>
                <a:sym typeface="Arial" panose="020B0604020202020204"/>
              </a:rPr>
              <a:t>năm</a:t>
            </a:r>
            <a:r>
              <a:rPr lang="en-US" sz="2000" dirty="0">
                <a:solidFill>
                  <a:srgbClr val="1F5CAA"/>
                </a:solidFill>
                <a:latin typeface="Arial" panose="020B0604020202020204"/>
                <a:ea typeface="Arial" panose="020B0604020202020204"/>
                <a:cs typeface="Arial" panose="020B0604020202020204"/>
                <a:sym typeface="Arial" panose="020B0604020202020204"/>
              </a:rPr>
              <a:t> </a:t>
            </a:r>
            <a:r>
              <a:rPr lang="en-US" sz="2000" dirty="0" smtClean="0">
                <a:solidFill>
                  <a:srgbClr val="1F5CAA"/>
                </a:solidFill>
                <a:latin typeface="Arial" panose="020B0604020202020204"/>
                <a:ea typeface="Arial" panose="020B0604020202020204"/>
                <a:cs typeface="Arial" panose="020B0604020202020204"/>
                <a:sym typeface="Arial" panose="020B0604020202020204"/>
              </a:rPr>
              <a:t>2026</a:t>
            </a:r>
            <a:endParaRPr lang="en-US" sz="2000" dirty="0">
              <a:solidFill>
                <a:srgbClr val="1F5CAA"/>
              </a:solidFill>
              <a:latin typeface="Arial" panose="020B0604020202020204"/>
              <a:ea typeface="Arial" panose="020B0604020202020204"/>
              <a:cs typeface="Arial" panose="020B0604020202020204"/>
              <a:sym typeface="Arial" panose="020B0604020202020204"/>
            </a:endParaRPr>
          </a:p>
        </p:txBody>
      </p:sp>
      <p:sp>
        <p:nvSpPr>
          <p:cNvPr id="20" name="TextBox 14"/>
          <p:cNvSpPr txBox="1"/>
          <p:nvPr/>
        </p:nvSpPr>
        <p:spPr>
          <a:xfrm>
            <a:off x="2338740" y="2555921"/>
            <a:ext cx="4970924" cy="333425"/>
          </a:xfrm>
          <a:prstGeom prst="rect">
            <a:avLst/>
          </a:prstGeom>
        </p:spPr>
        <p:txBody>
          <a:bodyPr wrap="square" lIns="0" tIns="0" rIns="0" bIns="0" rtlCol="0" anchor="t">
            <a:spAutoFit/>
          </a:bodyPr>
          <a:lstStyle/>
          <a:p>
            <a:pPr algn="ctr">
              <a:lnSpc>
                <a:spcPts val="2640"/>
              </a:lnSpc>
            </a:pPr>
            <a:r>
              <a:rPr lang="en-US" sz="2800" b="1" dirty="0" smtClean="0">
                <a:solidFill>
                  <a:srgbClr val="C00000"/>
                </a:solidFill>
                <a:latin typeface="Arial" panose="020B0604020202020204"/>
                <a:ea typeface="Arial" panose="020B0604020202020204"/>
                <a:cs typeface="Arial" panose="020B0604020202020204"/>
                <a:sym typeface="Arial" panose="020B0604020202020204"/>
              </a:rPr>
              <a:t>TÊN ĐỀ TÀI:</a:t>
            </a:r>
            <a:endParaRPr lang="en-US" sz="2800" b="1" dirty="0">
              <a:solidFill>
                <a:srgbClr val="C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2"/>
          <p:cNvGrpSpPr/>
          <p:nvPr/>
        </p:nvGrpSpPr>
        <p:grpSpPr>
          <a:xfrm>
            <a:off x="89070" y="137149"/>
            <a:ext cx="4819824" cy="765139"/>
            <a:chOff x="0" y="0"/>
            <a:chExt cx="6426432" cy="1020185"/>
          </a:xfrm>
        </p:grpSpPr>
        <p:grpSp>
          <p:nvGrpSpPr>
            <p:cNvPr id="113" name="Group 113"/>
            <p:cNvGrpSpPr/>
            <p:nvPr/>
          </p:nvGrpSpPr>
          <p:grpSpPr>
            <a:xfrm>
              <a:off x="393157" y="30721"/>
              <a:ext cx="6033275" cy="951389"/>
              <a:chOff x="0" y="0"/>
              <a:chExt cx="6033275" cy="951389"/>
            </a:xfrm>
          </p:grpSpPr>
          <p:sp>
            <p:nvSpPr>
              <p:cNvPr id="114" name="Freeform 114"/>
              <p:cNvSpPr/>
              <p:nvPr/>
            </p:nvSpPr>
            <p:spPr>
              <a:xfrm>
                <a:off x="0" y="0"/>
                <a:ext cx="6033275" cy="951389"/>
              </a:xfrm>
              <a:custGeom>
                <a:avLst/>
                <a:gdLst/>
                <a:ahLst/>
                <a:cxnLst/>
                <a:rect l="l" t="t" r="r" b="b"/>
                <a:pathLst>
                  <a:path w="6033275" h="951389">
                    <a:moveTo>
                      <a:pt x="0" y="0"/>
                    </a:moveTo>
                    <a:lnTo>
                      <a:pt x="6033275" y="0"/>
                    </a:lnTo>
                    <a:lnTo>
                      <a:pt x="6033275" y="951389"/>
                    </a:lnTo>
                    <a:lnTo>
                      <a:pt x="0" y="951389"/>
                    </a:lnTo>
                    <a:close/>
                  </a:path>
                </a:pathLst>
              </a:custGeom>
              <a:solidFill>
                <a:srgbClr val="000000">
                  <a:alpha val="0"/>
                </a:srgbClr>
              </a:solidFill>
            </p:spPr>
          </p:sp>
          <p:sp>
            <p:nvSpPr>
              <p:cNvPr id="115" name="TextBox 115"/>
              <p:cNvSpPr txBox="1"/>
              <p:nvPr/>
            </p:nvSpPr>
            <p:spPr>
              <a:xfrm>
                <a:off x="0" y="-19050"/>
                <a:ext cx="6033275" cy="970439"/>
              </a:xfrm>
              <a:prstGeom prst="rect">
                <a:avLst/>
              </a:prstGeom>
            </p:spPr>
            <p:txBody>
              <a:bodyPr lIns="0" tIns="0" rIns="0" bIns="0" rtlCol="0" anchor="ctr"/>
              <a:lstStyle/>
              <a:p>
                <a:pPr algn="l">
                  <a:lnSpc>
                    <a:spcPts val="4145"/>
                  </a:lnSpc>
                </a:pPr>
                <a:r>
                  <a:rPr lang="en-US" sz="3455" b="1">
                    <a:solidFill>
                      <a:srgbClr val="C00000"/>
                    </a:solidFill>
                    <a:latin typeface="Arial Bold" panose="020B0704020202020204"/>
                    <a:ea typeface="Arial Bold" panose="020B0704020202020204"/>
                    <a:cs typeface="Arial Bold" panose="020B0704020202020204"/>
                    <a:sym typeface="Arial Bold" panose="020B0704020202020204"/>
                  </a:rPr>
                  <a:t>NỘI DUNG BÁO CÁO</a:t>
                </a:r>
              </a:p>
            </p:txBody>
          </p:sp>
        </p:grpSp>
        <p:sp>
          <p:nvSpPr>
            <p:cNvPr id="116" name="AutoShape 116"/>
            <p:cNvSpPr/>
            <p:nvPr/>
          </p:nvSpPr>
          <p:spPr>
            <a:xfrm flipV="1">
              <a:off x="105976" y="1007485"/>
              <a:ext cx="6320456" cy="0"/>
            </a:xfrm>
            <a:prstGeom prst="line">
              <a:avLst/>
            </a:prstGeom>
            <a:ln w="25400" cap="rnd">
              <a:solidFill>
                <a:srgbClr val="5B9BD5"/>
              </a:solidFill>
              <a:prstDash val="solid"/>
              <a:headEnd type="none" w="sm" len="sm"/>
              <a:tailEnd type="none" w="sm" len="sm"/>
            </a:ln>
          </p:spPr>
        </p:sp>
        <p:grpSp>
          <p:nvGrpSpPr>
            <p:cNvPr id="117" name="Group 117"/>
            <p:cNvGrpSpPr/>
            <p:nvPr/>
          </p:nvGrpSpPr>
          <p:grpSpPr>
            <a:xfrm>
              <a:off x="0" y="0"/>
              <a:ext cx="211952" cy="1020185"/>
              <a:chOff x="0" y="0"/>
              <a:chExt cx="211952" cy="1020185"/>
            </a:xfrm>
          </p:grpSpPr>
          <p:sp>
            <p:nvSpPr>
              <p:cNvPr id="118" name="Freeform 118"/>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19" name="Freeform 119"/>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grpSp>
        <p:nvGrpSpPr>
          <p:cNvPr id="4" name="Group 3"/>
          <p:cNvGrpSpPr/>
          <p:nvPr/>
        </p:nvGrpSpPr>
        <p:grpSpPr>
          <a:xfrm>
            <a:off x="260200" y="1655606"/>
            <a:ext cx="9233203" cy="3635297"/>
            <a:chOff x="260201" y="1344079"/>
            <a:chExt cx="8874822" cy="3372637"/>
          </a:xfrm>
        </p:grpSpPr>
        <p:grpSp>
          <p:nvGrpSpPr>
            <p:cNvPr id="127" name="Group 103"/>
            <p:cNvGrpSpPr/>
            <p:nvPr/>
          </p:nvGrpSpPr>
          <p:grpSpPr>
            <a:xfrm>
              <a:off x="6444211" y="2819348"/>
              <a:ext cx="673292" cy="694687"/>
              <a:chOff x="0" y="0"/>
              <a:chExt cx="812800" cy="812800"/>
            </a:xfrm>
          </p:grpSpPr>
          <p:sp>
            <p:nvSpPr>
              <p:cNvPr id="210" name="Freeform 10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11" name="TextBox 105"/>
              <p:cNvSpPr txBox="1"/>
              <p:nvPr/>
            </p:nvSpPr>
            <p:spPr>
              <a:xfrm>
                <a:off x="76200" y="57150"/>
                <a:ext cx="660400" cy="679450"/>
              </a:xfrm>
              <a:prstGeom prst="rect">
                <a:avLst/>
              </a:prstGeom>
            </p:spPr>
            <p:txBody>
              <a:bodyPr lIns="42731" tIns="42731" rIns="42731" bIns="42731" rtlCol="0" anchor="ctr"/>
              <a:lstStyle/>
              <a:p>
                <a:pPr algn="ctr">
                  <a:lnSpc>
                    <a:spcPts val="1415"/>
                  </a:lnSpc>
                </a:pPr>
                <a:endParaRPr/>
              </a:p>
            </p:txBody>
          </p:sp>
        </p:grpSp>
        <p:grpSp>
          <p:nvGrpSpPr>
            <p:cNvPr id="128" name="Group 127"/>
            <p:cNvGrpSpPr/>
            <p:nvPr/>
          </p:nvGrpSpPr>
          <p:grpSpPr>
            <a:xfrm>
              <a:off x="5409468" y="1390447"/>
              <a:ext cx="1753332" cy="2740810"/>
              <a:chOff x="5693209" y="1492838"/>
              <a:chExt cx="2296583" cy="3479453"/>
            </a:xfrm>
          </p:grpSpPr>
          <p:grpSp>
            <p:nvGrpSpPr>
              <p:cNvPr id="188" name="Group 31"/>
              <p:cNvGrpSpPr/>
              <p:nvPr/>
            </p:nvGrpSpPr>
            <p:grpSpPr>
              <a:xfrm>
                <a:off x="5693209" y="2020979"/>
                <a:ext cx="2296583" cy="2951312"/>
                <a:chOff x="0" y="365418"/>
                <a:chExt cx="3062110" cy="3935082"/>
              </a:xfrm>
            </p:grpSpPr>
            <p:grpSp>
              <p:nvGrpSpPr>
                <p:cNvPr id="195" name="Group 32"/>
                <p:cNvGrpSpPr/>
                <p:nvPr/>
              </p:nvGrpSpPr>
              <p:grpSpPr>
                <a:xfrm rot="-1911954">
                  <a:off x="552105" y="375042"/>
                  <a:ext cx="1972210" cy="1931547"/>
                  <a:chOff x="0" y="0"/>
                  <a:chExt cx="2344638" cy="2296296"/>
                </a:xfrm>
              </p:grpSpPr>
              <p:sp>
                <p:nvSpPr>
                  <p:cNvPr id="208" name="Freeform 33"/>
                  <p:cNvSpPr/>
                  <p:nvPr/>
                </p:nvSpPr>
                <p:spPr>
                  <a:xfrm>
                    <a:off x="16891" y="16891"/>
                    <a:ext cx="2309368" cy="2261616"/>
                  </a:xfrm>
                  <a:custGeom>
                    <a:avLst/>
                    <a:gdLst/>
                    <a:ahLst/>
                    <a:cxnLst/>
                    <a:rect l="l" t="t" r="r" b="b"/>
                    <a:pathLst>
                      <a:path w="2309368" h="2261616">
                        <a:moveTo>
                          <a:pt x="0" y="1130808"/>
                        </a:moveTo>
                        <a:cubicBezTo>
                          <a:pt x="0" y="506349"/>
                          <a:pt x="517017" y="0"/>
                          <a:pt x="1154684" y="0"/>
                        </a:cubicBezTo>
                        <a:cubicBezTo>
                          <a:pt x="1792351" y="0"/>
                          <a:pt x="2309368" y="506222"/>
                          <a:pt x="2309368" y="1130808"/>
                        </a:cubicBezTo>
                        <a:cubicBezTo>
                          <a:pt x="2309368" y="1755394"/>
                          <a:pt x="1792351" y="2261616"/>
                          <a:pt x="1154684" y="2261616"/>
                        </a:cubicBezTo>
                        <a:cubicBezTo>
                          <a:pt x="517017" y="2261616"/>
                          <a:pt x="0" y="1755394"/>
                          <a:pt x="0" y="1130808"/>
                        </a:cubicBezTo>
                        <a:close/>
                      </a:path>
                    </a:pathLst>
                  </a:custGeom>
                  <a:solidFill>
                    <a:srgbClr val="9DC3E6"/>
                  </a:solidFill>
                  <a:ln w="12700">
                    <a:solidFill>
                      <a:srgbClr val="000000"/>
                    </a:solidFill>
                  </a:ln>
                </p:spPr>
              </p:sp>
              <p:sp>
                <p:nvSpPr>
                  <p:cNvPr id="209" name="Freeform 34"/>
                  <p:cNvSpPr/>
                  <p:nvPr/>
                </p:nvSpPr>
                <p:spPr>
                  <a:xfrm>
                    <a:off x="0" y="0"/>
                    <a:ext cx="2343150" cy="2295398"/>
                  </a:xfrm>
                  <a:custGeom>
                    <a:avLst/>
                    <a:gdLst/>
                    <a:ahLst/>
                    <a:cxnLst/>
                    <a:rect l="l" t="t" r="r" b="b"/>
                    <a:pathLst>
                      <a:path w="2343150" h="2295398">
                        <a:moveTo>
                          <a:pt x="0" y="1147699"/>
                        </a:moveTo>
                        <a:cubicBezTo>
                          <a:pt x="0" y="513461"/>
                          <a:pt x="524891" y="0"/>
                          <a:pt x="1171575" y="0"/>
                        </a:cubicBezTo>
                        <a:lnTo>
                          <a:pt x="1171575" y="16891"/>
                        </a:lnTo>
                        <a:lnTo>
                          <a:pt x="1171575" y="0"/>
                        </a:lnTo>
                        <a:cubicBezTo>
                          <a:pt x="1818259" y="0"/>
                          <a:pt x="2343150" y="513461"/>
                          <a:pt x="2343150" y="1147699"/>
                        </a:cubicBezTo>
                        <a:lnTo>
                          <a:pt x="2326259" y="1147699"/>
                        </a:lnTo>
                        <a:lnTo>
                          <a:pt x="2343150" y="1147699"/>
                        </a:lnTo>
                        <a:cubicBezTo>
                          <a:pt x="2343150" y="1781937"/>
                          <a:pt x="1818259" y="2295398"/>
                          <a:pt x="1171575" y="2295398"/>
                        </a:cubicBezTo>
                        <a:lnTo>
                          <a:pt x="1171575" y="2278507"/>
                        </a:lnTo>
                        <a:lnTo>
                          <a:pt x="1171575" y="2295398"/>
                        </a:lnTo>
                        <a:cubicBezTo>
                          <a:pt x="524891" y="2295398"/>
                          <a:pt x="0" y="1781937"/>
                          <a:pt x="0" y="1147699"/>
                        </a:cubicBezTo>
                        <a:lnTo>
                          <a:pt x="16891" y="1147699"/>
                        </a:lnTo>
                        <a:lnTo>
                          <a:pt x="33909" y="1147699"/>
                        </a:lnTo>
                        <a:lnTo>
                          <a:pt x="16891" y="1147699"/>
                        </a:lnTo>
                        <a:lnTo>
                          <a:pt x="0" y="1147699"/>
                        </a:lnTo>
                        <a:moveTo>
                          <a:pt x="33909" y="1147699"/>
                        </a:moveTo>
                        <a:cubicBezTo>
                          <a:pt x="33909" y="1157097"/>
                          <a:pt x="26289" y="1164590"/>
                          <a:pt x="17018" y="1164590"/>
                        </a:cubicBezTo>
                        <a:cubicBezTo>
                          <a:pt x="7747" y="1164590"/>
                          <a:pt x="0" y="1157097"/>
                          <a:pt x="0" y="1147699"/>
                        </a:cubicBezTo>
                        <a:cubicBezTo>
                          <a:pt x="0" y="1138301"/>
                          <a:pt x="7620" y="1130808"/>
                          <a:pt x="16891" y="1130808"/>
                        </a:cubicBezTo>
                        <a:cubicBezTo>
                          <a:pt x="26162" y="1130808"/>
                          <a:pt x="33782" y="1138428"/>
                          <a:pt x="33782" y="1147699"/>
                        </a:cubicBezTo>
                        <a:cubicBezTo>
                          <a:pt x="33782" y="1762506"/>
                          <a:pt x="542798" y="2261489"/>
                          <a:pt x="1171575" y="2261489"/>
                        </a:cubicBezTo>
                        <a:cubicBezTo>
                          <a:pt x="1800225" y="2261489"/>
                          <a:pt x="2309368" y="1762506"/>
                          <a:pt x="2309368" y="1147699"/>
                        </a:cubicBezTo>
                        <a:cubicBezTo>
                          <a:pt x="2309368" y="532892"/>
                          <a:pt x="1800352" y="33909"/>
                          <a:pt x="1171575" y="33909"/>
                        </a:cubicBezTo>
                        <a:lnTo>
                          <a:pt x="1171575" y="16891"/>
                        </a:lnTo>
                        <a:lnTo>
                          <a:pt x="1171575" y="33909"/>
                        </a:lnTo>
                        <a:cubicBezTo>
                          <a:pt x="542925" y="33909"/>
                          <a:pt x="33782" y="532892"/>
                          <a:pt x="33782" y="1147699"/>
                        </a:cubicBezTo>
                        <a:close/>
                      </a:path>
                    </a:pathLst>
                  </a:custGeom>
                  <a:solidFill>
                    <a:schemeClr val="bg1"/>
                  </a:solidFill>
                  <a:ln w="12700">
                    <a:solidFill>
                      <a:schemeClr val="bg1"/>
                    </a:solidFill>
                  </a:ln>
                </p:spPr>
              </p:sp>
            </p:grpSp>
            <p:sp>
              <p:nvSpPr>
                <p:cNvPr id="196" name="Freeform 36"/>
                <p:cNvSpPr/>
                <p:nvPr/>
              </p:nvSpPr>
              <p:spPr>
                <a:xfrm>
                  <a:off x="456481" y="365418"/>
                  <a:ext cx="2162392" cy="975330"/>
                </a:xfrm>
                <a:custGeom>
                  <a:avLst/>
                  <a:gdLst/>
                  <a:ahLst/>
                  <a:cxnLst/>
                  <a:rect l="l" t="t" r="r" b="b"/>
                  <a:pathLst>
                    <a:path w="2570734" h="1159510">
                      <a:moveTo>
                        <a:pt x="0" y="0"/>
                      </a:moveTo>
                      <a:lnTo>
                        <a:pt x="2570734" y="0"/>
                      </a:lnTo>
                      <a:lnTo>
                        <a:pt x="2570734" y="1159510"/>
                      </a:lnTo>
                      <a:lnTo>
                        <a:pt x="0" y="1159510"/>
                      </a:lnTo>
                      <a:close/>
                    </a:path>
                  </a:pathLst>
                </a:custGeom>
                <a:solidFill>
                  <a:schemeClr val="bg1"/>
                </a:solidFill>
                <a:ln w="12700">
                  <a:noFill/>
                </a:ln>
              </p:spPr>
            </p:sp>
            <p:grpSp>
              <p:nvGrpSpPr>
                <p:cNvPr id="197" name="Group 38"/>
                <p:cNvGrpSpPr/>
                <p:nvPr/>
              </p:nvGrpSpPr>
              <p:grpSpPr>
                <a:xfrm rot="5400000">
                  <a:off x="813915" y="604666"/>
                  <a:ext cx="1434282" cy="1472302"/>
                  <a:chOff x="0" y="0"/>
                  <a:chExt cx="1705129" cy="1750329"/>
                </a:xfrm>
              </p:grpSpPr>
              <p:sp>
                <p:nvSpPr>
                  <p:cNvPr id="206" name="Freeform 39"/>
                  <p:cNvSpPr/>
                  <p:nvPr/>
                </p:nvSpPr>
                <p:spPr>
                  <a:xfrm>
                    <a:off x="16891" y="16891"/>
                    <a:ext cx="1671320" cy="1715262"/>
                  </a:xfrm>
                  <a:custGeom>
                    <a:avLst/>
                    <a:gdLst/>
                    <a:ahLst/>
                    <a:cxnLst/>
                    <a:rect l="l" t="t" r="r" b="b"/>
                    <a:pathLst>
                      <a:path w="1671320" h="1715262">
                        <a:moveTo>
                          <a:pt x="0" y="857631"/>
                        </a:moveTo>
                        <a:cubicBezTo>
                          <a:pt x="0" y="383921"/>
                          <a:pt x="374142" y="0"/>
                          <a:pt x="835660" y="0"/>
                        </a:cubicBezTo>
                        <a:cubicBezTo>
                          <a:pt x="1297178" y="0"/>
                          <a:pt x="1671320" y="383921"/>
                          <a:pt x="1671320" y="857631"/>
                        </a:cubicBezTo>
                        <a:cubicBezTo>
                          <a:pt x="1671320" y="1331341"/>
                          <a:pt x="1297178" y="1715262"/>
                          <a:pt x="835660" y="1715262"/>
                        </a:cubicBezTo>
                        <a:cubicBezTo>
                          <a:pt x="374142" y="1715262"/>
                          <a:pt x="0" y="1331341"/>
                          <a:pt x="0" y="857631"/>
                        </a:cubicBezTo>
                        <a:close/>
                      </a:path>
                    </a:pathLst>
                  </a:custGeom>
                  <a:solidFill>
                    <a:srgbClr val="9DC3E6"/>
                  </a:solidFill>
                  <a:ln w="12700">
                    <a:solidFill>
                      <a:srgbClr val="000000"/>
                    </a:solidFill>
                  </a:ln>
                </p:spPr>
              </p:sp>
              <p:sp>
                <p:nvSpPr>
                  <p:cNvPr id="207" name="Freeform 40"/>
                  <p:cNvSpPr/>
                  <p:nvPr/>
                </p:nvSpPr>
                <p:spPr>
                  <a:xfrm>
                    <a:off x="0" y="0"/>
                    <a:ext cx="1705102" cy="1749044"/>
                  </a:xfrm>
                  <a:custGeom>
                    <a:avLst/>
                    <a:gdLst/>
                    <a:ahLst/>
                    <a:cxnLst/>
                    <a:rect l="l" t="t" r="r" b="b"/>
                    <a:pathLst>
                      <a:path w="1705102" h="1749044">
                        <a:moveTo>
                          <a:pt x="0" y="874522"/>
                        </a:moveTo>
                        <a:cubicBezTo>
                          <a:pt x="0" y="391922"/>
                          <a:pt x="381254" y="0"/>
                          <a:pt x="852551" y="0"/>
                        </a:cubicBezTo>
                        <a:lnTo>
                          <a:pt x="852551" y="16891"/>
                        </a:lnTo>
                        <a:lnTo>
                          <a:pt x="852551" y="0"/>
                        </a:lnTo>
                        <a:cubicBezTo>
                          <a:pt x="1323848" y="0"/>
                          <a:pt x="1705102" y="391922"/>
                          <a:pt x="1705102" y="874522"/>
                        </a:cubicBezTo>
                        <a:cubicBezTo>
                          <a:pt x="1705102" y="1357122"/>
                          <a:pt x="1323848" y="1749044"/>
                          <a:pt x="852551" y="1749044"/>
                        </a:cubicBezTo>
                        <a:lnTo>
                          <a:pt x="852551" y="1732153"/>
                        </a:lnTo>
                        <a:lnTo>
                          <a:pt x="852551" y="1749044"/>
                        </a:lnTo>
                        <a:cubicBezTo>
                          <a:pt x="381254" y="1749171"/>
                          <a:pt x="0" y="1357122"/>
                          <a:pt x="0" y="874522"/>
                        </a:cubicBezTo>
                        <a:lnTo>
                          <a:pt x="16891" y="874522"/>
                        </a:lnTo>
                        <a:lnTo>
                          <a:pt x="31242" y="883539"/>
                        </a:lnTo>
                        <a:cubicBezTo>
                          <a:pt x="27178" y="889889"/>
                          <a:pt x="19431" y="892810"/>
                          <a:pt x="12192" y="890778"/>
                        </a:cubicBezTo>
                        <a:cubicBezTo>
                          <a:pt x="4953" y="888746"/>
                          <a:pt x="0" y="882142"/>
                          <a:pt x="0" y="874522"/>
                        </a:cubicBezTo>
                        <a:moveTo>
                          <a:pt x="33909" y="874522"/>
                        </a:moveTo>
                        <a:lnTo>
                          <a:pt x="16891" y="874522"/>
                        </a:lnTo>
                        <a:lnTo>
                          <a:pt x="2667" y="865505"/>
                        </a:lnTo>
                        <a:cubicBezTo>
                          <a:pt x="6731" y="859155"/>
                          <a:pt x="14478" y="856234"/>
                          <a:pt x="21717" y="858266"/>
                        </a:cubicBezTo>
                        <a:cubicBezTo>
                          <a:pt x="28956" y="860298"/>
                          <a:pt x="33909" y="867029"/>
                          <a:pt x="33909" y="874522"/>
                        </a:cubicBezTo>
                        <a:cubicBezTo>
                          <a:pt x="33909" y="1339215"/>
                          <a:pt x="400812" y="1715262"/>
                          <a:pt x="852551" y="1715262"/>
                        </a:cubicBezTo>
                        <a:cubicBezTo>
                          <a:pt x="1304290" y="1715262"/>
                          <a:pt x="1671193" y="1339342"/>
                          <a:pt x="1671193" y="874522"/>
                        </a:cubicBezTo>
                        <a:lnTo>
                          <a:pt x="1688084" y="874522"/>
                        </a:lnTo>
                        <a:lnTo>
                          <a:pt x="1671193" y="874522"/>
                        </a:lnTo>
                        <a:cubicBezTo>
                          <a:pt x="1671193" y="409829"/>
                          <a:pt x="1304290" y="33782"/>
                          <a:pt x="852551" y="33782"/>
                        </a:cubicBezTo>
                        <a:lnTo>
                          <a:pt x="852551" y="16891"/>
                        </a:lnTo>
                        <a:lnTo>
                          <a:pt x="852551" y="33909"/>
                        </a:lnTo>
                        <a:cubicBezTo>
                          <a:pt x="400812" y="33909"/>
                          <a:pt x="33909" y="409829"/>
                          <a:pt x="33909" y="874649"/>
                        </a:cubicBezTo>
                        <a:close/>
                      </a:path>
                    </a:pathLst>
                  </a:custGeom>
                  <a:solidFill>
                    <a:srgbClr val="FFFFFF"/>
                  </a:solidFill>
                  <a:ln w="12700">
                    <a:solidFill>
                      <a:schemeClr val="bg1"/>
                    </a:solidFill>
                  </a:ln>
                </p:spPr>
              </p:sp>
            </p:grpSp>
            <p:grpSp>
              <p:nvGrpSpPr>
                <p:cNvPr id="198" name="Group 41"/>
                <p:cNvGrpSpPr/>
                <p:nvPr/>
              </p:nvGrpSpPr>
              <p:grpSpPr>
                <a:xfrm rot="5400000">
                  <a:off x="969906" y="755704"/>
                  <a:ext cx="1136609" cy="1170223"/>
                  <a:chOff x="0" y="0"/>
                  <a:chExt cx="1351244" cy="1391206"/>
                </a:xfrm>
              </p:grpSpPr>
              <p:sp>
                <p:nvSpPr>
                  <p:cNvPr id="204" name="Freeform 42"/>
                  <p:cNvSpPr/>
                  <p:nvPr/>
                </p:nvSpPr>
                <p:spPr>
                  <a:xfrm>
                    <a:off x="16891" y="16891"/>
                    <a:ext cx="1317498" cy="1356106"/>
                  </a:xfrm>
                  <a:custGeom>
                    <a:avLst/>
                    <a:gdLst/>
                    <a:ahLst/>
                    <a:cxnLst/>
                    <a:rect l="l" t="t" r="r" b="b"/>
                    <a:pathLst>
                      <a:path w="1317498" h="1356106">
                        <a:moveTo>
                          <a:pt x="0" y="678180"/>
                        </a:moveTo>
                        <a:cubicBezTo>
                          <a:pt x="0" y="303657"/>
                          <a:pt x="294894" y="0"/>
                          <a:pt x="658749" y="0"/>
                        </a:cubicBezTo>
                        <a:cubicBezTo>
                          <a:pt x="1022604" y="0"/>
                          <a:pt x="1317498" y="303530"/>
                          <a:pt x="1317498" y="678053"/>
                        </a:cubicBezTo>
                        <a:cubicBezTo>
                          <a:pt x="1317498" y="1052576"/>
                          <a:pt x="1022604" y="1356106"/>
                          <a:pt x="658749" y="1356106"/>
                        </a:cubicBezTo>
                        <a:cubicBezTo>
                          <a:pt x="294894" y="1356106"/>
                          <a:pt x="0" y="1052576"/>
                          <a:pt x="0" y="678180"/>
                        </a:cubicBezTo>
                        <a:close/>
                      </a:path>
                    </a:pathLst>
                  </a:custGeom>
                  <a:solidFill>
                    <a:srgbClr val="FFFFFF"/>
                  </a:solidFill>
                  <a:ln w="12700">
                    <a:solidFill>
                      <a:srgbClr val="000000"/>
                    </a:solidFill>
                  </a:ln>
                </p:spPr>
              </p:sp>
              <p:sp>
                <p:nvSpPr>
                  <p:cNvPr id="205" name="Freeform 43"/>
                  <p:cNvSpPr/>
                  <p:nvPr/>
                </p:nvSpPr>
                <p:spPr>
                  <a:xfrm>
                    <a:off x="0" y="0"/>
                    <a:ext cx="1351280" cy="1390142"/>
                  </a:xfrm>
                  <a:custGeom>
                    <a:avLst/>
                    <a:gdLst/>
                    <a:ahLst/>
                    <a:cxnLst/>
                    <a:rect l="l" t="t" r="r" b="b"/>
                    <a:pathLst>
                      <a:path w="1351280" h="1390142">
                        <a:moveTo>
                          <a:pt x="0" y="695071"/>
                        </a:moveTo>
                        <a:cubicBezTo>
                          <a:pt x="0" y="311658"/>
                          <a:pt x="302006" y="0"/>
                          <a:pt x="675640" y="0"/>
                        </a:cubicBezTo>
                        <a:lnTo>
                          <a:pt x="675640" y="16891"/>
                        </a:lnTo>
                        <a:lnTo>
                          <a:pt x="675640" y="0"/>
                        </a:lnTo>
                        <a:cubicBezTo>
                          <a:pt x="1049274" y="0"/>
                          <a:pt x="1351280" y="311658"/>
                          <a:pt x="1351280" y="695071"/>
                        </a:cubicBezTo>
                        <a:lnTo>
                          <a:pt x="1334389" y="695071"/>
                        </a:lnTo>
                        <a:lnTo>
                          <a:pt x="1351280" y="695071"/>
                        </a:lnTo>
                        <a:cubicBezTo>
                          <a:pt x="1351280" y="1078484"/>
                          <a:pt x="1049274" y="1390142"/>
                          <a:pt x="675640" y="1390142"/>
                        </a:cubicBezTo>
                        <a:lnTo>
                          <a:pt x="675640" y="1373251"/>
                        </a:lnTo>
                        <a:lnTo>
                          <a:pt x="675640" y="1390142"/>
                        </a:lnTo>
                        <a:cubicBezTo>
                          <a:pt x="302006" y="1390015"/>
                          <a:pt x="0" y="1078357"/>
                          <a:pt x="0" y="695071"/>
                        </a:cubicBezTo>
                        <a:lnTo>
                          <a:pt x="16891" y="695071"/>
                        </a:lnTo>
                        <a:lnTo>
                          <a:pt x="33909" y="695071"/>
                        </a:lnTo>
                        <a:lnTo>
                          <a:pt x="16891" y="695071"/>
                        </a:lnTo>
                        <a:lnTo>
                          <a:pt x="0" y="695071"/>
                        </a:lnTo>
                        <a:moveTo>
                          <a:pt x="33909" y="695071"/>
                        </a:moveTo>
                        <a:cubicBezTo>
                          <a:pt x="33909" y="704469"/>
                          <a:pt x="26289" y="711962"/>
                          <a:pt x="17018" y="711962"/>
                        </a:cubicBezTo>
                        <a:cubicBezTo>
                          <a:pt x="7747" y="711962"/>
                          <a:pt x="0" y="704342"/>
                          <a:pt x="0" y="695071"/>
                        </a:cubicBezTo>
                        <a:cubicBezTo>
                          <a:pt x="0" y="685800"/>
                          <a:pt x="7620" y="678180"/>
                          <a:pt x="16891" y="678180"/>
                        </a:cubicBezTo>
                        <a:cubicBezTo>
                          <a:pt x="26162" y="678180"/>
                          <a:pt x="33782" y="685800"/>
                          <a:pt x="33782" y="695071"/>
                        </a:cubicBezTo>
                        <a:cubicBezTo>
                          <a:pt x="33782" y="1060704"/>
                          <a:pt x="321564" y="1356233"/>
                          <a:pt x="675513" y="1356233"/>
                        </a:cubicBezTo>
                        <a:cubicBezTo>
                          <a:pt x="1029462" y="1356233"/>
                          <a:pt x="1317244" y="1060704"/>
                          <a:pt x="1317244" y="695071"/>
                        </a:cubicBezTo>
                        <a:cubicBezTo>
                          <a:pt x="1317244" y="329438"/>
                          <a:pt x="1029462" y="33909"/>
                          <a:pt x="675513" y="33909"/>
                        </a:cubicBezTo>
                        <a:lnTo>
                          <a:pt x="675513" y="16891"/>
                        </a:lnTo>
                        <a:lnTo>
                          <a:pt x="675513" y="33909"/>
                        </a:lnTo>
                        <a:cubicBezTo>
                          <a:pt x="321691" y="33909"/>
                          <a:pt x="33909" y="329438"/>
                          <a:pt x="33909" y="695071"/>
                        </a:cubicBezTo>
                        <a:close/>
                      </a:path>
                    </a:pathLst>
                  </a:custGeom>
                  <a:solidFill>
                    <a:srgbClr val="FFFFFF"/>
                  </a:solidFill>
                  <a:ln w="12700">
                    <a:solidFill>
                      <a:srgbClr val="000000"/>
                    </a:solidFill>
                  </a:ln>
                </p:spPr>
              </p:sp>
            </p:grpSp>
            <p:grpSp>
              <p:nvGrpSpPr>
                <p:cNvPr id="199" name="Group 44"/>
                <p:cNvGrpSpPr/>
                <p:nvPr/>
              </p:nvGrpSpPr>
              <p:grpSpPr>
                <a:xfrm rot="5400000">
                  <a:off x="1420859" y="2803439"/>
                  <a:ext cx="270470" cy="297772"/>
                  <a:chOff x="0" y="0"/>
                  <a:chExt cx="321545" cy="354003"/>
                </a:xfrm>
              </p:grpSpPr>
              <p:sp>
                <p:nvSpPr>
                  <p:cNvPr id="202" name="Freeform 45"/>
                  <p:cNvSpPr/>
                  <p:nvPr/>
                </p:nvSpPr>
                <p:spPr>
                  <a:xfrm>
                    <a:off x="16891" y="16891"/>
                    <a:ext cx="287782" cy="319024"/>
                  </a:xfrm>
                  <a:custGeom>
                    <a:avLst/>
                    <a:gdLst/>
                    <a:ahLst/>
                    <a:cxnLst/>
                    <a:rect l="l" t="t" r="r" b="b"/>
                    <a:pathLst>
                      <a:path w="287782" h="319024">
                        <a:moveTo>
                          <a:pt x="0" y="159512"/>
                        </a:moveTo>
                        <a:cubicBezTo>
                          <a:pt x="0" y="71501"/>
                          <a:pt x="64389" y="0"/>
                          <a:pt x="143891" y="0"/>
                        </a:cubicBezTo>
                        <a:cubicBezTo>
                          <a:pt x="223393" y="0"/>
                          <a:pt x="287782" y="71501"/>
                          <a:pt x="287782" y="159512"/>
                        </a:cubicBezTo>
                        <a:cubicBezTo>
                          <a:pt x="287782" y="247523"/>
                          <a:pt x="223266" y="319024"/>
                          <a:pt x="143891" y="319024"/>
                        </a:cubicBezTo>
                        <a:cubicBezTo>
                          <a:pt x="64516" y="319024"/>
                          <a:pt x="0" y="247650"/>
                          <a:pt x="0" y="159512"/>
                        </a:cubicBezTo>
                        <a:close/>
                      </a:path>
                    </a:pathLst>
                  </a:custGeom>
                  <a:solidFill>
                    <a:srgbClr val="9DC3E6"/>
                  </a:solidFill>
                  <a:ln w="12700">
                    <a:solidFill>
                      <a:srgbClr val="000000"/>
                    </a:solidFill>
                  </a:ln>
                </p:spPr>
              </p:sp>
              <p:sp>
                <p:nvSpPr>
                  <p:cNvPr id="203" name="Freeform 46"/>
                  <p:cNvSpPr/>
                  <p:nvPr/>
                </p:nvSpPr>
                <p:spPr>
                  <a:xfrm>
                    <a:off x="0" y="0"/>
                    <a:ext cx="321564" cy="352806"/>
                  </a:xfrm>
                  <a:custGeom>
                    <a:avLst/>
                    <a:gdLst/>
                    <a:ahLst/>
                    <a:cxnLst/>
                    <a:rect l="l" t="t" r="r" b="b"/>
                    <a:pathLst>
                      <a:path w="321564" h="352806">
                        <a:moveTo>
                          <a:pt x="0" y="176403"/>
                        </a:moveTo>
                        <a:cubicBezTo>
                          <a:pt x="0" y="80645"/>
                          <a:pt x="70358" y="0"/>
                          <a:pt x="160782" y="0"/>
                        </a:cubicBezTo>
                        <a:lnTo>
                          <a:pt x="160782" y="16891"/>
                        </a:lnTo>
                        <a:lnTo>
                          <a:pt x="160782" y="0"/>
                        </a:lnTo>
                        <a:cubicBezTo>
                          <a:pt x="251206" y="0"/>
                          <a:pt x="321564" y="80645"/>
                          <a:pt x="321564" y="176403"/>
                        </a:cubicBezTo>
                        <a:lnTo>
                          <a:pt x="304673" y="176403"/>
                        </a:lnTo>
                        <a:lnTo>
                          <a:pt x="321564" y="176403"/>
                        </a:lnTo>
                        <a:cubicBezTo>
                          <a:pt x="321564" y="272161"/>
                          <a:pt x="251206" y="352806"/>
                          <a:pt x="160782" y="352806"/>
                        </a:cubicBezTo>
                        <a:lnTo>
                          <a:pt x="160782" y="335915"/>
                        </a:lnTo>
                        <a:lnTo>
                          <a:pt x="160782" y="352806"/>
                        </a:lnTo>
                        <a:cubicBezTo>
                          <a:pt x="70358" y="352806"/>
                          <a:pt x="0" y="272161"/>
                          <a:pt x="0" y="176403"/>
                        </a:cubicBezTo>
                        <a:lnTo>
                          <a:pt x="16891" y="176403"/>
                        </a:lnTo>
                        <a:lnTo>
                          <a:pt x="33909" y="176403"/>
                        </a:lnTo>
                        <a:lnTo>
                          <a:pt x="16891" y="176403"/>
                        </a:lnTo>
                        <a:lnTo>
                          <a:pt x="0" y="176403"/>
                        </a:lnTo>
                        <a:moveTo>
                          <a:pt x="33909" y="176403"/>
                        </a:moveTo>
                        <a:cubicBezTo>
                          <a:pt x="33909" y="185801"/>
                          <a:pt x="26289" y="193294"/>
                          <a:pt x="17018" y="193294"/>
                        </a:cubicBezTo>
                        <a:cubicBezTo>
                          <a:pt x="7747" y="193294"/>
                          <a:pt x="0" y="185801"/>
                          <a:pt x="0" y="176403"/>
                        </a:cubicBezTo>
                        <a:cubicBezTo>
                          <a:pt x="0" y="167005"/>
                          <a:pt x="7620" y="159512"/>
                          <a:pt x="16891" y="159512"/>
                        </a:cubicBezTo>
                        <a:cubicBezTo>
                          <a:pt x="26162" y="159512"/>
                          <a:pt x="33782" y="167132"/>
                          <a:pt x="33782" y="176403"/>
                        </a:cubicBezTo>
                        <a:cubicBezTo>
                          <a:pt x="33782" y="256794"/>
                          <a:pt x="92202" y="318897"/>
                          <a:pt x="160655" y="318897"/>
                        </a:cubicBezTo>
                        <a:cubicBezTo>
                          <a:pt x="229108" y="318897"/>
                          <a:pt x="287528" y="256794"/>
                          <a:pt x="287528" y="176403"/>
                        </a:cubicBezTo>
                        <a:cubicBezTo>
                          <a:pt x="287528" y="96012"/>
                          <a:pt x="229108" y="33909"/>
                          <a:pt x="160655" y="33909"/>
                        </a:cubicBezTo>
                        <a:lnTo>
                          <a:pt x="160655" y="16891"/>
                        </a:lnTo>
                        <a:lnTo>
                          <a:pt x="160655" y="33909"/>
                        </a:lnTo>
                        <a:cubicBezTo>
                          <a:pt x="92202" y="33909"/>
                          <a:pt x="33782" y="96012"/>
                          <a:pt x="33782" y="176403"/>
                        </a:cubicBezTo>
                        <a:close/>
                      </a:path>
                    </a:pathLst>
                  </a:custGeom>
                  <a:solidFill>
                    <a:schemeClr val="tx2">
                      <a:lumMod val="60000"/>
                      <a:lumOff val="40000"/>
                    </a:schemeClr>
                  </a:solidFill>
                  <a:ln w="12700">
                    <a:solidFill>
                      <a:schemeClr val="accent1">
                        <a:lumMod val="60000"/>
                        <a:lumOff val="40000"/>
                      </a:schemeClr>
                    </a:solidFill>
                  </a:ln>
                </p:spPr>
              </p:sp>
            </p:grpSp>
            <p:sp>
              <p:nvSpPr>
                <p:cNvPr id="200" name="AutoShape 47"/>
                <p:cNvSpPr/>
                <p:nvPr/>
              </p:nvSpPr>
              <p:spPr>
                <a:xfrm>
                  <a:off x="1238004" y="2512685"/>
                  <a:ext cx="645618" cy="0"/>
                </a:xfrm>
                <a:prstGeom prst="line">
                  <a:avLst/>
                </a:prstGeom>
                <a:ln w="21365" cap="rnd">
                  <a:solidFill>
                    <a:srgbClr val="5B9BD5"/>
                  </a:solidFill>
                  <a:prstDash val="solid"/>
                  <a:headEnd type="none" w="sm" len="sm"/>
                  <a:tailEnd type="none" w="sm" len="sm"/>
                </a:ln>
              </p:spPr>
            </p:sp>
            <p:sp>
              <p:nvSpPr>
                <p:cNvPr id="201" name="TextBox 48"/>
                <p:cNvSpPr txBox="1"/>
                <p:nvPr/>
              </p:nvSpPr>
              <p:spPr>
                <a:xfrm>
                  <a:off x="0" y="3258576"/>
                  <a:ext cx="3062110" cy="1041924"/>
                </a:xfrm>
                <a:prstGeom prst="rect">
                  <a:avLst/>
                </a:prstGeom>
              </p:spPr>
              <p:txBody>
                <a:bodyPr lIns="0" tIns="0" rIns="0" bIns="0" rtlCol="0" anchor="t">
                  <a:spAutoFit/>
                </a:bodyPr>
                <a:lstStyle/>
                <a:p>
                  <a:pPr algn="ctr">
                    <a:lnSpc>
                      <a:spcPts val="2420"/>
                    </a:lnSpc>
                  </a:pPr>
                  <a:r>
                    <a:rPr lang="en-US" sz="2020" b="1" dirty="0" smtClean="0">
                      <a:solidFill>
                        <a:srgbClr val="5B9BD5"/>
                      </a:solidFill>
                      <a:latin typeface="Arial Bold" panose="020B0704020202020204"/>
                      <a:ea typeface="Arial Bold" panose="020B0704020202020204"/>
                      <a:cs typeface="Arial Bold" panose="020B0704020202020204"/>
                      <a:sym typeface="Arial Bold" panose="020B0704020202020204"/>
                    </a:rPr>
                    <a:t>KẾT QUẢ</a:t>
                  </a:r>
                </a:p>
                <a:p>
                  <a:pPr algn="ctr">
                    <a:lnSpc>
                      <a:spcPts val="2420"/>
                    </a:lnSpc>
                  </a:pPr>
                  <a:r>
                    <a:rPr lang="en-US" sz="2020" b="1" dirty="0" smtClean="0">
                      <a:solidFill>
                        <a:srgbClr val="5B9BD5"/>
                      </a:solidFill>
                      <a:latin typeface="Arial Bold" panose="020B0704020202020204"/>
                      <a:ea typeface="Arial Bold" panose="020B0704020202020204"/>
                      <a:cs typeface="Arial Bold" panose="020B0704020202020204"/>
                      <a:sym typeface="Arial Bold" panose="020B0704020202020204"/>
                    </a:rPr>
                    <a:t>NGHIÊN CỨU</a:t>
                  </a:r>
                  <a:endParaRPr lang="en-US" sz="2020" b="1" dirty="0">
                    <a:solidFill>
                      <a:srgbClr val="5B9BD5"/>
                    </a:solidFill>
                    <a:latin typeface="Arial Bold" panose="020B0704020202020204"/>
                    <a:ea typeface="Arial Bold" panose="020B0704020202020204"/>
                    <a:cs typeface="Arial Bold" panose="020B0704020202020204"/>
                    <a:sym typeface="Arial Bold" panose="020B0704020202020204"/>
                  </a:endParaRPr>
                </a:p>
              </p:txBody>
            </p:sp>
          </p:grpSp>
          <p:grpSp>
            <p:nvGrpSpPr>
              <p:cNvPr id="189" name="Group 87"/>
              <p:cNvGrpSpPr/>
              <p:nvPr/>
            </p:nvGrpSpPr>
            <p:grpSpPr>
              <a:xfrm>
                <a:off x="6681260" y="1492838"/>
                <a:ext cx="320481" cy="560842"/>
                <a:chOff x="0" y="0"/>
                <a:chExt cx="516531" cy="903930"/>
              </a:xfrm>
            </p:grpSpPr>
            <p:sp>
              <p:nvSpPr>
                <p:cNvPr id="194" name="Freeform 88"/>
                <p:cNvSpPr/>
                <p:nvPr/>
              </p:nvSpPr>
              <p:spPr>
                <a:xfrm>
                  <a:off x="0" y="0"/>
                  <a:ext cx="516531" cy="903930"/>
                </a:xfrm>
                <a:custGeom>
                  <a:avLst/>
                  <a:gdLst/>
                  <a:ahLst/>
                  <a:cxnLst/>
                  <a:rect l="l" t="t" r="r" b="b"/>
                  <a:pathLst>
                    <a:path w="516531" h="903930">
                      <a:moveTo>
                        <a:pt x="276538" y="903930"/>
                      </a:moveTo>
                      <a:lnTo>
                        <a:pt x="276538" y="760807"/>
                      </a:lnTo>
                      <a:lnTo>
                        <a:pt x="0" y="760807"/>
                      </a:lnTo>
                      <a:lnTo>
                        <a:pt x="0" y="619722"/>
                      </a:lnTo>
                      <a:lnTo>
                        <a:pt x="176406" y="0"/>
                      </a:lnTo>
                      <a:lnTo>
                        <a:pt x="466737" y="0"/>
                      </a:lnTo>
                      <a:lnTo>
                        <a:pt x="466737" y="609977"/>
                      </a:lnTo>
                      <a:lnTo>
                        <a:pt x="516531" y="609977"/>
                      </a:lnTo>
                      <a:lnTo>
                        <a:pt x="516531" y="760807"/>
                      </a:lnTo>
                      <a:lnTo>
                        <a:pt x="466737" y="760807"/>
                      </a:lnTo>
                      <a:lnTo>
                        <a:pt x="466737" y="903930"/>
                      </a:lnTo>
                      <a:lnTo>
                        <a:pt x="276538" y="903930"/>
                      </a:lnTo>
                      <a:close/>
                      <a:moveTo>
                        <a:pt x="166343" y="609977"/>
                      </a:moveTo>
                      <a:lnTo>
                        <a:pt x="276538" y="609977"/>
                      </a:lnTo>
                      <a:lnTo>
                        <a:pt x="276538" y="154925"/>
                      </a:lnTo>
                      <a:lnTo>
                        <a:pt x="166343" y="609977"/>
                      </a:lnTo>
                      <a:close/>
                    </a:path>
                  </a:pathLst>
                </a:custGeom>
                <a:solidFill>
                  <a:srgbClr val="FFC000"/>
                </a:solidFill>
                <a:ln w="12700" cap="sq">
                  <a:solidFill>
                    <a:srgbClr val="000000"/>
                  </a:solidFill>
                  <a:prstDash val="solid"/>
                  <a:miter/>
                </a:ln>
              </p:spPr>
            </p:sp>
          </p:grpSp>
          <p:grpSp>
            <p:nvGrpSpPr>
              <p:cNvPr id="190" name="Group 100"/>
              <p:cNvGrpSpPr/>
              <p:nvPr/>
            </p:nvGrpSpPr>
            <p:grpSpPr>
              <a:xfrm>
                <a:off x="6400800" y="2313036"/>
                <a:ext cx="881904" cy="881904"/>
                <a:chOff x="0" y="0"/>
                <a:chExt cx="812800" cy="812800"/>
              </a:xfrm>
            </p:grpSpPr>
            <p:sp>
              <p:nvSpPr>
                <p:cNvPr id="192" name="Freeform 10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3" name="TextBox 102"/>
                <p:cNvSpPr txBox="1"/>
                <p:nvPr/>
              </p:nvSpPr>
              <p:spPr>
                <a:xfrm>
                  <a:off x="76200" y="57150"/>
                  <a:ext cx="660400" cy="679450"/>
                </a:xfrm>
                <a:prstGeom prst="rect">
                  <a:avLst/>
                </a:prstGeom>
              </p:spPr>
              <p:txBody>
                <a:bodyPr lIns="42731" tIns="42731" rIns="42731" bIns="42731" rtlCol="0" anchor="ctr"/>
                <a:lstStyle/>
                <a:p>
                  <a:pPr algn="ctr">
                    <a:lnSpc>
                      <a:spcPts val="1415"/>
                    </a:lnSpc>
                  </a:pPr>
                  <a:endParaRPr/>
                </a:p>
              </p:txBody>
            </p:sp>
          </p:grpSp>
          <p:sp>
            <p:nvSpPr>
              <p:cNvPr id="191" name="Freeform 106"/>
              <p:cNvSpPr/>
              <p:nvPr/>
            </p:nvSpPr>
            <p:spPr>
              <a:xfrm>
                <a:off x="6528442" y="2465774"/>
                <a:ext cx="642140" cy="630465"/>
              </a:xfrm>
              <a:custGeom>
                <a:avLst/>
                <a:gdLst/>
                <a:ahLst/>
                <a:cxnLst/>
                <a:rect l="l" t="t" r="r" b="b"/>
                <a:pathLst>
                  <a:path w="642140" h="630465">
                    <a:moveTo>
                      <a:pt x="0" y="0"/>
                    </a:moveTo>
                    <a:lnTo>
                      <a:pt x="642140" y="0"/>
                    </a:lnTo>
                    <a:lnTo>
                      <a:pt x="642140" y="630465"/>
                    </a:lnTo>
                    <a:lnTo>
                      <a:pt x="0" y="630465"/>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grpSp>
        <p:grpSp>
          <p:nvGrpSpPr>
            <p:cNvPr id="129" name="Group 128"/>
            <p:cNvGrpSpPr/>
            <p:nvPr/>
          </p:nvGrpSpPr>
          <p:grpSpPr>
            <a:xfrm>
              <a:off x="260201" y="2053142"/>
              <a:ext cx="1748817" cy="2419642"/>
              <a:chOff x="-230220" y="2514473"/>
              <a:chExt cx="2290669" cy="3071731"/>
            </a:xfrm>
          </p:grpSpPr>
          <p:grpSp>
            <p:nvGrpSpPr>
              <p:cNvPr id="171" name="Group 2"/>
              <p:cNvGrpSpPr/>
              <p:nvPr/>
            </p:nvGrpSpPr>
            <p:grpSpPr>
              <a:xfrm>
                <a:off x="-230220" y="3005331"/>
                <a:ext cx="2290669" cy="2580873"/>
                <a:chOff x="-306960" y="345189"/>
                <a:chExt cx="3054226" cy="3441164"/>
              </a:xfrm>
            </p:grpSpPr>
            <p:grpSp>
              <p:nvGrpSpPr>
                <p:cNvPr id="178" name="Group 3"/>
                <p:cNvGrpSpPr/>
                <p:nvPr/>
              </p:nvGrpSpPr>
              <p:grpSpPr>
                <a:xfrm rot="-1911954">
                  <a:off x="409506" y="369417"/>
                  <a:ext cx="1942562" cy="1902338"/>
                  <a:chOff x="0" y="0"/>
                  <a:chExt cx="2309392" cy="2261572"/>
                </a:xfrm>
              </p:grpSpPr>
              <p:sp>
                <p:nvSpPr>
                  <p:cNvPr id="187" name="Freeform 4"/>
                  <p:cNvSpPr/>
                  <p:nvPr/>
                </p:nvSpPr>
                <p:spPr>
                  <a:xfrm>
                    <a:off x="0" y="0"/>
                    <a:ext cx="2309368" cy="2261616"/>
                  </a:xfrm>
                  <a:custGeom>
                    <a:avLst/>
                    <a:gdLst/>
                    <a:ahLst/>
                    <a:cxnLst/>
                    <a:rect l="l" t="t" r="r" b="b"/>
                    <a:pathLst>
                      <a:path w="2309368" h="2261616">
                        <a:moveTo>
                          <a:pt x="0" y="1130808"/>
                        </a:moveTo>
                        <a:cubicBezTo>
                          <a:pt x="0" y="506222"/>
                          <a:pt x="517017" y="0"/>
                          <a:pt x="1154684" y="0"/>
                        </a:cubicBezTo>
                        <a:cubicBezTo>
                          <a:pt x="1792351" y="0"/>
                          <a:pt x="2309368" y="506222"/>
                          <a:pt x="2309368" y="1130808"/>
                        </a:cubicBezTo>
                        <a:cubicBezTo>
                          <a:pt x="2309368" y="1755394"/>
                          <a:pt x="1792351" y="2261616"/>
                          <a:pt x="1154684" y="2261616"/>
                        </a:cubicBezTo>
                        <a:cubicBezTo>
                          <a:pt x="517017" y="2261616"/>
                          <a:pt x="0" y="1755267"/>
                          <a:pt x="0" y="1130808"/>
                        </a:cubicBezTo>
                        <a:close/>
                      </a:path>
                    </a:pathLst>
                  </a:custGeom>
                  <a:solidFill>
                    <a:schemeClr val="accent6">
                      <a:lumMod val="75000"/>
                    </a:schemeClr>
                  </a:solidFill>
                  <a:ln w="12700">
                    <a:solidFill>
                      <a:schemeClr val="bg1"/>
                    </a:solidFill>
                  </a:ln>
                </p:spPr>
              </p:sp>
            </p:grpSp>
            <p:sp>
              <p:nvSpPr>
                <p:cNvPr id="179" name="Freeform 6"/>
                <p:cNvSpPr/>
                <p:nvPr/>
              </p:nvSpPr>
              <p:spPr>
                <a:xfrm>
                  <a:off x="299057" y="345189"/>
                  <a:ext cx="2162393" cy="975331"/>
                </a:xfrm>
                <a:custGeom>
                  <a:avLst/>
                  <a:gdLst/>
                  <a:ahLst/>
                  <a:cxnLst/>
                  <a:rect l="l" t="t" r="r" b="b"/>
                  <a:pathLst>
                    <a:path w="2570734" h="1159510">
                      <a:moveTo>
                        <a:pt x="0" y="0"/>
                      </a:moveTo>
                      <a:lnTo>
                        <a:pt x="2570734" y="0"/>
                      </a:lnTo>
                      <a:lnTo>
                        <a:pt x="2570734" y="1159510"/>
                      </a:lnTo>
                      <a:lnTo>
                        <a:pt x="0" y="1159510"/>
                      </a:lnTo>
                      <a:close/>
                    </a:path>
                  </a:pathLst>
                </a:custGeom>
                <a:solidFill>
                  <a:schemeClr val="bg1"/>
                </a:solidFill>
                <a:ln w="12700">
                  <a:noFill/>
                </a:ln>
              </p:spPr>
            </p:sp>
            <p:grpSp>
              <p:nvGrpSpPr>
                <p:cNvPr id="180" name="Group 8"/>
                <p:cNvGrpSpPr/>
                <p:nvPr/>
              </p:nvGrpSpPr>
              <p:grpSpPr>
                <a:xfrm rot="5400000">
                  <a:off x="656492" y="584436"/>
                  <a:ext cx="1434282" cy="1472302"/>
                  <a:chOff x="0" y="0"/>
                  <a:chExt cx="1705129" cy="1750329"/>
                </a:xfrm>
              </p:grpSpPr>
              <p:sp>
                <p:nvSpPr>
                  <p:cNvPr id="185" name="Freeform 9"/>
                  <p:cNvSpPr/>
                  <p:nvPr/>
                </p:nvSpPr>
                <p:spPr>
                  <a:xfrm>
                    <a:off x="16891" y="16891"/>
                    <a:ext cx="1671320" cy="1715262"/>
                  </a:xfrm>
                  <a:custGeom>
                    <a:avLst/>
                    <a:gdLst/>
                    <a:ahLst/>
                    <a:cxnLst/>
                    <a:rect l="l" t="t" r="r" b="b"/>
                    <a:pathLst>
                      <a:path w="1671320" h="1715262">
                        <a:moveTo>
                          <a:pt x="0" y="857631"/>
                        </a:moveTo>
                        <a:cubicBezTo>
                          <a:pt x="0" y="383921"/>
                          <a:pt x="374142" y="0"/>
                          <a:pt x="835660" y="0"/>
                        </a:cubicBezTo>
                        <a:cubicBezTo>
                          <a:pt x="1297178" y="0"/>
                          <a:pt x="1671320" y="383921"/>
                          <a:pt x="1671320" y="857631"/>
                        </a:cubicBezTo>
                        <a:cubicBezTo>
                          <a:pt x="1671320" y="1331341"/>
                          <a:pt x="1297178" y="1715262"/>
                          <a:pt x="835660" y="1715262"/>
                        </a:cubicBezTo>
                        <a:cubicBezTo>
                          <a:pt x="374142" y="1715262"/>
                          <a:pt x="0" y="1331341"/>
                          <a:pt x="0" y="857631"/>
                        </a:cubicBezTo>
                        <a:close/>
                      </a:path>
                    </a:pathLst>
                  </a:custGeom>
                  <a:solidFill>
                    <a:schemeClr val="accent6">
                      <a:lumMod val="75000"/>
                    </a:schemeClr>
                  </a:solidFill>
                  <a:ln w="12700">
                    <a:solidFill>
                      <a:srgbClr val="000000"/>
                    </a:solidFill>
                  </a:ln>
                </p:spPr>
              </p:sp>
              <p:sp>
                <p:nvSpPr>
                  <p:cNvPr id="186" name="Freeform 10"/>
                  <p:cNvSpPr/>
                  <p:nvPr/>
                </p:nvSpPr>
                <p:spPr>
                  <a:xfrm>
                    <a:off x="0" y="0"/>
                    <a:ext cx="1705102" cy="1749044"/>
                  </a:xfrm>
                  <a:custGeom>
                    <a:avLst/>
                    <a:gdLst/>
                    <a:ahLst/>
                    <a:cxnLst/>
                    <a:rect l="l" t="t" r="r" b="b"/>
                    <a:pathLst>
                      <a:path w="1705102" h="1749044">
                        <a:moveTo>
                          <a:pt x="0" y="874522"/>
                        </a:moveTo>
                        <a:cubicBezTo>
                          <a:pt x="0" y="391922"/>
                          <a:pt x="381254" y="0"/>
                          <a:pt x="852551" y="0"/>
                        </a:cubicBezTo>
                        <a:lnTo>
                          <a:pt x="852551" y="16891"/>
                        </a:lnTo>
                        <a:lnTo>
                          <a:pt x="852551" y="0"/>
                        </a:lnTo>
                        <a:cubicBezTo>
                          <a:pt x="1323848" y="0"/>
                          <a:pt x="1705102" y="391922"/>
                          <a:pt x="1705102" y="874522"/>
                        </a:cubicBezTo>
                        <a:cubicBezTo>
                          <a:pt x="1705102" y="1357122"/>
                          <a:pt x="1323848" y="1749044"/>
                          <a:pt x="852551" y="1749044"/>
                        </a:cubicBezTo>
                        <a:lnTo>
                          <a:pt x="852551" y="1732153"/>
                        </a:lnTo>
                        <a:lnTo>
                          <a:pt x="852551" y="1749044"/>
                        </a:lnTo>
                        <a:cubicBezTo>
                          <a:pt x="381254" y="1749171"/>
                          <a:pt x="0" y="1357122"/>
                          <a:pt x="0" y="874522"/>
                        </a:cubicBezTo>
                        <a:lnTo>
                          <a:pt x="16891" y="874522"/>
                        </a:lnTo>
                        <a:lnTo>
                          <a:pt x="31242" y="883539"/>
                        </a:lnTo>
                        <a:cubicBezTo>
                          <a:pt x="27178" y="889889"/>
                          <a:pt x="19431" y="892810"/>
                          <a:pt x="12192" y="890778"/>
                        </a:cubicBezTo>
                        <a:cubicBezTo>
                          <a:pt x="4953" y="888746"/>
                          <a:pt x="0" y="882142"/>
                          <a:pt x="0" y="874522"/>
                        </a:cubicBezTo>
                        <a:moveTo>
                          <a:pt x="33909" y="874522"/>
                        </a:moveTo>
                        <a:lnTo>
                          <a:pt x="16891" y="874522"/>
                        </a:lnTo>
                        <a:lnTo>
                          <a:pt x="2667" y="865505"/>
                        </a:lnTo>
                        <a:cubicBezTo>
                          <a:pt x="6731" y="859155"/>
                          <a:pt x="14478" y="856234"/>
                          <a:pt x="21717" y="858266"/>
                        </a:cubicBezTo>
                        <a:cubicBezTo>
                          <a:pt x="28956" y="860298"/>
                          <a:pt x="33909" y="867029"/>
                          <a:pt x="33909" y="874522"/>
                        </a:cubicBezTo>
                        <a:cubicBezTo>
                          <a:pt x="33909" y="1339215"/>
                          <a:pt x="400812" y="1715262"/>
                          <a:pt x="852551" y="1715262"/>
                        </a:cubicBezTo>
                        <a:cubicBezTo>
                          <a:pt x="1304290" y="1715262"/>
                          <a:pt x="1671193" y="1339342"/>
                          <a:pt x="1671193" y="874522"/>
                        </a:cubicBezTo>
                        <a:lnTo>
                          <a:pt x="1688084" y="874522"/>
                        </a:lnTo>
                        <a:lnTo>
                          <a:pt x="1671193" y="874522"/>
                        </a:lnTo>
                        <a:cubicBezTo>
                          <a:pt x="1671193" y="409829"/>
                          <a:pt x="1304290" y="33782"/>
                          <a:pt x="852551" y="33782"/>
                        </a:cubicBezTo>
                        <a:lnTo>
                          <a:pt x="852551" y="16891"/>
                        </a:lnTo>
                        <a:lnTo>
                          <a:pt x="852551" y="33909"/>
                        </a:lnTo>
                        <a:cubicBezTo>
                          <a:pt x="400812" y="33909"/>
                          <a:pt x="33909" y="409829"/>
                          <a:pt x="33909" y="874649"/>
                        </a:cubicBezTo>
                        <a:close/>
                      </a:path>
                    </a:pathLst>
                  </a:custGeom>
                  <a:solidFill>
                    <a:srgbClr val="FFFFFF"/>
                  </a:solidFill>
                  <a:ln w="12700">
                    <a:solidFill>
                      <a:schemeClr val="bg1"/>
                    </a:solidFill>
                  </a:ln>
                </p:spPr>
              </p:sp>
            </p:grpSp>
            <p:grpSp>
              <p:nvGrpSpPr>
                <p:cNvPr id="181" name="Group 11"/>
                <p:cNvGrpSpPr/>
                <p:nvPr/>
              </p:nvGrpSpPr>
              <p:grpSpPr>
                <a:xfrm rot="5400000">
                  <a:off x="1277680" y="2797950"/>
                  <a:ext cx="241983" cy="268293"/>
                  <a:chOff x="0" y="0"/>
                  <a:chExt cx="287679" cy="318957"/>
                </a:xfrm>
              </p:grpSpPr>
              <p:sp>
                <p:nvSpPr>
                  <p:cNvPr id="184" name="Freeform 12"/>
                  <p:cNvSpPr/>
                  <p:nvPr/>
                </p:nvSpPr>
                <p:spPr>
                  <a:xfrm>
                    <a:off x="0" y="0"/>
                    <a:ext cx="287655" cy="318897"/>
                  </a:xfrm>
                  <a:custGeom>
                    <a:avLst/>
                    <a:gdLst/>
                    <a:ahLst/>
                    <a:cxnLst/>
                    <a:rect l="l" t="t" r="r" b="b"/>
                    <a:pathLst>
                      <a:path w="287655" h="318897">
                        <a:moveTo>
                          <a:pt x="0" y="159512"/>
                        </a:moveTo>
                        <a:cubicBezTo>
                          <a:pt x="0" y="71374"/>
                          <a:pt x="64389" y="0"/>
                          <a:pt x="143891" y="0"/>
                        </a:cubicBezTo>
                        <a:cubicBezTo>
                          <a:pt x="223393" y="0"/>
                          <a:pt x="287655" y="71374"/>
                          <a:pt x="287655" y="159512"/>
                        </a:cubicBezTo>
                        <a:cubicBezTo>
                          <a:pt x="287655" y="247650"/>
                          <a:pt x="223266" y="318897"/>
                          <a:pt x="143891" y="318897"/>
                        </a:cubicBezTo>
                        <a:cubicBezTo>
                          <a:pt x="64516" y="318897"/>
                          <a:pt x="0" y="247523"/>
                          <a:pt x="0" y="159512"/>
                        </a:cubicBezTo>
                        <a:close/>
                      </a:path>
                    </a:pathLst>
                  </a:custGeom>
                  <a:solidFill>
                    <a:schemeClr val="accent6">
                      <a:lumMod val="75000"/>
                    </a:schemeClr>
                  </a:solidFill>
                  <a:ln w="12700">
                    <a:solidFill>
                      <a:schemeClr val="accent6">
                        <a:lumMod val="75000"/>
                      </a:schemeClr>
                    </a:solidFill>
                  </a:ln>
                </p:spPr>
              </p:sp>
            </p:grpSp>
            <p:sp>
              <p:nvSpPr>
                <p:cNvPr id="182" name="AutoShape 13"/>
                <p:cNvSpPr/>
                <p:nvPr/>
              </p:nvSpPr>
              <p:spPr>
                <a:xfrm>
                  <a:off x="1080579" y="2492457"/>
                  <a:ext cx="636186" cy="0"/>
                </a:xfrm>
                <a:prstGeom prst="line">
                  <a:avLst/>
                </a:prstGeom>
                <a:solidFill>
                  <a:schemeClr val="accent6">
                    <a:lumMod val="75000"/>
                  </a:schemeClr>
                </a:solidFill>
                <a:ln w="21365" cap="rnd">
                  <a:solidFill>
                    <a:schemeClr val="accent6">
                      <a:lumMod val="75000"/>
                    </a:schemeClr>
                  </a:solidFill>
                  <a:prstDash val="solid"/>
                  <a:headEnd type="none" w="sm" len="sm"/>
                  <a:tailEnd type="none" w="sm" len="sm"/>
                </a:ln>
              </p:spPr>
            </p:sp>
            <p:sp>
              <p:nvSpPr>
                <p:cNvPr id="183" name="TextBox 14"/>
                <p:cNvSpPr txBox="1"/>
                <p:nvPr/>
              </p:nvSpPr>
              <p:spPr>
                <a:xfrm>
                  <a:off x="-306960" y="3265390"/>
                  <a:ext cx="3054226" cy="520963"/>
                </a:xfrm>
                <a:prstGeom prst="rect">
                  <a:avLst/>
                </a:prstGeom>
              </p:spPr>
              <p:txBody>
                <a:bodyPr wrap="square" lIns="0" tIns="0" rIns="0" bIns="0" rtlCol="0" anchor="t">
                  <a:spAutoFit/>
                </a:bodyPr>
                <a:lstStyle/>
                <a:p>
                  <a:pPr algn="ctr">
                    <a:lnSpc>
                      <a:spcPts val="2420"/>
                    </a:lnSpc>
                  </a:pPr>
                  <a:r>
                    <a:rPr lang="en-US" sz="2020" b="1" dirty="0" smtClean="0">
                      <a:solidFill>
                        <a:schemeClr val="accent6">
                          <a:lumMod val="75000"/>
                        </a:schemeClr>
                      </a:solidFill>
                      <a:latin typeface="Arial Bold" panose="020B0704020202020204"/>
                      <a:ea typeface="Arial Bold" panose="020B0704020202020204"/>
                      <a:cs typeface="Arial Bold" panose="020B0704020202020204"/>
                      <a:sym typeface="Arial Bold" panose="020B0704020202020204"/>
                    </a:rPr>
                    <a:t>TỔNG QUAN</a:t>
                  </a:r>
                  <a:endParaRPr lang="en-US" sz="2020" b="1" dirty="0">
                    <a:solidFill>
                      <a:schemeClr val="accent6">
                        <a:lumMod val="75000"/>
                      </a:schemeClr>
                    </a:solidFill>
                    <a:latin typeface="Arial Bold" panose="020B0704020202020204"/>
                    <a:ea typeface="Arial Bold" panose="020B0704020202020204"/>
                    <a:cs typeface="Arial Bold" panose="020B0704020202020204"/>
                    <a:sym typeface="Arial Bold" panose="020B0704020202020204"/>
                  </a:endParaRPr>
                </a:p>
              </p:txBody>
            </p:sp>
          </p:grpSp>
          <p:grpSp>
            <p:nvGrpSpPr>
              <p:cNvPr id="172" name="Group 83"/>
              <p:cNvGrpSpPr/>
              <p:nvPr/>
            </p:nvGrpSpPr>
            <p:grpSpPr>
              <a:xfrm>
                <a:off x="869984" y="2514473"/>
                <a:ext cx="320481" cy="560842"/>
                <a:chOff x="0" y="0"/>
                <a:chExt cx="1811808" cy="3170665"/>
              </a:xfrm>
            </p:grpSpPr>
            <p:sp>
              <p:nvSpPr>
                <p:cNvPr id="177" name="Freeform 84"/>
                <p:cNvSpPr/>
                <p:nvPr/>
              </p:nvSpPr>
              <p:spPr>
                <a:xfrm>
                  <a:off x="0" y="0"/>
                  <a:ext cx="1811809" cy="3170665"/>
                </a:xfrm>
                <a:custGeom>
                  <a:avLst/>
                  <a:gdLst/>
                  <a:ahLst/>
                  <a:cxnLst/>
                  <a:rect l="l" t="t" r="r" b="b"/>
                  <a:pathLst>
                    <a:path w="1811809" h="3170665">
                      <a:moveTo>
                        <a:pt x="1261795" y="0"/>
                      </a:moveTo>
                      <a:lnTo>
                        <a:pt x="908135" y="0"/>
                      </a:lnTo>
                      <a:lnTo>
                        <a:pt x="884707" y="16801"/>
                      </a:lnTo>
                      <a:cubicBezTo>
                        <a:pt x="826693" y="57605"/>
                        <a:pt x="760870" y="96008"/>
                        <a:pt x="690585" y="130811"/>
                      </a:cubicBezTo>
                      <a:cubicBezTo>
                        <a:pt x="619183" y="166814"/>
                        <a:pt x="545551" y="199217"/>
                        <a:pt x="471918" y="228019"/>
                      </a:cubicBezTo>
                      <a:cubicBezTo>
                        <a:pt x="399401" y="255621"/>
                        <a:pt x="328000" y="279623"/>
                        <a:pt x="259945" y="297625"/>
                      </a:cubicBezTo>
                      <a:cubicBezTo>
                        <a:pt x="193007" y="315626"/>
                        <a:pt x="132762" y="327627"/>
                        <a:pt x="82558" y="334828"/>
                      </a:cubicBezTo>
                      <a:lnTo>
                        <a:pt x="0" y="345629"/>
                      </a:lnTo>
                      <a:lnTo>
                        <a:pt x="0" y="884474"/>
                      </a:lnTo>
                      <a:lnTo>
                        <a:pt x="603564" y="884474"/>
                      </a:lnTo>
                      <a:lnTo>
                        <a:pt x="603564" y="2529811"/>
                      </a:lnTo>
                      <a:lnTo>
                        <a:pt x="3347" y="2529811"/>
                      </a:lnTo>
                      <a:lnTo>
                        <a:pt x="3347" y="3170665"/>
                      </a:lnTo>
                      <a:lnTo>
                        <a:pt x="1811809" y="3170665"/>
                      </a:lnTo>
                      <a:lnTo>
                        <a:pt x="1811809" y="2529811"/>
                      </a:lnTo>
                      <a:lnTo>
                        <a:pt x="1261795" y="2529811"/>
                      </a:lnTo>
                      <a:lnTo>
                        <a:pt x="1261795" y="0"/>
                      </a:lnTo>
                      <a:close/>
                    </a:path>
                  </a:pathLst>
                </a:custGeom>
                <a:solidFill>
                  <a:srgbClr val="FFC000"/>
                </a:solidFill>
                <a:ln w="12700" cap="sq">
                  <a:solidFill>
                    <a:srgbClr val="000000"/>
                  </a:solidFill>
                  <a:prstDash val="solid"/>
                  <a:miter/>
                </a:ln>
              </p:spPr>
            </p:sp>
          </p:grpSp>
          <p:grpSp>
            <p:nvGrpSpPr>
              <p:cNvPr id="173" name="Group 93"/>
              <p:cNvGrpSpPr/>
              <p:nvPr/>
            </p:nvGrpSpPr>
            <p:grpSpPr>
              <a:xfrm>
                <a:off x="589273" y="3299952"/>
                <a:ext cx="881904" cy="881904"/>
                <a:chOff x="0" y="0"/>
                <a:chExt cx="812800" cy="812800"/>
              </a:xfrm>
            </p:grpSpPr>
            <p:sp>
              <p:nvSpPr>
                <p:cNvPr id="175" name="Freeform 9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76" name="TextBox 95"/>
                <p:cNvSpPr txBox="1"/>
                <p:nvPr/>
              </p:nvSpPr>
              <p:spPr>
                <a:xfrm>
                  <a:off x="76200" y="57150"/>
                  <a:ext cx="660400" cy="679450"/>
                </a:xfrm>
                <a:prstGeom prst="rect">
                  <a:avLst/>
                </a:prstGeom>
              </p:spPr>
              <p:txBody>
                <a:bodyPr lIns="42731" tIns="42731" rIns="42731" bIns="42731" rtlCol="0" anchor="ctr"/>
                <a:lstStyle/>
                <a:p>
                  <a:pPr algn="ctr">
                    <a:lnSpc>
                      <a:spcPts val="1415"/>
                    </a:lnSpc>
                  </a:pPr>
                  <a:endParaRPr/>
                </a:p>
              </p:txBody>
            </p:sp>
          </p:grpSp>
          <p:sp>
            <p:nvSpPr>
              <p:cNvPr id="174" name="Freeform 109"/>
              <p:cNvSpPr/>
              <p:nvPr/>
            </p:nvSpPr>
            <p:spPr>
              <a:xfrm>
                <a:off x="724456" y="3344561"/>
                <a:ext cx="611538" cy="782200"/>
              </a:xfrm>
              <a:custGeom>
                <a:avLst/>
                <a:gdLst/>
                <a:ahLst/>
                <a:cxnLst/>
                <a:rect l="l" t="t" r="r" b="b"/>
                <a:pathLst>
                  <a:path w="611538" h="782200">
                    <a:moveTo>
                      <a:pt x="0" y="0"/>
                    </a:moveTo>
                    <a:lnTo>
                      <a:pt x="611538" y="0"/>
                    </a:lnTo>
                    <a:lnTo>
                      <a:pt x="611538" y="782200"/>
                    </a:lnTo>
                    <a:lnTo>
                      <a:pt x="0" y="7822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grpSp>
          <p:nvGrpSpPr>
            <p:cNvPr id="130" name="Group 129"/>
            <p:cNvGrpSpPr/>
            <p:nvPr/>
          </p:nvGrpSpPr>
          <p:grpSpPr>
            <a:xfrm>
              <a:off x="2053779" y="1344079"/>
              <a:ext cx="1674256" cy="2624515"/>
              <a:chOff x="1821625" y="1478913"/>
              <a:chExt cx="2193006" cy="3331816"/>
            </a:xfrm>
          </p:grpSpPr>
          <p:grpSp>
            <p:nvGrpSpPr>
              <p:cNvPr id="150" name="Group 67"/>
              <p:cNvGrpSpPr/>
              <p:nvPr/>
            </p:nvGrpSpPr>
            <p:grpSpPr>
              <a:xfrm rot="-1911954">
                <a:off x="2185300" y="2018974"/>
                <a:ext cx="1479157" cy="1448660"/>
                <a:chOff x="0" y="0"/>
                <a:chExt cx="2344638" cy="2296296"/>
              </a:xfrm>
            </p:grpSpPr>
            <p:sp>
              <p:nvSpPr>
                <p:cNvPr id="169" name="Freeform 68"/>
                <p:cNvSpPr/>
                <p:nvPr/>
              </p:nvSpPr>
              <p:spPr>
                <a:xfrm>
                  <a:off x="16891" y="16891"/>
                  <a:ext cx="2309368" cy="2261616"/>
                </a:xfrm>
                <a:custGeom>
                  <a:avLst/>
                  <a:gdLst/>
                  <a:ahLst/>
                  <a:cxnLst/>
                  <a:rect l="l" t="t" r="r" b="b"/>
                  <a:pathLst>
                    <a:path w="2309368" h="2261616">
                      <a:moveTo>
                        <a:pt x="0" y="1130808"/>
                      </a:moveTo>
                      <a:cubicBezTo>
                        <a:pt x="0" y="506349"/>
                        <a:pt x="517017" y="0"/>
                        <a:pt x="1154684" y="0"/>
                      </a:cubicBezTo>
                      <a:cubicBezTo>
                        <a:pt x="1792351" y="0"/>
                        <a:pt x="2309368" y="506222"/>
                        <a:pt x="2309368" y="1130808"/>
                      </a:cubicBezTo>
                      <a:cubicBezTo>
                        <a:pt x="2309368" y="1755394"/>
                        <a:pt x="1792351" y="2261616"/>
                        <a:pt x="1154684" y="2261616"/>
                      </a:cubicBezTo>
                      <a:cubicBezTo>
                        <a:pt x="517017" y="2261616"/>
                        <a:pt x="0" y="1755394"/>
                        <a:pt x="0" y="1130808"/>
                      </a:cubicBezTo>
                      <a:close/>
                    </a:path>
                  </a:pathLst>
                </a:custGeom>
                <a:solidFill>
                  <a:srgbClr val="00AA48"/>
                </a:solidFill>
                <a:ln w="12700">
                  <a:solidFill>
                    <a:srgbClr val="000000"/>
                  </a:solidFill>
                </a:ln>
              </p:spPr>
            </p:sp>
            <p:sp>
              <p:nvSpPr>
                <p:cNvPr id="170" name="Freeform 69"/>
                <p:cNvSpPr/>
                <p:nvPr/>
              </p:nvSpPr>
              <p:spPr>
                <a:xfrm>
                  <a:off x="0" y="0"/>
                  <a:ext cx="2343150" cy="2295398"/>
                </a:xfrm>
                <a:custGeom>
                  <a:avLst/>
                  <a:gdLst/>
                  <a:ahLst/>
                  <a:cxnLst/>
                  <a:rect l="l" t="t" r="r" b="b"/>
                  <a:pathLst>
                    <a:path w="2343150" h="2295398">
                      <a:moveTo>
                        <a:pt x="0" y="1147699"/>
                      </a:moveTo>
                      <a:cubicBezTo>
                        <a:pt x="0" y="513461"/>
                        <a:pt x="524891" y="0"/>
                        <a:pt x="1171575" y="0"/>
                      </a:cubicBezTo>
                      <a:lnTo>
                        <a:pt x="1171575" y="16891"/>
                      </a:lnTo>
                      <a:lnTo>
                        <a:pt x="1171575" y="0"/>
                      </a:lnTo>
                      <a:cubicBezTo>
                        <a:pt x="1818259" y="0"/>
                        <a:pt x="2343150" y="513461"/>
                        <a:pt x="2343150" y="1147699"/>
                      </a:cubicBezTo>
                      <a:lnTo>
                        <a:pt x="2326259" y="1147699"/>
                      </a:lnTo>
                      <a:lnTo>
                        <a:pt x="2343150" y="1147699"/>
                      </a:lnTo>
                      <a:cubicBezTo>
                        <a:pt x="2343150" y="1781937"/>
                        <a:pt x="1818259" y="2295398"/>
                        <a:pt x="1171575" y="2295398"/>
                      </a:cubicBezTo>
                      <a:lnTo>
                        <a:pt x="1171575" y="2278507"/>
                      </a:lnTo>
                      <a:lnTo>
                        <a:pt x="1171575" y="2295398"/>
                      </a:lnTo>
                      <a:cubicBezTo>
                        <a:pt x="524891" y="2295398"/>
                        <a:pt x="0" y="1781937"/>
                        <a:pt x="0" y="1147699"/>
                      </a:cubicBezTo>
                      <a:lnTo>
                        <a:pt x="16891" y="1147699"/>
                      </a:lnTo>
                      <a:lnTo>
                        <a:pt x="33909" y="1147699"/>
                      </a:lnTo>
                      <a:lnTo>
                        <a:pt x="16891" y="1147699"/>
                      </a:lnTo>
                      <a:lnTo>
                        <a:pt x="0" y="1147699"/>
                      </a:lnTo>
                      <a:moveTo>
                        <a:pt x="33909" y="1147699"/>
                      </a:moveTo>
                      <a:cubicBezTo>
                        <a:pt x="33909" y="1157097"/>
                        <a:pt x="26289" y="1164590"/>
                        <a:pt x="17018" y="1164590"/>
                      </a:cubicBezTo>
                      <a:cubicBezTo>
                        <a:pt x="7747" y="1164590"/>
                        <a:pt x="0" y="1157097"/>
                        <a:pt x="0" y="1147699"/>
                      </a:cubicBezTo>
                      <a:cubicBezTo>
                        <a:pt x="0" y="1138301"/>
                        <a:pt x="7620" y="1130808"/>
                        <a:pt x="16891" y="1130808"/>
                      </a:cubicBezTo>
                      <a:cubicBezTo>
                        <a:pt x="26162" y="1130808"/>
                        <a:pt x="33782" y="1138428"/>
                        <a:pt x="33782" y="1147699"/>
                      </a:cubicBezTo>
                      <a:cubicBezTo>
                        <a:pt x="33782" y="1762506"/>
                        <a:pt x="542798" y="2261489"/>
                        <a:pt x="1171575" y="2261489"/>
                      </a:cubicBezTo>
                      <a:cubicBezTo>
                        <a:pt x="1800225" y="2261489"/>
                        <a:pt x="2309368" y="1762506"/>
                        <a:pt x="2309368" y="1147699"/>
                      </a:cubicBezTo>
                      <a:cubicBezTo>
                        <a:pt x="2309368" y="532892"/>
                        <a:pt x="1800352" y="33909"/>
                        <a:pt x="1171575" y="33909"/>
                      </a:cubicBezTo>
                      <a:lnTo>
                        <a:pt x="1171575" y="16891"/>
                      </a:lnTo>
                      <a:lnTo>
                        <a:pt x="1171575" y="33909"/>
                      </a:lnTo>
                      <a:cubicBezTo>
                        <a:pt x="542925" y="33909"/>
                        <a:pt x="33782" y="532892"/>
                        <a:pt x="33782" y="1147699"/>
                      </a:cubicBezTo>
                      <a:close/>
                    </a:path>
                  </a:pathLst>
                </a:custGeom>
                <a:solidFill>
                  <a:schemeClr val="bg1"/>
                </a:solidFill>
                <a:ln w="12700">
                  <a:solidFill>
                    <a:schemeClr val="bg1"/>
                  </a:solidFill>
                </a:ln>
              </p:spPr>
            </p:sp>
          </p:grpSp>
          <p:sp>
            <p:nvSpPr>
              <p:cNvPr id="151" name="Freeform 71"/>
              <p:cNvSpPr/>
              <p:nvPr/>
            </p:nvSpPr>
            <p:spPr>
              <a:xfrm>
                <a:off x="2113582" y="2039834"/>
                <a:ext cx="1621794" cy="668948"/>
              </a:xfrm>
              <a:custGeom>
                <a:avLst/>
                <a:gdLst/>
                <a:ahLst/>
                <a:cxnLst/>
                <a:rect l="l" t="t" r="r" b="b"/>
                <a:pathLst>
                  <a:path w="2570734" h="1159510">
                    <a:moveTo>
                      <a:pt x="0" y="0"/>
                    </a:moveTo>
                    <a:lnTo>
                      <a:pt x="2570734" y="0"/>
                    </a:lnTo>
                    <a:lnTo>
                      <a:pt x="2570734" y="1159510"/>
                    </a:lnTo>
                    <a:lnTo>
                      <a:pt x="0" y="1159510"/>
                    </a:lnTo>
                    <a:close/>
                  </a:path>
                </a:pathLst>
              </a:custGeom>
              <a:solidFill>
                <a:schemeClr val="bg1"/>
              </a:solidFill>
              <a:ln w="12700">
                <a:noFill/>
              </a:ln>
            </p:spPr>
          </p:sp>
          <p:grpSp>
            <p:nvGrpSpPr>
              <p:cNvPr id="152" name="Group 73"/>
              <p:cNvGrpSpPr/>
              <p:nvPr/>
            </p:nvGrpSpPr>
            <p:grpSpPr>
              <a:xfrm rot="5400000">
                <a:off x="2381658" y="2191192"/>
                <a:ext cx="1075712" cy="1104227"/>
                <a:chOff x="0" y="0"/>
                <a:chExt cx="1705129" cy="1750329"/>
              </a:xfrm>
            </p:grpSpPr>
            <p:sp>
              <p:nvSpPr>
                <p:cNvPr id="167" name="Freeform 74"/>
                <p:cNvSpPr/>
                <p:nvPr/>
              </p:nvSpPr>
              <p:spPr>
                <a:xfrm>
                  <a:off x="16891" y="16891"/>
                  <a:ext cx="1671320" cy="1715262"/>
                </a:xfrm>
                <a:custGeom>
                  <a:avLst/>
                  <a:gdLst/>
                  <a:ahLst/>
                  <a:cxnLst/>
                  <a:rect l="l" t="t" r="r" b="b"/>
                  <a:pathLst>
                    <a:path w="1671320" h="1715262">
                      <a:moveTo>
                        <a:pt x="0" y="857631"/>
                      </a:moveTo>
                      <a:cubicBezTo>
                        <a:pt x="0" y="383921"/>
                        <a:pt x="374142" y="0"/>
                        <a:pt x="835660" y="0"/>
                      </a:cubicBezTo>
                      <a:cubicBezTo>
                        <a:pt x="1297178" y="0"/>
                        <a:pt x="1671320" y="383921"/>
                        <a:pt x="1671320" y="857631"/>
                      </a:cubicBezTo>
                      <a:cubicBezTo>
                        <a:pt x="1671320" y="1331341"/>
                        <a:pt x="1297178" y="1715262"/>
                        <a:pt x="835660" y="1715262"/>
                      </a:cubicBezTo>
                      <a:cubicBezTo>
                        <a:pt x="374142" y="1715262"/>
                        <a:pt x="0" y="1331341"/>
                        <a:pt x="0" y="857631"/>
                      </a:cubicBezTo>
                      <a:close/>
                    </a:path>
                  </a:pathLst>
                </a:custGeom>
                <a:solidFill>
                  <a:srgbClr val="00AA48"/>
                </a:solidFill>
                <a:ln w="12700">
                  <a:solidFill>
                    <a:schemeClr val="bg1"/>
                  </a:solidFill>
                </a:ln>
              </p:spPr>
            </p:sp>
            <p:sp>
              <p:nvSpPr>
                <p:cNvPr id="168" name="Freeform 75"/>
                <p:cNvSpPr/>
                <p:nvPr/>
              </p:nvSpPr>
              <p:spPr>
                <a:xfrm>
                  <a:off x="0" y="0"/>
                  <a:ext cx="1705102" cy="1749044"/>
                </a:xfrm>
                <a:custGeom>
                  <a:avLst/>
                  <a:gdLst/>
                  <a:ahLst/>
                  <a:cxnLst/>
                  <a:rect l="l" t="t" r="r" b="b"/>
                  <a:pathLst>
                    <a:path w="1705102" h="1749044">
                      <a:moveTo>
                        <a:pt x="0" y="874522"/>
                      </a:moveTo>
                      <a:cubicBezTo>
                        <a:pt x="0" y="391922"/>
                        <a:pt x="381254" y="0"/>
                        <a:pt x="852551" y="0"/>
                      </a:cubicBezTo>
                      <a:lnTo>
                        <a:pt x="852551" y="16891"/>
                      </a:lnTo>
                      <a:lnTo>
                        <a:pt x="852551" y="0"/>
                      </a:lnTo>
                      <a:cubicBezTo>
                        <a:pt x="1323848" y="0"/>
                        <a:pt x="1705102" y="391922"/>
                        <a:pt x="1705102" y="874522"/>
                      </a:cubicBezTo>
                      <a:cubicBezTo>
                        <a:pt x="1705102" y="1357122"/>
                        <a:pt x="1323848" y="1749044"/>
                        <a:pt x="852551" y="1749044"/>
                      </a:cubicBezTo>
                      <a:lnTo>
                        <a:pt x="852551" y="1732153"/>
                      </a:lnTo>
                      <a:lnTo>
                        <a:pt x="852551" y="1749044"/>
                      </a:lnTo>
                      <a:cubicBezTo>
                        <a:pt x="381254" y="1749171"/>
                        <a:pt x="0" y="1357122"/>
                        <a:pt x="0" y="874522"/>
                      </a:cubicBezTo>
                      <a:lnTo>
                        <a:pt x="16891" y="874522"/>
                      </a:lnTo>
                      <a:lnTo>
                        <a:pt x="31242" y="883539"/>
                      </a:lnTo>
                      <a:cubicBezTo>
                        <a:pt x="27178" y="889889"/>
                        <a:pt x="19431" y="892810"/>
                        <a:pt x="12192" y="890778"/>
                      </a:cubicBezTo>
                      <a:cubicBezTo>
                        <a:pt x="4953" y="888746"/>
                        <a:pt x="0" y="882142"/>
                        <a:pt x="0" y="874522"/>
                      </a:cubicBezTo>
                      <a:moveTo>
                        <a:pt x="33909" y="874522"/>
                      </a:moveTo>
                      <a:lnTo>
                        <a:pt x="16891" y="874522"/>
                      </a:lnTo>
                      <a:lnTo>
                        <a:pt x="2667" y="865505"/>
                      </a:lnTo>
                      <a:cubicBezTo>
                        <a:pt x="6731" y="859155"/>
                        <a:pt x="14478" y="856234"/>
                        <a:pt x="21717" y="858266"/>
                      </a:cubicBezTo>
                      <a:cubicBezTo>
                        <a:pt x="28956" y="860298"/>
                        <a:pt x="33909" y="867029"/>
                        <a:pt x="33909" y="874522"/>
                      </a:cubicBezTo>
                      <a:cubicBezTo>
                        <a:pt x="33909" y="1339215"/>
                        <a:pt x="400812" y="1715262"/>
                        <a:pt x="852551" y="1715262"/>
                      </a:cubicBezTo>
                      <a:cubicBezTo>
                        <a:pt x="1304290" y="1715262"/>
                        <a:pt x="1671193" y="1339342"/>
                        <a:pt x="1671193" y="874522"/>
                      </a:cubicBezTo>
                      <a:lnTo>
                        <a:pt x="1688084" y="874522"/>
                      </a:lnTo>
                      <a:lnTo>
                        <a:pt x="1671193" y="874522"/>
                      </a:lnTo>
                      <a:cubicBezTo>
                        <a:pt x="1671193" y="409829"/>
                        <a:pt x="1304290" y="33782"/>
                        <a:pt x="852551" y="33782"/>
                      </a:cubicBezTo>
                      <a:lnTo>
                        <a:pt x="852551" y="16891"/>
                      </a:lnTo>
                      <a:lnTo>
                        <a:pt x="852551" y="33909"/>
                      </a:lnTo>
                      <a:cubicBezTo>
                        <a:pt x="400812" y="33909"/>
                        <a:pt x="33909" y="409829"/>
                        <a:pt x="33909" y="874649"/>
                      </a:cubicBezTo>
                      <a:close/>
                    </a:path>
                  </a:pathLst>
                </a:custGeom>
                <a:solidFill>
                  <a:srgbClr val="FFFFFF"/>
                </a:solidFill>
                <a:ln w="12700">
                  <a:solidFill>
                    <a:schemeClr val="bg1"/>
                  </a:solidFill>
                </a:ln>
              </p:spPr>
            </p:sp>
          </p:grpSp>
          <p:grpSp>
            <p:nvGrpSpPr>
              <p:cNvPr id="153" name="Group 76"/>
              <p:cNvGrpSpPr/>
              <p:nvPr/>
            </p:nvGrpSpPr>
            <p:grpSpPr>
              <a:xfrm rot="5400000">
                <a:off x="2498651" y="2304471"/>
                <a:ext cx="852457" cy="877667"/>
                <a:chOff x="0" y="0"/>
                <a:chExt cx="1351244" cy="1391206"/>
              </a:xfrm>
            </p:grpSpPr>
            <p:sp>
              <p:nvSpPr>
                <p:cNvPr id="165" name="Freeform 77"/>
                <p:cNvSpPr/>
                <p:nvPr/>
              </p:nvSpPr>
              <p:spPr>
                <a:xfrm>
                  <a:off x="16891" y="16891"/>
                  <a:ext cx="1317498" cy="1356106"/>
                </a:xfrm>
                <a:custGeom>
                  <a:avLst/>
                  <a:gdLst/>
                  <a:ahLst/>
                  <a:cxnLst/>
                  <a:rect l="l" t="t" r="r" b="b"/>
                  <a:pathLst>
                    <a:path w="1317498" h="1356106">
                      <a:moveTo>
                        <a:pt x="0" y="678180"/>
                      </a:moveTo>
                      <a:cubicBezTo>
                        <a:pt x="0" y="303657"/>
                        <a:pt x="294894" y="0"/>
                        <a:pt x="658749" y="0"/>
                      </a:cubicBezTo>
                      <a:cubicBezTo>
                        <a:pt x="1022604" y="0"/>
                        <a:pt x="1317498" y="303530"/>
                        <a:pt x="1317498" y="678053"/>
                      </a:cubicBezTo>
                      <a:cubicBezTo>
                        <a:pt x="1317498" y="1052576"/>
                        <a:pt x="1022604" y="1356106"/>
                        <a:pt x="658749" y="1356106"/>
                      </a:cubicBezTo>
                      <a:cubicBezTo>
                        <a:pt x="294894" y="1356106"/>
                        <a:pt x="0" y="1052576"/>
                        <a:pt x="0" y="678180"/>
                      </a:cubicBezTo>
                      <a:close/>
                    </a:path>
                  </a:pathLst>
                </a:custGeom>
                <a:solidFill>
                  <a:srgbClr val="FFFFFF"/>
                </a:solidFill>
                <a:ln w="12700">
                  <a:solidFill>
                    <a:srgbClr val="000000"/>
                  </a:solidFill>
                </a:ln>
              </p:spPr>
            </p:sp>
            <p:sp>
              <p:nvSpPr>
                <p:cNvPr id="166" name="Freeform 78"/>
                <p:cNvSpPr/>
                <p:nvPr/>
              </p:nvSpPr>
              <p:spPr>
                <a:xfrm>
                  <a:off x="0" y="0"/>
                  <a:ext cx="1351280" cy="1390142"/>
                </a:xfrm>
                <a:custGeom>
                  <a:avLst/>
                  <a:gdLst/>
                  <a:ahLst/>
                  <a:cxnLst/>
                  <a:rect l="l" t="t" r="r" b="b"/>
                  <a:pathLst>
                    <a:path w="1351280" h="1390142">
                      <a:moveTo>
                        <a:pt x="0" y="695071"/>
                      </a:moveTo>
                      <a:cubicBezTo>
                        <a:pt x="0" y="311658"/>
                        <a:pt x="302006" y="0"/>
                        <a:pt x="675640" y="0"/>
                      </a:cubicBezTo>
                      <a:lnTo>
                        <a:pt x="675640" y="16891"/>
                      </a:lnTo>
                      <a:lnTo>
                        <a:pt x="675640" y="0"/>
                      </a:lnTo>
                      <a:cubicBezTo>
                        <a:pt x="1049274" y="0"/>
                        <a:pt x="1351280" y="311658"/>
                        <a:pt x="1351280" y="695071"/>
                      </a:cubicBezTo>
                      <a:lnTo>
                        <a:pt x="1334389" y="695071"/>
                      </a:lnTo>
                      <a:lnTo>
                        <a:pt x="1351280" y="695071"/>
                      </a:lnTo>
                      <a:cubicBezTo>
                        <a:pt x="1351280" y="1078484"/>
                        <a:pt x="1049274" y="1390142"/>
                        <a:pt x="675640" y="1390142"/>
                      </a:cubicBezTo>
                      <a:lnTo>
                        <a:pt x="675640" y="1373251"/>
                      </a:lnTo>
                      <a:lnTo>
                        <a:pt x="675640" y="1390142"/>
                      </a:lnTo>
                      <a:cubicBezTo>
                        <a:pt x="302006" y="1390015"/>
                        <a:pt x="0" y="1078357"/>
                        <a:pt x="0" y="695071"/>
                      </a:cubicBezTo>
                      <a:lnTo>
                        <a:pt x="16891" y="695071"/>
                      </a:lnTo>
                      <a:lnTo>
                        <a:pt x="33909" y="695071"/>
                      </a:lnTo>
                      <a:lnTo>
                        <a:pt x="16891" y="695071"/>
                      </a:lnTo>
                      <a:lnTo>
                        <a:pt x="0" y="695071"/>
                      </a:lnTo>
                      <a:moveTo>
                        <a:pt x="33909" y="695071"/>
                      </a:moveTo>
                      <a:cubicBezTo>
                        <a:pt x="33909" y="704469"/>
                        <a:pt x="26289" y="711962"/>
                        <a:pt x="17018" y="711962"/>
                      </a:cubicBezTo>
                      <a:cubicBezTo>
                        <a:pt x="7747" y="711962"/>
                        <a:pt x="0" y="704342"/>
                        <a:pt x="0" y="695071"/>
                      </a:cubicBezTo>
                      <a:cubicBezTo>
                        <a:pt x="0" y="685800"/>
                        <a:pt x="7620" y="678180"/>
                        <a:pt x="16891" y="678180"/>
                      </a:cubicBezTo>
                      <a:cubicBezTo>
                        <a:pt x="26162" y="678180"/>
                        <a:pt x="33782" y="685800"/>
                        <a:pt x="33782" y="695071"/>
                      </a:cubicBezTo>
                      <a:cubicBezTo>
                        <a:pt x="33782" y="1060704"/>
                        <a:pt x="321564" y="1356233"/>
                        <a:pt x="675513" y="1356233"/>
                      </a:cubicBezTo>
                      <a:cubicBezTo>
                        <a:pt x="1029462" y="1356233"/>
                        <a:pt x="1317244" y="1060704"/>
                        <a:pt x="1317244" y="695071"/>
                      </a:cubicBezTo>
                      <a:cubicBezTo>
                        <a:pt x="1317244" y="329438"/>
                        <a:pt x="1029462" y="33909"/>
                        <a:pt x="675513" y="33909"/>
                      </a:cubicBezTo>
                      <a:lnTo>
                        <a:pt x="675513" y="16891"/>
                      </a:lnTo>
                      <a:lnTo>
                        <a:pt x="675513" y="33909"/>
                      </a:lnTo>
                      <a:cubicBezTo>
                        <a:pt x="321691" y="33909"/>
                        <a:pt x="33909" y="329438"/>
                        <a:pt x="33909" y="695071"/>
                      </a:cubicBezTo>
                      <a:close/>
                    </a:path>
                  </a:pathLst>
                </a:custGeom>
                <a:solidFill>
                  <a:srgbClr val="FFFFFF"/>
                </a:solidFill>
                <a:ln w="12700">
                  <a:solidFill>
                    <a:srgbClr val="000000"/>
                  </a:solidFill>
                </a:ln>
              </p:spPr>
            </p:sp>
          </p:grpSp>
          <p:grpSp>
            <p:nvGrpSpPr>
              <p:cNvPr id="154" name="Group 79"/>
              <p:cNvGrpSpPr/>
              <p:nvPr/>
            </p:nvGrpSpPr>
            <p:grpSpPr>
              <a:xfrm rot="5400000">
                <a:off x="2836866" y="3840273"/>
                <a:ext cx="202853" cy="223329"/>
                <a:chOff x="0" y="0"/>
                <a:chExt cx="321545" cy="354003"/>
              </a:xfrm>
            </p:grpSpPr>
            <p:sp>
              <p:nvSpPr>
                <p:cNvPr id="163" name="Freeform 80"/>
                <p:cNvSpPr/>
                <p:nvPr/>
              </p:nvSpPr>
              <p:spPr>
                <a:xfrm>
                  <a:off x="16891" y="16891"/>
                  <a:ext cx="287782" cy="319024"/>
                </a:xfrm>
                <a:custGeom>
                  <a:avLst/>
                  <a:gdLst/>
                  <a:ahLst/>
                  <a:cxnLst/>
                  <a:rect l="l" t="t" r="r" b="b"/>
                  <a:pathLst>
                    <a:path w="287782" h="319024">
                      <a:moveTo>
                        <a:pt x="0" y="159512"/>
                      </a:moveTo>
                      <a:cubicBezTo>
                        <a:pt x="0" y="71501"/>
                        <a:pt x="64389" y="0"/>
                        <a:pt x="143891" y="0"/>
                      </a:cubicBezTo>
                      <a:cubicBezTo>
                        <a:pt x="223393" y="0"/>
                        <a:pt x="287782" y="71501"/>
                        <a:pt x="287782" y="159512"/>
                      </a:cubicBezTo>
                      <a:cubicBezTo>
                        <a:pt x="287782" y="247523"/>
                        <a:pt x="223266" y="319024"/>
                        <a:pt x="143891" y="319024"/>
                      </a:cubicBezTo>
                      <a:cubicBezTo>
                        <a:pt x="64516" y="319024"/>
                        <a:pt x="0" y="247650"/>
                        <a:pt x="0" y="159512"/>
                      </a:cubicBezTo>
                      <a:close/>
                    </a:path>
                  </a:pathLst>
                </a:custGeom>
                <a:solidFill>
                  <a:srgbClr val="00AA48"/>
                </a:solidFill>
                <a:ln w="12700">
                  <a:solidFill>
                    <a:srgbClr val="000000"/>
                  </a:solidFill>
                </a:ln>
              </p:spPr>
            </p:sp>
            <p:sp>
              <p:nvSpPr>
                <p:cNvPr id="164" name="Freeform 81"/>
                <p:cNvSpPr/>
                <p:nvPr/>
              </p:nvSpPr>
              <p:spPr>
                <a:xfrm>
                  <a:off x="0" y="0"/>
                  <a:ext cx="321564" cy="352806"/>
                </a:xfrm>
                <a:custGeom>
                  <a:avLst/>
                  <a:gdLst/>
                  <a:ahLst/>
                  <a:cxnLst/>
                  <a:rect l="l" t="t" r="r" b="b"/>
                  <a:pathLst>
                    <a:path w="321564" h="352806">
                      <a:moveTo>
                        <a:pt x="0" y="176403"/>
                      </a:moveTo>
                      <a:cubicBezTo>
                        <a:pt x="0" y="80645"/>
                        <a:pt x="70358" y="0"/>
                        <a:pt x="160782" y="0"/>
                      </a:cubicBezTo>
                      <a:lnTo>
                        <a:pt x="160782" y="16891"/>
                      </a:lnTo>
                      <a:lnTo>
                        <a:pt x="160782" y="0"/>
                      </a:lnTo>
                      <a:cubicBezTo>
                        <a:pt x="251206" y="0"/>
                        <a:pt x="321564" y="80645"/>
                        <a:pt x="321564" y="176403"/>
                      </a:cubicBezTo>
                      <a:lnTo>
                        <a:pt x="304673" y="176403"/>
                      </a:lnTo>
                      <a:lnTo>
                        <a:pt x="321564" y="176403"/>
                      </a:lnTo>
                      <a:cubicBezTo>
                        <a:pt x="321564" y="272161"/>
                        <a:pt x="251206" y="352806"/>
                        <a:pt x="160782" y="352806"/>
                      </a:cubicBezTo>
                      <a:lnTo>
                        <a:pt x="160782" y="335915"/>
                      </a:lnTo>
                      <a:lnTo>
                        <a:pt x="160782" y="352806"/>
                      </a:lnTo>
                      <a:cubicBezTo>
                        <a:pt x="70358" y="352806"/>
                        <a:pt x="0" y="272161"/>
                        <a:pt x="0" y="176403"/>
                      </a:cubicBezTo>
                      <a:lnTo>
                        <a:pt x="16891" y="176403"/>
                      </a:lnTo>
                      <a:lnTo>
                        <a:pt x="33909" y="176403"/>
                      </a:lnTo>
                      <a:lnTo>
                        <a:pt x="16891" y="176403"/>
                      </a:lnTo>
                      <a:lnTo>
                        <a:pt x="0" y="176403"/>
                      </a:lnTo>
                      <a:moveTo>
                        <a:pt x="33909" y="176403"/>
                      </a:moveTo>
                      <a:cubicBezTo>
                        <a:pt x="33909" y="185801"/>
                        <a:pt x="26289" y="193294"/>
                        <a:pt x="17018" y="193294"/>
                      </a:cubicBezTo>
                      <a:cubicBezTo>
                        <a:pt x="7747" y="193294"/>
                        <a:pt x="0" y="185801"/>
                        <a:pt x="0" y="176403"/>
                      </a:cubicBezTo>
                      <a:cubicBezTo>
                        <a:pt x="0" y="167005"/>
                        <a:pt x="7620" y="159512"/>
                        <a:pt x="16891" y="159512"/>
                      </a:cubicBezTo>
                      <a:cubicBezTo>
                        <a:pt x="26162" y="159512"/>
                        <a:pt x="33782" y="167132"/>
                        <a:pt x="33782" y="176403"/>
                      </a:cubicBezTo>
                      <a:cubicBezTo>
                        <a:pt x="33782" y="256794"/>
                        <a:pt x="92202" y="318897"/>
                        <a:pt x="160655" y="318897"/>
                      </a:cubicBezTo>
                      <a:cubicBezTo>
                        <a:pt x="229108" y="318897"/>
                        <a:pt x="287528" y="256794"/>
                        <a:pt x="287528" y="176403"/>
                      </a:cubicBezTo>
                      <a:cubicBezTo>
                        <a:pt x="287528" y="96012"/>
                        <a:pt x="229108" y="33909"/>
                        <a:pt x="160655" y="33909"/>
                      </a:cubicBezTo>
                      <a:lnTo>
                        <a:pt x="160655" y="16891"/>
                      </a:lnTo>
                      <a:lnTo>
                        <a:pt x="160655" y="33909"/>
                      </a:lnTo>
                      <a:cubicBezTo>
                        <a:pt x="92202" y="33909"/>
                        <a:pt x="33782" y="96012"/>
                        <a:pt x="33782" y="176403"/>
                      </a:cubicBezTo>
                      <a:close/>
                    </a:path>
                  </a:pathLst>
                </a:custGeom>
                <a:solidFill>
                  <a:srgbClr val="00B050"/>
                </a:solidFill>
                <a:ln w="12700">
                  <a:solidFill>
                    <a:srgbClr val="00B050"/>
                  </a:solidFill>
                </a:ln>
              </p:spPr>
            </p:sp>
          </p:grpSp>
          <p:sp>
            <p:nvSpPr>
              <p:cNvPr id="155" name="AutoShape 82"/>
              <p:cNvSpPr/>
              <p:nvPr/>
            </p:nvSpPr>
            <p:spPr>
              <a:xfrm>
                <a:off x="2699727" y="3622205"/>
                <a:ext cx="481985" cy="0"/>
              </a:xfrm>
              <a:prstGeom prst="line">
                <a:avLst/>
              </a:prstGeom>
              <a:ln w="19050" cap="rnd">
                <a:solidFill>
                  <a:srgbClr val="00AA48"/>
                </a:solidFill>
                <a:prstDash val="solid"/>
                <a:headEnd type="none" w="sm" len="sm"/>
                <a:tailEnd type="none" w="sm" len="sm"/>
              </a:ln>
            </p:spPr>
          </p:sp>
          <p:grpSp>
            <p:nvGrpSpPr>
              <p:cNvPr id="156" name="Group 91"/>
              <p:cNvGrpSpPr/>
              <p:nvPr/>
            </p:nvGrpSpPr>
            <p:grpSpPr>
              <a:xfrm>
                <a:off x="2757887" y="1478913"/>
                <a:ext cx="320467" cy="560921"/>
                <a:chOff x="0" y="-22507"/>
                <a:chExt cx="517972" cy="906620"/>
              </a:xfrm>
            </p:grpSpPr>
            <p:sp>
              <p:nvSpPr>
                <p:cNvPr id="162" name="Freeform 92"/>
                <p:cNvSpPr/>
                <p:nvPr/>
              </p:nvSpPr>
              <p:spPr>
                <a:xfrm>
                  <a:off x="0" y="-22507"/>
                  <a:ext cx="517972" cy="906620"/>
                </a:xfrm>
                <a:custGeom>
                  <a:avLst/>
                  <a:gdLst/>
                  <a:ahLst/>
                  <a:cxnLst/>
                  <a:rect l="l" t="t" r="r" b="b"/>
                  <a:pathLst>
                    <a:path w="517973" h="906619">
                      <a:moveTo>
                        <a:pt x="2237" y="906492"/>
                      </a:moveTo>
                      <a:lnTo>
                        <a:pt x="2237" y="863398"/>
                      </a:lnTo>
                      <a:cubicBezTo>
                        <a:pt x="2237" y="818589"/>
                        <a:pt x="9758" y="778319"/>
                        <a:pt x="24822" y="742589"/>
                      </a:cubicBezTo>
                      <a:cubicBezTo>
                        <a:pt x="39886" y="706858"/>
                        <a:pt x="59292" y="673670"/>
                        <a:pt x="83084" y="643064"/>
                      </a:cubicBezTo>
                      <a:cubicBezTo>
                        <a:pt x="106875" y="612459"/>
                        <a:pt x="131960" y="582458"/>
                        <a:pt x="158361" y="553022"/>
                      </a:cubicBezTo>
                      <a:cubicBezTo>
                        <a:pt x="184016" y="524293"/>
                        <a:pt x="208444" y="494797"/>
                        <a:pt x="231687" y="464534"/>
                      </a:cubicBezTo>
                      <a:cubicBezTo>
                        <a:pt x="254908" y="434271"/>
                        <a:pt x="273876" y="401426"/>
                        <a:pt x="288567" y="366039"/>
                      </a:cubicBezTo>
                      <a:cubicBezTo>
                        <a:pt x="303259" y="330631"/>
                        <a:pt x="310582" y="290886"/>
                        <a:pt x="310582" y="246763"/>
                      </a:cubicBezTo>
                      <a:cubicBezTo>
                        <a:pt x="310582" y="225559"/>
                        <a:pt x="307140" y="207341"/>
                        <a:pt x="300254" y="192128"/>
                      </a:cubicBezTo>
                      <a:cubicBezTo>
                        <a:pt x="293369" y="176916"/>
                        <a:pt x="279160" y="169290"/>
                        <a:pt x="257605" y="169290"/>
                      </a:cubicBezTo>
                      <a:cubicBezTo>
                        <a:pt x="224889" y="169290"/>
                        <a:pt x="208531" y="196143"/>
                        <a:pt x="208531" y="249829"/>
                      </a:cubicBezTo>
                      <a:lnTo>
                        <a:pt x="208531" y="360127"/>
                      </a:lnTo>
                      <a:lnTo>
                        <a:pt x="2237" y="360127"/>
                      </a:lnTo>
                      <a:cubicBezTo>
                        <a:pt x="1864" y="352259"/>
                        <a:pt x="1403" y="343382"/>
                        <a:pt x="833" y="333456"/>
                      </a:cubicBezTo>
                      <a:cubicBezTo>
                        <a:pt x="285" y="323550"/>
                        <a:pt x="0" y="313966"/>
                        <a:pt x="0" y="304726"/>
                      </a:cubicBezTo>
                      <a:cubicBezTo>
                        <a:pt x="0" y="239742"/>
                        <a:pt x="7433" y="184603"/>
                        <a:pt x="22300" y="139269"/>
                      </a:cubicBezTo>
                      <a:cubicBezTo>
                        <a:pt x="37167" y="93956"/>
                        <a:pt x="63458" y="59416"/>
                        <a:pt x="101196" y="35650"/>
                      </a:cubicBezTo>
                      <a:cubicBezTo>
                        <a:pt x="138933" y="11883"/>
                        <a:pt x="191998" y="0"/>
                        <a:pt x="260390" y="0"/>
                      </a:cubicBezTo>
                      <a:cubicBezTo>
                        <a:pt x="341785" y="0"/>
                        <a:pt x="405068" y="21043"/>
                        <a:pt x="450239" y="63108"/>
                      </a:cubicBezTo>
                      <a:cubicBezTo>
                        <a:pt x="495410" y="105173"/>
                        <a:pt x="517973" y="165195"/>
                        <a:pt x="517973" y="243172"/>
                      </a:cubicBezTo>
                      <a:cubicBezTo>
                        <a:pt x="517973" y="296192"/>
                        <a:pt x="510540" y="342615"/>
                        <a:pt x="495673" y="382461"/>
                      </a:cubicBezTo>
                      <a:cubicBezTo>
                        <a:pt x="480806" y="422307"/>
                        <a:pt x="461093" y="458562"/>
                        <a:pt x="436578" y="491226"/>
                      </a:cubicBezTo>
                      <a:cubicBezTo>
                        <a:pt x="412041" y="523889"/>
                        <a:pt x="385092" y="556472"/>
                        <a:pt x="355731" y="588954"/>
                      </a:cubicBezTo>
                      <a:cubicBezTo>
                        <a:pt x="334900" y="611873"/>
                        <a:pt x="314749" y="635297"/>
                        <a:pt x="295233" y="659245"/>
                      </a:cubicBezTo>
                      <a:cubicBezTo>
                        <a:pt x="275717" y="683193"/>
                        <a:pt x="258526" y="708835"/>
                        <a:pt x="243659" y="736193"/>
                      </a:cubicBezTo>
                      <a:lnTo>
                        <a:pt x="511286" y="736193"/>
                      </a:lnTo>
                      <a:lnTo>
                        <a:pt x="511286" y="906619"/>
                      </a:lnTo>
                      <a:lnTo>
                        <a:pt x="2237" y="906619"/>
                      </a:lnTo>
                      <a:close/>
                    </a:path>
                  </a:pathLst>
                </a:custGeom>
                <a:solidFill>
                  <a:srgbClr val="FFC000"/>
                </a:solidFill>
                <a:ln w="12700" cap="sq">
                  <a:solidFill>
                    <a:srgbClr val="000000"/>
                  </a:solidFill>
                  <a:prstDash val="solid"/>
                  <a:miter/>
                </a:ln>
              </p:spPr>
            </p:sp>
          </p:grpSp>
          <p:grpSp>
            <p:nvGrpSpPr>
              <p:cNvPr id="157" name="Group 96"/>
              <p:cNvGrpSpPr/>
              <p:nvPr/>
            </p:nvGrpSpPr>
            <p:grpSpPr>
              <a:xfrm>
                <a:off x="2478561" y="2305488"/>
                <a:ext cx="881904" cy="881904"/>
                <a:chOff x="0" y="0"/>
                <a:chExt cx="812800" cy="812800"/>
              </a:xfrm>
            </p:grpSpPr>
            <p:sp>
              <p:nvSpPr>
                <p:cNvPr id="160" name="Freeform 9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61" name="TextBox 98"/>
                <p:cNvSpPr txBox="1"/>
                <p:nvPr/>
              </p:nvSpPr>
              <p:spPr>
                <a:xfrm>
                  <a:off x="76200" y="57150"/>
                  <a:ext cx="660400" cy="679450"/>
                </a:xfrm>
                <a:prstGeom prst="rect">
                  <a:avLst/>
                </a:prstGeom>
              </p:spPr>
              <p:txBody>
                <a:bodyPr lIns="42731" tIns="42731" rIns="42731" bIns="42731" rtlCol="0" anchor="ctr"/>
                <a:lstStyle/>
                <a:p>
                  <a:pPr algn="ctr">
                    <a:lnSpc>
                      <a:spcPts val="1415"/>
                    </a:lnSpc>
                  </a:pPr>
                  <a:endParaRPr/>
                </a:p>
              </p:txBody>
            </p:sp>
          </p:grpSp>
          <p:sp>
            <p:nvSpPr>
              <p:cNvPr id="158" name="Freeform 99"/>
              <p:cNvSpPr/>
              <p:nvPr/>
            </p:nvSpPr>
            <p:spPr>
              <a:xfrm>
                <a:off x="2504320" y="2484616"/>
                <a:ext cx="809226" cy="576758"/>
              </a:xfrm>
              <a:custGeom>
                <a:avLst/>
                <a:gdLst/>
                <a:ahLst/>
                <a:cxnLst/>
                <a:rect l="l" t="t" r="r" b="b"/>
                <a:pathLst>
                  <a:path w="809226" h="576758">
                    <a:moveTo>
                      <a:pt x="0" y="0"/>
                    </a:moveTo>
                    <a:lnTo>
                      <a:pt x="809226" y="0"/>
                    </a:lnTo>
                    <a:lnTo>
                      <a:pt x="809226" y="576758"/>
                    </a:lnTo>
                    <a:lnTo>
                      <a:pt x="0" y="576758"/>
                    </a:lnTo>
                    <a:lnTo>
                      <a:pt x="0" y="0"/>
                    </a:lnTo>
                    <a:close/>
                  </a:path>
                </a:pathLst>
              </a:custGeom>
              <a:blipFill>
                <a:blip r:embed="rId8"/>
                <a:stretch>
                  <a:fillRect/>
                </a:stretch>
              </a:blipFill>
            </p:spPr>
          </p:sp>
          <p:sp>
            <p:nvSpPr>
              <p:cNvPr id="159" name="TextBox 111"/>
              <p:cNvSpPr txBox="1"/>
              <p:nvPr/>
            </p:nvSpPr>
            <p:spPr>
              <a:xfrm>
                <a:off x="1821625" y="4195176"/>
                <a:ext cx="2193006" cy="615553"/>
              </a:xfrm>
              <a:prstGeom prst="rect">
                <a:avLst/>
              </a:prstGeom>
            </p:spPr>
            <p:txBody>
              <a:bodyPr lIns="0" tIns="0" rIns="0" bIns="0" rtlCol="0" anchor="t">
                <a:spAutoFit/>
              </a:bodyPr>
              <a:lstStyle/>
              <a:p>
                <a:pPr algn="ctr">
                  <a:lnSpc>
                    <a:spcPts val="2420"/>
                  </a:lnSpc>
                </a:pPr>
                <a:r>
                  <a:rPr lang="en-US" sz="2020" b="1" dirty="0" smtClean="0">
                    <a:solidFill>
                      <a:srgbClr val="00AA48"/>
                    </a:solidFill>
                    <a:latin typeface="Arial Bold" panose="020B0704020202020204"/>
                    <a:ea typeface="Arial Bold" panose="020B0704020202020204"/>
                    <a:cs typeface="Arial Bold" panose="020B0704020202020204"/>
                    <a:sym typeface="Arial Bold" panose="020B0704020202020204"/>
                  </a:rPr>
                  <a:t>NGHIÊN CỨU</a:t>
                </a:r>
              </a:p>
              <a:p>
                <a:pPr algn="ctr">
                  <a:lnSpc>
                    <a:spcPts val="2420"/>
                  </a:lnSpc>
                </a:pPr>
                <a:r>
                  <a:rPr lang="en-US" sz="2020" b="1" dirty="0" smtClean="0">
                    <a:solidFill>
                      <a:srgbClr val="00AA48"/>
                    </a:solidFill>
                    <a:latin typeface="Arial Bold" panose="020B0704020202020204"/>
                    <a:ea typeface="Arial Bold" panose="020B0704020202020204"/>
                    <a:cs typeface="Arial Bold" panose="020B0704020202020204"/>
                    <a:sym typeface="Arial Bold" panose="020B0704020202020204"/>
                  </a:rPr>
                  <a:t>LÝ THUYẾT</a:t>
                </a:r>
                <a:endParaRPr lang="en-US" sz="2020" b="1" dirty="0">
                  <a:solidFill>
                    <a:srgbClr val="00AA48"/>
                  </a:solidFill>
                  <a:latin typeface="Arial Bold" panose="020B0704020202020204"/>
                  <a:ea typeface="Arial Bold" panose="020B0704020202020204"/>
                  <a:cs typeface="Arial Bold" panose="020B0704020202020204"/>
                  <a:sym typeface="Arial Bold" panose="020B0704020202020204"/>
                </a:endParaRPr>
              </a:p>
            </p:txBody>
          </p:sp>
        </p:grpSp>
        <p:grpSp>
          <p:nvGrpSpPr>
            <p:cNvPr id="131" name="Group 130"/>
            <p:cNvGrpSpPr/>
            <p:nvPr/>
          </p:nvGrpSpPr>
          <p:grpSpPr>
            <a:xfrm>
              <a:off x="3494522" y="2064426"/>
              <a:ext cx="2128060" cy="2652290"/>
              <a:chOff x="4442182" y="2258558"/>
              <a:chExt cx="2787416" cy="3367077"/>
            </a:xfrm>
          </p:grpSpPr>
          <p:grpSp>
            <p:nvGrpSpPr>
              <p:cNvPr id="132" name="Group 18"/>
              <p:cNvGrpSpPr/>
              <p:nvPr/>
            </p:nvGrpSpPr>
            <p:grpSpPr>
              <a:xfrm rot="19688046">
                <a:off x="5123700" y="2746900"/>
                <a:ext cx="1479157" cy="1448660"/>
                <a:chOff x="0" y="0"/>
                <a:chExt cx="2344638" cy="2296296"/>
              </a:xfrm>
            </p:grpSpPr>
            <p:sp>
              <p:nvSpPr>
                <p:cNvPr id="148" name="Freeform 19"/>
                <p:cNvSpPr/>
                <p:nvPr/>
              </p:nvSpPr>
              <p:spPr>
                <a:xfrm>
                  <a:off x="16891" y="16891"/>
                  <a:ext cx="2309368" cy="2261616"/>
                </a:xfrm>
                <a:custGeom>
                  <a:avLst/>
                  <a:gdLst/>
                  <a:ahLst/>
                  <a:cxnLst/>
                  <a:rect l="l" t="t" r="r" b="b"/>
                  <a:pathLst>
                    <a:path w="2309368" h="2261616">
                      <a:moveTo>
                        <a:pt x="0" y="1130808"/>
                      </a:moveTo>
                      <a:cubicBezTo>
                        <a:pt x="0" y="506349"/>
                        <a:pt x="517017" y="0"/>
                        <a:pt x="1154684" y="0"/>
                      </a:cubicBezTo>
                      <a:cubicBezTo>
                        <a:pt x="1792351" y="0"/>
                        <a:pt x="2309368" y="506222"/>
                        <a:pt x="2309368" y="1130808"/>
                      </a:cubicBezTo>
                      <a:cubicBezTo>
                        <a:pt x="2309368" y="1755394"/>
                        <a:pt x="1792351" y="2261616"/>
                        <a:pt x="1154684" y="2261616"/>
                      </a:cubicBezTo>
                      <a:cubicBezTo>
                        <a:pt x="517017" y="2261616"/>
                        <a:pt x="0" y="1755394"/>
                        <a:pt x="0" y="1130808"/>
                      </a:cubicBezTo>
                      <a:close/>
                    </a:path>
                  </a:pathLst>
                </a:custGeom>
                <a:solidFill>
                  <a:srgbClr val="1F4E79"/>
                </a:solidFill>
                <a:ln w="12700">
                  <a:solidFill>
                    <a:schemeClr val="bg1"/>
                  </a:solidFill>
                </a:ln>
              </p:spPr>
            </p:sp>
            <p:sp>
              <p:nvSpPr>
                <p:cNvPr id="149" name="Freeform 20"/>
                <p:cNvSpPr/>
                <p:nvPr/>
              </p:nvSpPr>
              <p:spPr>
                <a:xfrm>
                  <a:off x="0" y="0"/>
                  <a:ext cx="2343150" cy="2295398"/>
                </a:xfrm>
                <a:custGeom>
                  <a:avLst/>
                  <a:gdLst/>
                  <a:ahLst/>
                  <a:cxnLst/>
                  <a:rect l="l" t="t" r="r" b="b"/>
                  <a:pathLst>
                    <a:path w="2343150" h="2295398">
                      <a:moveTo>
                        <a:pt x="0" y="1147699"/>
                      </a:moveTo>
                      <a:cubicBezTo>
                        <a:pt x="0" y="513461"/>
                        <a:pt x="524891" y="0"/>
                        <a:pt x="1171575" y="0"/>
                      </a:cubicBezTo>
                      <a:lnTo>
                        <a:pt x="1171575" y="16891"/>
                      </a:lnTo>
                      <a:lnTo>
                        <a:pt x="1171575" y="0"/>
                      </a:lnTo>
                      <a:cubicBezTo>
                        <a:pt x="1818259" y="0"/>
                        <a:pt x="2343150" y="513461"/>
                        <a:pt x="2343150" y="1147699"/>
                      </a:cubicBezTo>
                      <a:lnTo>
                        <a:pt x="2326259" y="1147699"/>
                      </a:lnTo>
                      <a:lnTo>
                        <a:pt x="2343150" y="1147699"/>
                      </a:lnTo>
                      <a:cubicBezTo>
                        <a:pt x="2343150" y="1781937"/>
                        <a:pt x="1818259" y="2295398"/>
                        <a:pt x="1171575" y="2295398"/>
                      </a:cubicBezTo>
                      <a:lnTo>
                        <a:pt x="1171575" y="2278507"/>
                      </a:lnTo>
                      <a:lnTo>
                        <a:pt x="1171575" y="2295398"/>
                      </a:lnTo>
                      <a:cubicBezTo>
                        <a:pt x="524891" y="2295398"/>
                        <a:pt x="0" y="1781937"/>
                        <a:pt x="0" y="1147699"/>
                      </a:cubicBezTo>
                      <a:lnTo>
                        <a:pt x="16891" y="1147699"/>
                      </a:lnTo>
                      <a:lnTo>
                        <a:pt x="33909" y="1147699"/>
                      </a:lnTo>
                      <a:lnTo>
                        <a:pt x="16891" y="1147699"/>
                      </a:lnTo>
                      <a:lnTo>
                        <a:pt x="0" y="1147699"/>
                      </a:lnTo>
                      <a:moveTo>
                        <a:pt x="33909" y="1147699"/>
                      </a:moveTo>
                      <a:cubicBezTo>
                        <a:pt x="33909" y="1157097"/>
                        <a:pt x="26289" y="1164590"/>
                        <a:pt x="17018" y="1164590"/>
                      </a:cubicBezTo>
                      <a:cubicBezTo>
                        <a:pt x="7747" y="1164590"/>
                        <a:pt x="0" y="1157097"/>
                        <a:pt x="0" y="1147699"/>
                      </a:cubicBezTo>
                      <a:cubicBezTo>
                        <a:pt x="0" y="1138301"/>
                        <a:pt x="7620" y="1130808"/>
                        <a:pt x="16891" y="1130808"/>
                      </a:cubicBezTo>
                      <a:cubicBezTo>
                        <a:pt x="26162" y="1130808"/>
                        <a:pt x="33782" y="1138428"/>
                        <a:pt x="33782" y="1147699"/>
                      </a:cubicBezTo>
                      <a:cubicBezTo>
                        <a:pt x="33782" y="1762506"/>
                        <a:pt x="542798" y="2261489"/>
                        <a:pt x="1171575" y="2261489"/>
                      </a:cubicBezTo>
                      <a:cubicBezTo>
                        <a:pt x="1800225" y="2261489"/>
                        <a:pt x="2309368" y="1762506"/>
                        <a:pt x="2309368" y="1147699"/>
                      </a:cubicBezTo>
                      <a:cubicBezTo>
                        <a:pt x="2309368" y="532892"/>
                        <a:pt x="1800352" y="33909"/>
                        <a:pt x="1171575" y="33909"/>
                      </a:cubicBezTo>
                      <a:lnTo>
                        <a:pt x="1171575" y="16891"/>
                      </a:lnTo>
                      <a:lnTo>
                        <a:pt x="1171575" y="33909"/>
                      </a:lnTo>
                      <a:cubicBezTo>
                        <a:pt x="542925" y="33909"/>
                        <a:pt x="33782" y="532892"/>
                        <a:pt x="33782" y="1147699"/>
                      </a:cubicBezTo>
                      <a:close/>
                    </a:path>
                  </a:pathLst>
                </a:custGeom>
                <a:solidFill>
                  <a:schemeClr val="bg1"/>
                </a:solidFill>
                <a:ln w="12700">
                  <a:solidFill>
                    <a:schemeClr val="bg1"/>
                  </a:solidFill>
                </a:ln>
              </p:spPr>
            </p:sp>
          </p:grpSp>
          <p:grpSp>
            <p:nvGrpSpPr>
              <p:cNvPr id="133" name="Group 15"/>
              <p:cNvGrpSpPr/>
              <p:nvPr/>
            </p:nvGrpSpPr>
            <p:grpSpPr>
              <a:xfrm rot="5400000">
                <a:off x="5734086" y="4568198"/>
                <a:ext cx="202853" cy="223329"/>
                <a:chOff x="0" y="0"/>
                <a:chExt cx="321545" cy="354003"/>
              </a:xfrm>
            </p:grpSpPr>
            <p:sp>
              <p:nvSpPr>
                <p:cNvPr id="146" name="Freeform 16"/>
                <p:cNvSpPr/>
                <p:nvPr/>
              </p:nvSpPr>
              <p:spPr>
                <a:xfrm>
                  <a:off x="16891" y="16891"/>
                  <a:ext cx="287782" cy="319024"/>
                </a:xfrm>
                <a:custGeom>
                  <a:avLst/>
                  <a:gdLst/>
                  <a:ahLst/>
                  <a:cxnLst/>
                  <a:rect l="l" t="t" r="r" b="b"/>
                  <a:pathLst>
                    <a:path w="287782" h="319024">
                      <a:moveTo>
                        <a:pt x="0" y="159512"/>
                      </a:moveTo>
                      <a:cubicBezTo>
                        <a:pt x="0" y="71501"/>
                        <a:pt x="64389" y="0"/>
                        <a:pt x="143891" y="0"/>
                      </a:cubicBezTo>
                      <a:cubicBezTo>
                        <a:pt x="223393" y="0"/>
                        <a:pt x="287782" y="71501"/>
                        <a:pt x="287782" y="159512"/>
                      </a:cubicBezTo>
                      <a:cubicBezTo>
                        <a:pt x="287782" y="247523"/>
                        <a:pt x="223266" y="319024"/>
                        <a:pt x="143891" y="319024"/>
                      </a:cubicBezTo>
                      <a:cubicBezTo>
                        <a:pt x="64516" y="319024"/>
                        <a:pt x="0" y="247650"/>
                        <a:pt x="0" y="159512"/>
                      </a:cubicBezTo>
                      <a:close/>
                    </a:path>
                  </a:pathLst>
                </a:custGeom>
                <a:solidFill>
                  <a:schemeClr val="tx2">
                    <a:lumMod val="75000"/>
                  </a:schemeClr>
                </a:solidFill>
                <a:ln w="12700">
                  <a:solidFill>
                    <a:schemeClr val="tx2">
                      <a:lumMod val="75000"/>
                    </a:schemeClr>
                  </a:solidFill>
                </a:ln>
              </p:spPr>
            </p:sp>
            <p:sp>
              <p:nvSpPr>
                <p:cNvPr id="147" name="Freeform 17"/>
                <p:cNvSpPr/>
                <p:nvPr/>
              </p:nvSpPr>
              <p:spPr>
                <a:xfrm>
                  <a:off x="0" y="0"/>
                  <a:ext cx="321564" cy="352806"/>
                </a:xfrm>
                <a:custGeom>
                  <a:avLst/>
                  <a:gdLst/>
                  <a:ahLst/>
                  <a:cxnLst/>
                  <a:rect l="l" t="t" r="r" b="b"/>
                  <a:pathLst>
                    <a:path w="321564" h="352806">
                      <a:moveTo>
                        <a:pt x="0" y="176403"/>
                      </a:moveTo>
                      <a:cubicBezTo>
                        <a:pt x="0" y="80645"/>
                        <a:pt x="70358" y="0"/>
                        <a:pt x="160782" y="0"/>
                      </a:cubicBezTo>
                      <a:lnTo>
                        <a:pt x="160782" y="16891"/>
                      </a:lnTo>
                      <a:lnTo>
                        <a:pt x="160782" y="0"/>
                      </a:lnTo>
                      <a:cubicBezTo>
                        <a:pt x="251206" y="0"/>
                        <a:pt x="321564" y="80645"/>
                        <a:pt x="321564" y="176403"/>
                      </a:cubicBezTo>
                      <a:lnTo>
                        <a:pt x="304673" y="176403"/>
                      </a:lnTo>
                      <a:lnTo>
                        <a:pt x="321564" y="176403"/>
                      </a:lnTo>
                      <a:cubicBezTo>
                        <a:pt x="321564" y="272161"/>
                        <a:pt x="251206" y="352806"/>
                        <a:pt x="160782" y="352806"/>
                      </a:cubicBezTo>
                      <a:lnTo>
                        <a:pt x="160782" y="335915"/>
                      </a:lnTo>
                      <a:lnTo>
                        <a:pt x="160782" y="352806"/>
                      </a:lnTo>
                      <a:cubicBezTo>
                        <a:pt x="70358" y="352806"/>
                        <a:pt x="0" y="272161"/>
                        <a:pt x="0" y="176403"/>
                      </a:cubicBezTo>
                      <a:lnTo>
                        <a:pt x="16891" y="176403"/>
                      </a:lnTo>
                      <a:lnTo>
                        <a:pt x="33909" y="176403"/>
                      </a:lnTo>
                      <a:lnTo>
                        <a:pt x="16891" y="176403"/>
                      </a:lnTo>
                      <a:lnTo>
                        <a:pt x="0" y="176403"/>
                      </a:lnTo>
                      <a:moveTo>
                        <a:pt x="33909" y="176403"/>
                      </a:moveTo>
                      <a:cubicBezTo>
                        <a:pt x="33909" y="185801"/>
                        <a:pt x="26289" y="193294"/>
                        <a:pt x="17018" y="193294"/>
                      </a:cubicBezTo>
                      <a:cubicBezTo>
                        <a:pt x="7747" y="193294"/>
                        <a:pt x="0" y="185801"/>
                        <a:pt x="0" y="176403"/>
                      </a:cubicBezTo>
                      <a:cubicBezTo>
                        <a:pt x="0" y="167005"/>
                        <a:pt x="7620" y="159512"/>
                        <a:pt x="16891" y="159512"/>
                      </a:cubicBezTo>
                      <a:cubicBezTo>
                        <a:pt x="26162" y="159512"/>
                        <a:pt x="33782" y="167132"/>
                        <a:pt x="33782" y="176403"/>
                      </a:cubicBezTo>
                      <a:cubicBezTo>
                        <a:pt x="33782" y="256794"/>
                        <a:pt x="92202" y="318897"/>
                        <a:pt x="160655" y="318897"/>
                      </a:cubicBezTo>
                      <a:cubicBezTo>
                        <a:pt x="229108" y="318897"/>
                        <a:pt x="287528" y="256794"/>
                        <a:pt x="287528" y="176403"/>
                      </a:cubicBezTo>
                      <a:cubicBezTo>
                        <a:pt x="287528" y="96012"/>
                        <a:pt x="229108" y="33909"/>
                        <a:pt x="160655" y="33909"/>
                      </a:cubicBezTo>
                      <a:lnTo>
                        <a:pt x="160655" y="16891"/>
                      </a:lnTo>
                      <a:lnTo>
                        <a:pt x="160655" y="33909"/>
                      </a:lnTo>
                      <a:cubicBezTo>
                        <a:pt x="92202" y="33909"/>
                        <a:pt x="33782" y="96012"/>
                        <a:pt x="33782" y="176403"/>
                      </a:cubicBezTo>
                      <a:close/>
                    </a:path>
                  </a:pathLst>
                </a:custGeom>
                <a:solidFill>
                  <a:schemeClr val="tx2">
                    <a:lumMod val="75000"/>
                  </a:schemeClr>
                </a:solidFill>
                <a:ln w="12700">
                  <a:solidFill>
                    <a:schemeClr val="tx2">
                      <a:lumMod val="75000"/>
                    </a:schemeClr>
                  </a:solidFill>
                </a:ln>
              </p:spPr>
            </p:sp>
          </p:grpSp>
          <p:sp>
            <p:nvSpPr>
              <p:cNvPr id="134" name="AutoShape 30"/>
              <p:cNvSpPr/>
              <p:nvPr/>
            </p:nvSpPr>
            <p:spPr>
              <a:xfrm>
                <a:off x="5638127" y="4350130"/>
                <a:ext cx="484213" cy="0"/>
              </a:xfrm>
              <a:prstGeom prst="line">
                <a:avLst/>
              </a:prstGeom>
              <a:ln w="19050" cap="rnd">
                <a:solidFill>
                  <a:srgbClr val="1F4E79"/>
                </a:solidFill>
                <a:prstDash val="solid"/>
                <a:headEnd type="none" w="sm" len="sm"/>
                <a:tailEnd type="none" w="sm" len="sm"/>
              </a:ln>
            </p:spPr>
          </p:sp>
          <p:sp>
            <p:nvSpPr>
              <p:cNvPr id="135" name="TextBox 110"/>
              <p:cNvSpPr txBox="1"/>
              <p:nvPr/>
            </p:nvSpPr>
            <p:spPr>
              <a:xfrm>
                <a:off x="4442182" y="4894950"/>
                <a:ext cx="2787416" cy="730685"/>
              </a:xfrm>
              <a:prstGeom prst="rect">
                <a:avLst/>
              </a:prstGeom>
            </p:spPr>
            <p:txBody>
              <a:bodyPr wrap="square" lIns="0" tIns="0" rIns="0" bIns="0" rtlCol="0" anchor="t">
                <a:spAutoFit/>
              </a:bodyPr>
              <a:lstStyle/>
              <a:p>
                <a:pPr algn="ctr">
                  <a:lnSpc>
                    <a:spcPts val="2420"/>
                  </a:lnSpc>
                </a:pPr>
                <a:r>
                  <a:rPr lang="en-US" sz="2020" b="1" dirty="0" smtClean="0">
                    <a:solidFill>
                      <a:srgbClr val="1F4E79"/>
                    </a:solidFill>
                    <a:latin typeface="Arial Bold" panose="020B0704020202020204"/>
                    <a:ea typeface="Arial Bold" panose="020B0704020202020204"/>
                    <a:cs typeface="Arial Bold" panose="020B0704020202020204"/>
                    <a:sym typeface="Arial Bold" panose="020B0704020202020204"/>
                  </a:rPr>
                  <a:t>HIỆN </a:t>
                </a:r>
                <a:r>
                  <a:rPr lang="vi-VN" altLang="en-US" sz="2020" b="1" dirty="0" smtClean="0">
                    <a:solidFill>
                      <a:srgbClr val="1F4E79"/>
                    </a:solidFill>
                    <a:latin typeface="Arial Bold" panose="020B0704020202020204"/>
                    <a:ea typeface="Arial Bold" panose="020B0704020202020204"/>
                    <a:cs typeface="Arial Bold" panose="020B0704020202020204"/>
                    <a:sym typeface="Arial Bold" panose="020B0704020202020204"/>
                  </a:rPr>
                  <a:t>THỰC </a:t>
                </a:r>
                <a:r>
                  <a:rPr lang="en-US" sz="2020" b="1" dirty="0" smtClean="0">
                    <a:solidFill>
                      <a:srgbClr val="1F4E79"/>
                    </a:solidFill>
                    <a:latin typeface="Arial Bold" panose="020B0704020202020204"/>
                    <a:ea typeface="Arial Bold" panose="020B0704020202020204"/>
                    <a:cs typeface="Arial Bold" panose="020B0704020202020204"/>
                    <a:sym typeface="Arial Bold" panose="020B0704020202020204"/>
                  </a:rPr>
                  <a:t>HÓA</a:t>
                </a:r>
              </a:p>
              <a:p>
                <a:pPr algn="ctr">
                  <a:lnSpc>
                    <a:spcPts val="2420"/>
                  </a:lnSpc>
                </a:pPr>
                <a:r>
                  <a:rPr lang="en-US" sz="2020" b="1" dirty="0" smtClean="0">
                    <a:solidFill>
                      <a:srgbClr val="1F4E79"/>
                    </a:solidFill>
                    <a:latin typeface="Arial Bold" panose="020B0704020202020204"/>
                    <a:ea typeface="Arial Bold" panose="020B0704020202020204"/>
                    <a:cs typeface="Arial Bold" panose="020B0704020202020204"/>
                    <a:sym typeface="Arial Bold" panose="020B0704020202020204"/>
                  </a:rPr>
                  <a:t> NGHIÊN </a:t>
                </a:r>
                <a:r>
                  <a:rPr lang="en-US" sz="2020" b="1" dirty="0">
                    <a:solidFill>
                      <a:srgbClr val="1F4E79"/>
                    </a:solidFill>
                    <a:latin typeface="Arial Bold" panose="020B0704020202020204"/>
                    <a:ea typeface="Arial Bold" panose="020B0704020202020204"/>
                    <a:cs typeface="Arial Bold" panose="020B0704020202020204"/>
                    <a:sym typeface="Arial Bold" panose="020B0704020202020204"/>
                  </a:rPr>
                  <a:t>CỨU</a:t>
                </a:r>
              </a:p>
            </p:txBody>
          </p:sp>
          <p:sp>
            <p:nvSpPr>
              <p:cNvPr id="136" name="Freeform 71"/>
              <p:cNvSpPr/>
              <p:nvPr/>
            </p:nvSpPr>
            <p:spPr>
              <a:xfrm>
                <a:off x="5105195" y="2752981"/>
                <a:ext cx="1621794" cy="668948"/>
              </a:xfrm>
              <a:custGeom>
                <a:avLst/>
                <a:gdLst/>
                <a:ahLst/>
                <a:cxnLst/>
                <a:rect l="l" t="t" r="r" b="b"/>
                <a:pathLst>
                  <a:path w="2570734" h="1159510">
                    <a:moveTo>
                      <a:pt x="0" y="0"/>
                    </a:moveTo>
                    <a:lnTo>
                      <a:pt x="2570734" y="0"/>
                    </a:lnTo>
                    <a:lnTo>
                      <a:pt x="2570734" y="1159510"/>
                    </a:lnTo>
                    <a:lnTo>
                      <a:pt x="0" y="1159510"/>
                    </a:lnTo>
                    <a:close/>
                  </a:path>
                </a:pathLst>
              </a:custGeom>
              <a:solidFill>
                <a:schemeClr val="bg1"/>
              </a:solidFill>
              <a:ln w="12700">
                <a:noFill/>
              </a:ln>
            </p:spPr>
          </p:sp>
          <p:grpSp>
            <p:nvGrpSpPr>
              <p:cNvPr id="137" name="Group 24"/>
              <p:cNvGrpSpPr/>
              <p:nvPr/>
            </p:nvGrpSpPr>
            <p:grpSpPr>
              <a:xfrm rot="5400000">
                <a:off x="5320058" y="2919117"/>
                <a:ext cx="1075712" cy="1104227"/>
                <a:chOff x="0" y="0"/>
                <a:chExt cx="1705129" cy="1750329"/>
              </a:xfrm>
            </p:grpSpPr>
            <p:sp>
              <p:nvSpPr>
                <p:cNvPr id="144" name="Freeform 26"/>
                <p:cNvSpPr/>
                <p:nvPr/>
              </p:nvSpPr>
              <p:spPr>
                <a:xfrm>
                  <a:off x="0" y="0"/>
                  <a:ext cx="1705102" cy="1749044"/>
                </a:xfrm>
                <a:custGeom>
                  <a:avLst/>
                  <a:gdLst/>
                  <a:ahLst/>
                  <a:cxnLst/>
                  <a:rect l="l" t="t" r="r" b="b"/>
                  <a:pathLst>
                    <a:path w="1705102" h="1749044">
                      <a:moveTo>
                        <a:pt x="0" y="874522"/>
                      </a:moveTo>
                      <a:cubicBezTo>
                        <a:pt x="0" y="391922"/>
                        <a:pt x="381254" y="0"/>
                        <a:pt x="852551" y="0"/>
                      </a:cubicBezTo>
                      <a:lnTo>
                        <a:pt x="852551" y="16891"/>
                      </a:lnTo>
                      <a:lnTo>
                        <a:pt x="852551" y="0"/>
                      </a:lnTo>
                      <a:cubicBezTo>
                        <a:pt x="1323848" y="0"/>
                        <a:pt x="1705102" y="391922"/>
                        <a:pt x="1705102" y="874522"/>
                      </a:cubicBezTo>
                      <a:cubicBezTo>
                        <a:pt x="1705102" y="1357122"/>
                        <a:pt x="1323848" y="1749044"/>
                        <a:pt x="852551" y="1749044"/>
                      </a:cubicBezTo>
                      <a:lnTo>
                        <a:pt x="852551" y="1732153"/>
                      </a:lnTo>
                      <a:lnTo>
                        <a:pt x="852551" y="1749044"/>
                      </a:lnTo>
                      <a:cubicBezTo>
                        <a:pt x="381254" y="1749171"/>
                        <a:pt x="0" y="1357122"/>
                        <a:pt x="0" y="874522"/>
                      </a:cubicBezTo>
                      <a:lnTo>
                        <a:pt x="16891" y="874522"/>
                      </a:lnTo>
                      <a:lnTo>
                        <a:pt x="31242" y="883539"/>
                      </a:lnTo>
                      <a:cubicBezTo>
                        <a:pt x="27178" y="889889"/>
                        <a:pt x="19431" y="892810"/>
                        <a:pt x="12192" y="890778"/>
                      </a:cubicBezTo>
                      <a:cubicBezTo>
                        <a:pt x="4953" y="888746"/>
                        <a:pt x="0" y="882142"/>
                        <a:pt x="0" y="874522"/>
                      </a:cubicBezTo>
                      <a:moveTo>
                        <a:pt x="33909" y="874522"/>
                      </a:moveTo>
                      <a:lnTo>
                        <a:pt x="16891" y="874522"/>
                      </a:lnTo>
                      <a:lnTo>
                        <a:pt x="2667" y="865505"/>
                      </a:lnTo>
                      <a:cubicBezTo>
                        <a:pt x="6731" y="859155"/>
                        <a:pt x="14478" y="856234"/>
                        <a:pt x="21717" y="858266"/>
                      </a:cubicBezTo>
                      <a:cubicBezTo>
                        <a:pt x="28956" y="860298"/>
                        <a:pt x="33909" y="867029"/>
                        <a:pt x="33909" y="874522"/>
                      </a:cubicBezTo>
                      <a:cubicBezTo>
                        <a:pt x="33909" y="1339215"/>
                        <a:pt x="400812" y="1715262"/>
                        <a:pt x="852551" y="1715262"/>
                      </a:cubicBezTo>
                      <a:cubicBezTo>
                        <a:pt x="1304290" y="1715262"/>
                        <a:pt x="1671193" y="1339342"/>
                        <a:pt x="1671193" y="874522"/>
                      </a:cubicBezTo>
                      <a:lnTo>
                        <a:pt x="1688084" y="874522"/>
                      </a:lnTo>
                      <a:lnTo>
                        <a:pt x="1671193" y="874522"/>
                      </a:lnTo>
                      <a:cubicBezTo>
                        <a:pt x="1671193" y="409829"/>
                        <a:pt x="1304290" y="33782"/>
                        <a:pt x="852551" y="33782"/>
                      </a:cubicBezTo>
                      <a:lnTo>
                        <a:pt x="852551" y="16891"/>
                      </a:lnTo>
                      <a:lnTo>
                        <a:pt x="852551" y="33909"/>
                      </a:lnTo>
                      <a:cubicBezTo>
                        <a:pt x="400812" y="33909"/>
                        <a:pt x="33909" y="409829"/>
                        <a:pt x="33909" y="874649"/>
                      </a:cubicBezTo>
                      <a:close/>
                    </a:path>
                  </a:pathLst>
                </a:custGeom>
                <a:solidFill>
                  <a:srgbClr val="FFFFFF"/>
                </a:solidFill>
                <a:ln w="12700">
                  <a:solidFill>
                    <a:schemeClr val="bg1"/>
                  </a:solidFill>
                </a:ln>
              </p:spPr>
            </p:sp>
            <p:sp>
              <p:nvSpPr>
                <p:cNvPr id="145" name="Freeform 25"/>
                <p:cNvSpPr/>
                <p:nvPr/>
              </p:nvSpPr>
              <p:spPr>
                <a:xfrm>
                  <a:off x="16891" y="16891"/>
                  <a:ext cx="1671320" cy="1715262"/>
                </a:xfrm>
                <a:custGeom>
                  <a:avLst/>
                  <a:gdLst/>
                  <a:ahLst/>
                  <a:cxnLst/>
                  <a:rect l="l" t="t" r="r" b="b"/>
                  <a:pathLst>
                    <a:path w="1671320" h="1715262">
                      <a:moveTo>
                        <a:pt x="0" y="857631"/>
                      </a:moveTo>
                      <a:cubicBezTo>
                        <a:pt x="0" y="383921"/>
                        <a:pt x="374142" y="0"/>
                        <a:pt x="835660" y="0"/>
                      </a:cubicBezTo>
                      <a:cubicBezTo>
                        <a:pt x="1297178" y="0"/>
                        <a:pt x="1671320" y="383921"/>
                        <a:pt x="1671320" y="857631"/>
                      </a:cubicBezTo>
                      <a:cubicBezTo>
                        <a:pt x="1671320" y="1331341"/>
                        <a:pt x="1297178" y="1715262"/>
                        <a:pt x="835660" y="1715262"/>
                      </a:cubicBezTo>
                      <a:cubicBezTo>
                        <a:pt x="374142" y="1715262"/>
                        <a:pt x="0" y="1331341"/>
                        <a:pt x="0" y="857631"/>
                      </a:cubicBezTo>
                      <a:close/>
                    </a:path>
                  </a:pathLst>
                </a:custGeom>
                <a:solidFill>
                  <a:srgbClr val="1F4E79"/>
                </a:solidFill>
                <a:ln w="12700">
                  <a:solidFill>
                    <a:schemeClr val="bg1"/>
                  </a:solidFill>
                </a:ln>
              </p:spPr>
            </p:sp>
          </p:grpSp>
          <p:grpSp>
            <p:nvGrpSpPr>
              <p:cNvPr id="138" name="Group 27"/>
              <p:cNvGrpSpPr/>
              <p:nvPr/>
            </p:nvGrpSpPr>
            <p:grpSpPr>
              <a:xfrm rot="5400000">
                <a:off x="5437051" y="3032396"/>
                <a:ext cx="852457" cy="877667"/>
                <a:chOff x="0" y="0"/>
                <a:chExt cx="1351244" cy="1391206"/>
              </a:xfrm>
            </p:grpSpPr>
            <p:sp>
              <p:nvSpPr>
                <p:cNvPr id="142" name="Freeform 29"/>
                <p:cNvSpPr/>
                <p:nvPr/>
              </p:nvSpPr>
              <p:spPr>
                <a:xfrm>
                  <a:off x="0" y="0"/>
                  <a:ext cx="1351280" cy="1390142"/>
                </a:xfrm>
                <a:custGeom>
                  <a:avLst/>
                  <a:gdLst/>
                  <a:ahLst/>
                  <a:cxnLst/>
                  <a:rect l="l" t="t" r="r" b="b"/>
                  <a:pathLst>
                    <a:path w="1351280" h="1390142">
                      <a:moveTo>
                        <a:pt x="0" y="695071"/>
                      </a:moveTo>
                      <a:cubicBezTo>
                        <a:pt x="0" y="311658"/>
                        <a:pt x="302006" y="0"/>
                        <a:pt x="675640" y="0"/>
                      </a:cubicBezTo>
                      <a:lnTo>
                        <a:pt x="675640" y="16891"/>
                      </a:lnTo>
                      <a:lnTo>
                        <a:pt x="675640" y="0"/>
                      </a:lnTo>
                      <a:cubicBezTo>
                        <a:pt x="1049274" y="0"/>
                        <a:pt x="1351280" y="311658"/>
                        <a:pt x="1351280" y="695071"/>
                      </a:cubicBezTo>
                      <a:lnTo>
                        <a:pt x="1334389" y="695071"/>
                      </a:lnTo>
                      <a:lnTo>
                        <a:pt x="1351280" y="695071"/>
                      </a:lnTo>
                      <a:cubicBezTo>
                        <a:pt x="1351280" y="1078484"/>
                        <a:pt x="1049274" y="1390142"/>
                        <a:pt x="675640" y="1390142"/>
                      </a:cubicBezTo>
                      <a:lnTo>
                        <a:pt x="675640" y="1373251"/>
                      </a:lnTo>
                      <a:lnTo>
                        <a:pt x="675640" y="1390142"/>
                      </a:lnTo>
                      <a:cubicBezTo>
                        <a:pt x="302006" y="1390015"/>
                        <a:pt x="0" y="1078357"/>
                        <a:pt x="0" y="695071"/>
                      </a:cubicBezTo>
                      <a:lnTo>
                        <a:pt x="16891" y="695071"/>
                      </a:lnTo>
                      <a:lnTo>
                        <a:pt x="33909" y="695071"/>
                      </a:lnTo>
                      <a:lnTo>
                        <a:pt x="16891" y="695071"/>
                      </a:lnTo>
                      <a:lnTo>
                        <a:pt x="0" y="695071"/>
                      </a:lnTo>
                      <a:moveTo>
                        <a:pt x="33909" y="695071"/>
                      </a:moveTo>
                      <a:cubicBezTo>
                        <a:pt x="33909" y="704469"/>
                        <a:pt x="26289" y="711962"/>
                        <a:pt x="17018" y="711962"/>
                      </a:cubicBezTo>
                      <a:cubicBezTo>
                        <a:pt x="7747" y="711962"/>
                        <a:pt x="0" y="704342"/>
                        <a:pt x="0" y="695071"/>
                      </a:cubicBezTo>
                      <a:cubicBezTo>
                        <a:pt x="0" y="685800"/>
                        <a:pt x="7620" y="678180"/>
                        <a:pt x="16891" y="678180"/>
                      </a:cubicBezTo>
                      <a:cubicBezTo>
                        <a:pt x="26162" y="678180"/>
                        <a:pt x="33782" y="685800"/>
                        <a:pt x="33782" y="695071"/>
                      </a:cubicBezTo>
                      <a:cubicBezTo>
                        <a:pt x="33782" y="1060704"/>
                        <a:pt x="321564" y="1356233"/>
                        <a:pt x="675513" y="1356233"/>
                      </a:cubicBezTo>
                      <a:cubicBezTo>
                        <a:pt x="1029462" y="1356233"/>
                        <a:pt x="1317244" y="1060704"/>
                        <a:pt x="1317244" y="695071"/>
                      </a:cubicBezTo>
                      <a:cubicBezTo>
                        <a:pt x="1317244" y="329438"/>
                        <a:pt x="1029462" y="33909"/>
                        <a:pt x="675513" y="33909"/>
                      </a:cubicBezTo>
                      <a:lnTo>
                        <a:pt x="675513" y="16891"/>
                      </a:lnTo>
                      <a:lnTo>
                        <a:pt x="675513" y="33909"/>
                      </a:lnTo>
                      <a:cubicBezTo>
                        <a:pt x="321691" y="33909"/>
                        <a:pt x="33909" y="329438"/>
                        <a:pt x="33909" y="695071"/>
                      </a:cubicBezTo>
                      <a:close/>
                    </a:path>
                  </a:pathLst>
                </a:custGeom>
                <a:solidFill>
                  <a:srgbClr val="FFFFFF"/>
                </a:solidFill>
                <a:ln w="12700">
                  <a:solidFill>
                    <a:schemeClr val="bg1"/>
                  </a:solidFill>
                </a:ln>
              </p:spPr>
            </p:sp>
            <p:sp>
              <p:nvSpPr>
                <p:cNvPr id="143" name="Freeform 28"/>
                <p:cNvSpPr/>
                <p:nvPr/>
              </p:nvSpPr>
              <p:spPr>
                <a:xfrm>
                  <a:off x="16891" y="16891"/>
                  <a:ext cx="1317498" cy="1356106"/>
                </a:xfrm>
                <a:custGeom>
                  <a:avLst/>
                  <a:gdLst/>
                  <a:ahLst/>
                  <a:cxnLst/>
                  <a:rect l="l" t="t" r="r" b="b"/>
                  <a:pathLst>
                    <a:path w="1317498" h="1356106">
                      <a:moveTo>
                        <a:pt x="0" y="678180"/>
                      </a:moveTo>
                      <a:cubicBezTo>
                        <a:pt x="0" y="303657"/>
                        <a:pt x="294894" y="0"/>
                        <a:pt x="658749" y="0"/>
                      </a:cubicBezTo>
                      <a:cubicBezTo>
                        <a:pt x="1022604" y="0"/>
                        <a:pt x="1317498" y="303530"/>
                        <a:pt x="1317498" y="678053"/>
                      </a:cubicBezTo>
                      <a:cubicBezTo>
                        <a:pt x="1317498" y="1052576"/>
                        <a:pt x="1022604" y="1356106"/>
                        <a:pt x="658749" y="1356106"/>
                      </a:cubicBezTo>
                      <a:cubicBezTo>
                        <a:pt x="294894" y="1356106"/>
                        <a:pt x="0" y="1052576"/>
                        <a:pt x="0" y="678180"/>
                      </a:cubicBezTo>
                      <a:close/>
                    </a:path>
                  </a:pathLst>
                </a:custGeom>
                <a:solidFill>
                  <a:srgbClr val="FFFFFF"/>
                </a:solidFill>
                <a:ln w="12700">
                  <a:solidFill>
                    <a:schemeClr val="bg1"/>
                  </a:solidFill>
                </a:ln>
              </p:spPr>
            </p:sp>
          </p:grpSp>
          <p:sp>
            <p:nvSpPr>
              <p:cNvPr id="139" name="Freeform 108"/>
              <p:cNvSpPr/>
              <p:nvPr/>
            </p:nvSpPr>
            <p:spPr>
              <a:xfrm>
                <a:off x="5573932" y="3168542"/>
                <a:ext cx="676100" cy="676100"/>
              </a:xfrm>
              <a:custGeom>
                <a:avLst/>
                <a:gdLst/>
                <a:ahLst/>
                <a:cxnLst/>
                <a:rect l="l" t="t" r="r" b="b"/>
                <a:pathLst>
                  <a:path w="676100" h="676100">
                    <a:moveTo>
                      <a:pt x="0" y="0"/>
                    </a:moveTo>
                    <a:lnTo>
                      <a:pt x="676099" y="0"/>
                    </a:lnTo>
                    <a:lnTo>
                      <a:pt x="676099" y="676100"/>
                    </a:lnTo>
                    <a:lnTo>
                      <a:pt x="0" y="67610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grpSp>
            <p:nvGrpSpPr>
              <p:cNvPr id="140" name="Group 89"/>
              <p:cNvGrpSpPr/>
              <p:nvPr/>
            </p:nvGrpSpPr>
            <p:grpSpPr>
              <a:xfrm>
                <a:off x="5703374" y="2258558"/>
                <a:ext cx="320481" cy="560842"/>
                <a:chOff x="23567" y="-191464"/>
                <a:chExt cx="522688" cy="914703"/>
              </a:xfrm>
            </p:grpSpPr>
            <p:sp>
              <p:nvSpPr>
                <p:cNvPr id="141" name="Freeform 90"/>
                <p:cNvSpPr/>
                <p:nvPr/>
              </p:nvSpPr>
              <p:spPr>
                <a:xfrm>
                  <a:off x="23567" y="-191464"/>
                  <a:ext cx="522688" cy="914703"/>
                </a:xfrm>
                <a:custGeom>
                  <a:avLst/>
                  <a:gdLst/>
                  <a:ahLst/>
                  <a:cxnLst/>
                  <a:rect l="l" t="t" r="r" b="b"/>
                  <a:pathLst>
                    <a:path w="522688" h="914703">
                      <a:moveTo>
                        <a:pt x="252259" y="914703"/>
                      </a:moveTo>
                      <a:cubicBezTo>
                        <a:pt x="164197" y="914703"/>
                        <a:pt x="100146" y="893660"/>
                        <a:pt x="60083" y="851595"/>
                      </a:cubicBezTo>
                      <a:cubicBezTo>
                        <a:pt x="20020" y="809530"/>
                        <a:pt x="0" y="746099"/>
                        <a:pt x="0" y="661283"/>
                      </a:cubicBezTo>
                      <a:lnTo>
                        <a:pt x="0" y="566883"/>
                      </a:lnTo>
                      <a:lnTo>
                        <a:pt x="204638" y="566883"/>
                      </a:lnTo>
                      <a:lnTo>
                        <a:pt x="204638" y="661787"/>
                      </a:lnTo>
                      <a:cubicBezTo>
                        <a:pt x="204638" y="685735"/>
                        <a:pt x="207938" y="705991"/>
                        <a:pt x="214559" y="722575"/>
                      </a:cubicBezTo>
                      <a:cubicBezTo>
                        <a:pt x="221158" y="739159"/>
                        <a:pt x="236006" y="747451"/>
                        <a:pt x="259059" y="747451"/>
                      </a:cubicBezTo>
                      <a:cubicBezTo>
                        <a:pt x="282490" y="747451"/>
                        <a:pt x="297405" y="738473"/>
                        <a:pt x="303848" y="720517"/>
                      </a:cubicBezTo>
                      <a:cubicBezTo>
                        <a:pt x="310268" y="702561"/>
                        <a:pt x="313479" y="673246"/>
                        <a:pt x="313479" y="632533"/>
                      </a:cubicBezTo>
                      <a:lnTo>
                        <a:pt x="313479" y="609957"/>
                      </a:lnTo>
                      <a:cubicBezTo>
                        <a:pt x="313479" y="578847"/>
                        <a:pt x="307705" y="551650"/>
                        <a:pt x="296201" y="528388"/>
                      </a:cubicBezTo>
                      <a:cubicBezTo>
                        <a:pt x="284675" y="505126"/>
                        <a:pt x="262091" y="493506"/>
                        <a:pt x="228449" y="493506"/>
                      </a:cubicBezTo>
                      <a:cubicBezTo>
                        <a:pt x="224280" y="493506"/>
                        <a:pt x="220601" y="493586"/>
                        <a:pt x="217391" y="493768"/>
                      </a:cubicBezTo>
                      <a:cubicBezTo>
                        <a:pt x="214180" y="493949"/>
                        <a:pt x="211438" y="494191"/>
                        <a:pt x="209164" y="494534"/>
                      </a:cubicBezTo>
                      <a:lnTo>
                        <a:pt x="209164" y="332427"/>
                      </a:lnTo>
                      <a:cubicBezTo>
                        <a:pt x="243542" y="332427"/>
                        <a:pt x="269827" y="325507"/>
                        <a:pt x="287974" y="311646"/>
                      </a:cubicBezTo>
                      <a:cubicBezTo>
                        <a:pt x="306122" y="297786"/>
                        <a:pt x="315195" y="274625"/>
                        <a:pt x="315195" y="242143"/>
                      </a:cubicBezTo>
                      <a:cubicBezTo>
                        <a:pt x="315195" y="191180"/>
                        <a:pt x="298943" y="165699"/>
                        <a:pt x="266438" y="165699"/>
                      </a:cubicBezTo>
                      <a:cubicBezTo>
                        <a:pt x="245281" y="165699"/>
                        <a:pt x="231012" y="173144"/>
                        <a:pt x="223633" y="188013"/>
                      </a:cubicBezTo>
                      <a:cubicBezTo>
                        <a:pt x="216254" y="202882"/>
                        <a:pt x="212575" y="221786"/>
                        <a:pt x="212575" y="244705"/>
                      </a:cubicBezTo>
                      <a:lnTo>
                        <a:pt x="212575" y="271901"/>
                      </a:lnTo>
                      <a:lnTo>
                        <a:pt x="6242" y="271901"/>
                      </a:lnTo>
                      <a:cubicBezTo>
                        <a:pt x="5863" y="267806"/>
                        <a:pt x="5574" y="262842"/>
                        <a:pt x="5395" y="257032"/>
                      </a:cubicBezTo>
                      <a:cubicBezTo>
                        <a:pt x="5195" y="251222"/>
                        <a:pt x="5105" y="245573"/>
                        <a:pt x="5105" y="240105"/>
                      </a:cubicBezTo>
                      <a:cubicBezTo>
                        <a:pt x="5105" y="157346"/>
                        <a:pt x="26463" y="96639"/>
                        <a:pt x="69157" y="57984"/>
                      </a:cubicBezTo>
                      <a:cubicBezTo>
                        <a:pt x="111872" y="19328"/>
                        <a:pt x="177239" y="0"/>
                        <a:pt x="265301" y="0"/>
                      </a:cubicBezTo>
                      <a:cubicBezTo>
                        <a:pt x="435361" y="0"/>
                        <a:pt x="520414" y="80035"/>
                        <a:pt x="520414" y="240085"/>
                      </a:cubicBezTo>
                      <a:cubicBezTo>
                        <a:pt x="520414" y="284551"/>
                        <a:pt x="513792" y="321230"/>
                        <a:pt x="500572" y="350120"/>
                      </a:cubicBezTo>
                      <a:cubicBezTo>
                        <a:pt x="487329" y="379031"/>
                        <a:pt x="462783" y="399287"/>
                        <a:pt x="426889" y="410908"/>
                      </a:cubicBezTo>
                      <a:cubicBezTo>
                        <a:pt x="455225" y="423215"/>
                        <a:pt x="476204" y="438952"/>
                        <a:pt x="489804" y="458098"/>
                      </a:cubicBezTo>
                      <a:cubicBezTo>
                        <a:pt x="503403" y="477265"/>
                        <a:pt x="512276" y="501031"/>
                        <a:pt x="516445" y="529417"/>
                      </a:cubicBezTo>
                      <a:cubicBezTo>
                        <a:pt x="520592" y="557804"/>
                        <a:pt x="522688" y="592182"/>
                        <a:pt x="522688" y="632533"/>
                      </a:cubicBezTo>
                      <a:cubicBezTo>
                        <a:pt x="522688" y="722817"/>
                        <a:pt x="501798" y="792421"/>
                        <a:pt x="460041" y="841326"/>
                      </a:cubicBezTo>
                      <a:cubicBezTo>
                        <a:pt x="418261" y="890251"/>
                        <a:pt x="349016" y="914703"/>
                        <a:pt x="252259" y="914703"/>
                      </a:cubicBezTo>
                      <a:close/>
                    </a:path>
                  </a:pathLst>
                </a:custGeom>
                <a:solidFill>
                  <a:srgbClr val="FFC000"/>
                </a:solidFill>
                <a:ln w="12700" cap="sq">
                  <a:solidFill>
                    <a:srgbClr val="000000"/>
                  </a:solidFill>
                  <a:prstDash val="solid"/>
                  <a:miter/>
                </a:ln>
              </p:spPr>
            </p:sp>
          </p:grpSp>
        </p:grpSp>
        <p:grpSp>
          <p:nvGrpSpPr>
            <p:cNvPr id="101" name="Group 100"/>
            <p:cNvGrpSpPr/>
            <p:nvPr/>
          </p:nvGrpSpPr>
          <p:grpSpPr>
            <a:xfrm>
              <a:off x="7391401" y="1928724"/>
              <a:ext cx="1743622" cy="2406672"/>
              <a:chOff x="4669167" y="2258558"/>
              <a:chExt cx="2283864" cy="3055265"/>
            </a:xfrm>
          </p:grpSpPr>
          <p:grpSp>
            <p:nvGrpSpPr>
              <p:cNvPr id="102" name="Group 18"/>
              <p:cNvGrpSpPr/>
              <p:nvPr/>
            </p:nvGrpSpPr>
            <p:grpSpPr>
              <a:xfrm rot="19688046">
                <a:off x="5123700" y="2746900"/>
                <a:ext cx="1479157" cy="1448660"/>
                <a:chOff x="0" y="0"/>
                <a:chExt cx="2344638" cy="2296296"/>
              </a:xfrm>
            </p:grpSpPr>
            <p:sp>
              <p:nvSpPr>
                <p:cNvPr id="217" name="Freeform 19"/>
                <p:cNvSpPr/>
                <p:nvPr/>
              </p:nvSpPr>
              <p:spPr>
                <a:xfrm>
                  <a:off x="16891" y="16891"/>
                  <a:ext cx="2309368" cy="2261616"/>
                </a:xfrm>
                <a:custGeom>
                  <a:avLst/>
                  <a:gdLst/>
                  <a:ahLst/>
                  <a:cxnLst/>
                  <a:rect l="l" t="t" r="r" b="b"/>
                  <a:pathLst>
                    <a:path w="2309368" h="2261616">
                      <a:moveTo>
                        <a:pt x="0" y="1130808"/>
                      </a:moveTo>
                      <a:cubicBezTo>
                        <a:pt x="0" y="506349"/>
                        <a:pt x="517017" y="0"/>
                        <a:pt x="1154684" y="0"/>
                      </a:cubicBezTo>
                      <a:cubicBezTo>
                        <a:pt x="1792351" y="0"/>
                        <a:pt x="2309368" y="506222"/>
                        <a:pt x="2309368" y="1130808"/>
                      </a:cubicBezTo>
                      <a:cubicBezTo>
                        <a:pt x="2309368" y="1755394"/>
                        <a:pt x="1792351" y="2261616"/>
                        <a:pt x="1154684" y="2261616"/>
                      </a:cubicBezTo>
                      <a:cubicBezTo>
                        <a:pt x="517017" y="2261616"/>
                        <a:pt x="0" y="1755394"/>
                        <a:pt x="0" y="1130808"/>
                      </a:cubicBezTo>
                      <a:close/>
                    </a:path>
                  </a:pathLst>
                </a:custGeom>
                <a:solidFill>
                  <a:schemeClr val="accent2">
                    <a:lumMod val="75000"/>
                  </a:schemeClr>
                </a:solidFill>
                <a:ln w="12700">
                  <a:solidFill>
                    <a:schemeClr val="bg1"/>
                  </a:solidFill>
                </a:ln>
              </p:spPr>
            </p:sp>
            <p:sp>
              <p:nvSpPr>
                <p:cNvPr id="218" name="Freeform 20"/>
                <p:cNvSpPr/>
                <p:nvPr/>
              </p:nvSpPr>
              <p:spPr>
                <a:xfrm>
                  <a:off x="0" y="0"/>
                  <a:ext cx="2343150" cy="2295398"/>
                </a:xfrm>
                <a:custGeom>
                  <a:avLst/>
                  <a:gdLst/>
                  <a:ahLst/>
                  <a:cxnLst/>
                  <a:rect l="l" t="t" r="r" b="b"/>
                  <a:pathLst>
                    <a:path w="2343150" h="2295398">
                      <a:moveTo>
                        <a:pt x="0" y="1147699"/>
                      </a:moveTo>
                      <a:cubicBezTo>
                        <a:pt x="0" y="513461"/>
                        <a:pt x="524891" y="0"/>
                        <a:pt x="1171575" y="0"/>
                      </a:cubicBezTo>
                      <a:lnTo>
                        <a:pt x="1171575" y="16891"/>
                      </a:lnTo>
                      <a:lnTo>
                        <a:pt x="1171575" y="0"/>
                      </a:lnTo>
                      <a:cubicBezTo>
                        <a:pt x="1818259" y="0"/>
                        <a:pt x="2343150" y="513461"/>
                        <a:pt x="2343150" y="1147699"/>
                      </a:cubicBezTo>
                      <a:lnTo>
                        <a:pt x="2326259" y="1147699"/>
                      </a:lnTo>
                      <a:lnTo>
                        <a:pt x="2343150" y="1147699"/>
                      </a:lnTo>
                      <a:cubicBezTo>
                        <a:pt x="2343150" y="1781937"/>
                        <a:pt x="1818259" y="2295398"/>
                        <a:pt x="1171575" y="2295398"/>
                      </a:cubicBezTo>
                      <a:lnTo>
                        <a:pt x="1171575" y="2278507"/>
                      </a:lnTo>
                      <a:lnTo>
                        <a:pt x="1171575" y="2295398"/>
                      </a:lnTo>
                      <a:cubicBezTo>
                        <a:pt x="524891" y="2295398"/>
                        <a:pt x="0" y="1781937"/>
                        <a:pt x="0" y="1147699"/>
                      </a:cubicBezTo>
                      <a:lnTo>
                        <a:pt x="16891" y="1147699"/>
                      </a:lnTo>
                      <a:lnTo>
                        <a:pt x="33909" y="1147699"/>
                      </a:lnTo>
                      <a:lnTo>
                        <a:pt x="16891" y="1147699"/>
                      </a:lnTo>
                      <a:lnTo>
                        <a:pt x="0" y="1147699"/>
                      </a:lnTo>
                      <a:moveTo>
                        <a:pt x="33909" y="1147699"/>
                      </a:moveTo>
                      <a:cubicBezTo>
                        <a:pt x="33909" y="1157097"/>
                        <a:pt x="26289" y="1164590"/>
                        <a:pt x="17018" y="1164590"/>
                      </a:cubicBezTo>
                      <a:cubicBezTo>
                        <a:pt x="7747" y="1164590"/>
                        <a:pt x="0" y="1157097"/>
                        <a:pt x="0" y="1147699"/>
                      </a:cubicBezTo>
                      <a:cubicBezTo>
                        <a:pt x="0" y="1138301"/>
                        <a:pt x="7620" y="1130808"/>
                        <a:pt x="16891" y="1130808"/>
                      </a:cubicBezTo>
                      <a:cubicBezTo>
                        <a:pt x="26162" y="1130808"/>
                        <a:pt x="33782" y="1138428"/>
                        <a:pt x="33782" y="1147699"/>
                      </a:cubicBezTo>
                      <a:cubicBezTo>
                        <a:pt x="33782" y="1762506"/>
                        <a:pt x="542798" y="2261489"/>
                        <a:pt x="1171575" y="2261489"/>
                      </a:cubicBezTo>
                      <a:cubicBezTo>
                        <a:pt x="1800225" y="2261489"/>
                        <a:pt x="2309368" y="1762506"/>
                        <a:pt x="2309368" y="1147699"/>
                      </a:cubicBezTo>
                      <a:cubicBezTo>
                        <a:pt x="2309368" y="532892"/>
                        <a:pt x="1800352" y="33909"/>
                        <a:pt x="1171575" y="33909"/>
                      </a:cubicBezTo>
                      <a:lnTo>
                        <a:pt x="1171575" y="16891"/>
                      </a:lnTo>
                      <a:lnTo>
                        <a:pt x="1171575" y="33909"/>
                      </a:lnTo>
                      <a:cubicBezTo>
                        <a:pt x="542925" y="33909"/>
                        <a:pt x="33782" y="532892"/>
                        <a:pt x="33782" y="1147699"/>
                      </a:cubicBezTo>
                      <a:close/>
                    </a:path>
                  </a:pathLst>
                </a:custGeom>
                <a:solidFill>
                  <a:schemeClr val="accent2">
                    <a:lumMod val="75000"/>
                  </a:schemeClr>
                </a:solidFill>
                <a:ln w="12700">
                  <a:solidFill>
                    <a:schemeClr val="accent2">
                      <a:lumMod val="75000"/>
                    </a:schemeClr>
                  </a:solidFill>
                </a:ln>
              </p:spPr>
            </p:sp>
          </p:grpSp>
          <p:grpSp>
            <p:nvGrpSpPr>
              <p:cNvPr id="103" name="Group 15"/>
              <p:cNvGrpSpPr/>
              <p:nvPr/>
            </p:nvGrpSpPr>
            <p:grpSpPr>
              <a:xfrm rot="5400000">
                <a:off x="5734457" y="4576323"/>
                <a:ext cx="202865" cy="222573"/>
                <a:chOff x="12271" y="3"/>
                <a:chExt cx="321564" cy="352804"/>
              </a:xfrm>
            </p:grpSpPr>
            <p:sp>
              <p:nvSpPr>
                <p:cNvPr id="215" name="Freeform 16"/>
                <p:cNvSpPr/>
                <p:nvPr/>
              </p:nvSpPr>
              <p:spPr>
                <a:xfrm>
                  <a:off x="16891" y="16891"/>
                  <a:ext cx="287782" cy="319024"/>
                </a:xfrm>
                <a:custGeom>
                  <a:avLst/>
                  <a:gdLst/>
                  <a:ahLst/>
                  <a:cxnLst/>
                  <a:rect l="l" t="t" r="r" b="b"/>
                  <a:pathLst>
                    <a:path w="287782" h="319024">
                      <a:moveTo>
                        <a:pt x="0" y="159512"/>
                      </a:moveTo>
                      <a:cubicBezTo>
                        <a:pt x="0" y="71501"/>
                        <a:pt x="64389" y="0"/>
                        <a:pt x="143891" y="0"/>
                      </a:cubicBezTo>
                      <a:cubicBezTo>
                        <a:pt x="223393" y="0"/>
                        <a:pt x="287782" y="71501"/>
                        <a:pt x="287782" y="159512"/>
                      </a:cubicBezTo>
                      <a:cubicBezTo>
                        <a:pt x="287782" y="247523"/>
                        <a:pt x="223266" y="319024"/>
                        <a:pt x="143891" y="319024"/>
                      </a:cubicBezTo>
                      <a:cubicBezTo>
                        <a:pt x="64516" y="319024"/>
                        <a:pt x="0" y="247650"/>
                        <a:pt x="0" y="159512"/>
                      </a:cubicBezTo>
                      <a:close/>
                    </a:path>
                  </a:pathLst>
                </a:custGeom>
                <a:solidFill>
                  <a:schemeClr val="accent2">
                    <a:lumMod val="75000"/>
                  </a:schemeClr>
                </a:solidFill>
                <a:ln w="12700">
                  <a:solidFill>
                    <a:schemeClr val="accent2">
                      <a:lumMod val="75000"/>
                    </a:schemeClr>
                  </a:solidFill>
                </a:ln>
              </p:spPr>
            </p:sp>
            <p:sp>
              <p:nvSpPr>
                <p:cNvPr id="216" name="Freeform 17"/>
                <p:cNvSpPr/>
                <p:nvPr/>
              </p:nvSpPr>
              <p:spPr>
                <a:xfrm>
                  <a:off x="12271" y="3"/>
                  <a:ext cx="321564" cy="352804"/>
                </a:xfrm>
                <a:custGeom>
                  <a:avLst/>
                  <a:gdLst/>
                  <a:ahLst/>
                  <a:cxnLst/>
                  <a:rect l="l" t="t" r="r" b="b"/>
                  <a:pathLst>
                    <a:path w="321564" h="352806">
                      <a:moveTo>
                        <a:pt x="0" y="176403"/>
                      </a:moveTo>
                      <a:cubicBezTo>
                        <a:pt x="0" y="80645"/>
                        <a:pt x="70358" y="0"/>
                        <a:pt x="160782" y="0"/>
                      </a:cubicBezTo>
                      <a:lnTo>
                        <a:pt x="160782" y="16891"/>
                      </a:lnTo>
                      <a:lnTo>
                        <a:pt x="160782" y="0"/>
                      </a:lnTo>
                      <a:cubicBezTo>
                        <a:pt x="251206" y="0"/>
                        <a:pt x="321564" y="80645"/>
                        <a:pt x="321564" y="176403"/>
                      </a:cubicBezTo>
                      <a:lnTo>
                        <a:pt x="304673" y="176403"/>
                      </a:lnTo>
                      <a:lnTo>
                        <a:pt x="321564" y="176403"/>
                      </a:lnTo>
                      <a:cubicBezTo>
                        <a:pt x="321564" y="272161"/>
                        <a:pt x="251206" y="352806"/>
                        <a:pt x="160782" y="352806"/>
                      </a:cubicBezTo>
                      <a:lnTo>
                        <a:pt x="160782" y="335915"/>
                      </a:lnTo>
                      <a:lnTo>
                        <a:pt x="160782" y="352806"/>
                      </a:lnTo>
                      <a:cubicBezTo>
                        <a:pt x="70358" y="352806"/>
                        <a:pt x="0" y="272161"/>
                        <a:pt x="0" y="176403"/>
                      </a:cubicBezTo>
                      <a:lnTo>
                        <a:pt x="16891" y="176403"/>
                      </a:lnTo>
                      <a:lnTo>
                        <a:pt x="33909" y="176403"/>
                      </a:lnTo>
                      <a:lnTo>
                        <a:pt x="16891" y="176403"/>
                      </a:lnTo>
                      <a:lnTo>
                        <a:pt x="0" y="176403"/>
                      </a:lnTo>
                      <a:moveTo>
                        <a:pt x="33909" y="176403"/>
                      </a:moveTo>
                      <a:cubicBezTo>
                        <a:pt x="33909" y="185801"/>
                        <a:pt x="26289" y="193294"/>
                        <a:pt x="17018" y="193294"/>
                      </a:cubicBezTo>
                      <a:cubicBezTo>
                        <a:pt x="7747" y="193294"/>
                        <a:pt x="0" y="185801"/>
                        <a:pt x="0" y="176403"/>
                      </a:cubicBezTo>
                      <a:cubicBezTo>
                        <a:pt x="0" y="167005"/>
                        <a:pt x="7620" y="159512"/>
                        <a:pt x="16891" y="159512"/>
                      </a:cubicBezTo>
                      <a:cubicBezTo>
                        <a:pt x="26162" y="159512"/>
                        <a:pt x="33782" y="167132"/>
                        <a:pt x="33782" y="176403"/>
                      </a:cubicBezTo>
                      <a:cubicBezTo>
                        <a:pt x="33782" y="256794"/>
                        <a:pt x="92202" y="318897"/>
                        <a:pt x="160655" y="318897"/>
                      </a:cubicBezTo>
                      <a:cubicBezTo>
                        <a:pt x="229108" y="318897"/>
                        <a:pt x="287528" y="256794"/>
                        <a:pt x="287528" y="176403"/>
                      </a:cubicBezTo>
                      <a:cubicBezTo>
                        <a:pt x="287528" y="96012"/>
                        <a:pt x="229108" y="33909"/>
                        <a:pt x="160655" y="33909"/>
                      </a:cubicBezTo>
                      <a:lnTo>
                        <a:pt x="160655" y="16891"/>
                      </a:lnTo>
                      <a:lnTo>
                        <a:pt x="160655" y="33909"/>
                      </a:lnTo>
                      <a:cubicBezTo>
                        <a:pt x="92202" y="33909"/>
                        <a:pt x="33782" y="96012"/>
                        <a:pt x="33782" y="176403"/>
                      </a:cubicBezTo>
                      <a:close/>
                    </a:path>
                  </a:pathLst>
                </a:custGeom>
                <a:solidFill>
                  <a:schemeClr val="accent2">
                    <a:lumMod val="75000"/>
                  </a:schemeClr>
                </a:solidFill>
                <a:ln w="12700">
                  <a:solidFill>
                    <a:schemeClr val="accent2">
                      <a:lumMod val="75000"/>
                    </a:schemeClr>
                  </a:solidFill>
                </a:ln>
              </p:spPr>
            </p:sp>
          </p:grpSp>
          <p:sp>
            <p:nvSpPr>
              <p:cNvPr id="104" name="AutoShape 30"/>
              <p:cNvSpPr/>
              <p:nvPr/>
            </p:nvSpPr>
            <p:spPr>
              <a:xfrm>
                <a:off x="5638127" y="4350130"/>
                <a:ext cx="484213" cy="0"/>
              </a:xfrm>
              <a:prstGeom prst="line">
                <a:avLst/>
              </a:prstGeom>
              <a:ln w="19050" cap="rnd">
                <a:solidFill>
                  <a:schemeClr val="accent2">
                    <a:lumMod val="75000"/>
                  </a:schemeClr>
                </a:solidFill>
                <a:prstDash val="solid"/>
                <a:headEnd type="none" w="sm" len="sm"/>
                <a:tailEnd type="none" w="sm" len="sm"/>
              </a:ln>
            </p:spPr>
          </p:sp>
          <p:sp>
            <p:nvSpPr>
              <p:cNvPr id="105" name="TextBox 110"/>
              <p:cNvSpPr txBox="1"/>
              <p:nvPr/>
            </p:nvSpPr>
            <p:spPr>
              <a:xfrm>
                <a:off x="4669167" y="4923101"/>
                <a:ext cx="2283864" cy="390722"/>
              </a:xfrm>
              <a:prstGeom prst="rect">
                <a:avLst/>
              </a:prstGeom>
            </p:spPr>
            <p:txBody>
              <a:bodyPr wrap="square" lIns="0" tIns="0" rIns="0" bIns="0" rtlCol="0" anchor="t">
                <a:spAutoFit/>
              </a:bodyPr>
              <a:lstStyle/>
              <a:p>
                <a:pPr algn="ctr">
                  <a:lnSpc>
                    <a:spcPts val="2420"/>
                  </a:lnSpc>
                </a:pPr>
                <a:r>
                  <a:rPr lang="en-US" sz="2020" b="1" dirty="0" smtClean="0">
                    <a:solidFill>
                      <a:schemeClr val="accent2">
                        <a:lumMod val="75000"/>
                      </a:schemeClr>
                    </a:solidFill>
                    <a:latin typeface="Arial Bold" panose="020B0704020202020204"/>
                    <a:ea typeface="Arial Bold" panose="020B0704020202020204"/>
                    <a:cs typeface="Arial Bold" panose="020B0704020202020204"/>
                    <a:sym typeface="Arial Bold" panose="020B0704020202020204"/>
                  </a:rPr>
                  <a:t>KẾT LUẬN</a:t>
                </a:r>
                <a:endParaRPr lang="en-US" sz="2020" b="1" dirty="0">
                  <a:solidFill>
                    <a:schemeClr val="accent2">
                      <a:lumMod val="75000"/>
                    </a:schemeClr>
                  </a:solidFill>
                  <a:latin typeface="Arial Bold" panose="020B0704020202020204"/>
                  <a:ea typeface="Arial Bold" panose="020B0704020202020204"/>
                  <a:cs typeface="Arial Bold" panose="020B0704020202020204"/>
                  <a:sym typeface="Arial Bold" panose="020B0704020202020204"/>
                </a:endParaRPr>
              </a:p>
            </p:txBody>
          </p:sp>
          <p:sp>
            <p:nvSpPr>
              <p:cNvPr id="106" name="Freeform 71"/>
              <p:cNvSpPr/>
              <p:nvPr/>
            </p:nvSpPr>
            <p:spPr>
              <a:xfrm>
                <a:off x="5105195" y="2752981"/>
                <a:ext cx="1621794" cy="668948"/>
              </a:xfrm>
              <a:custGeom>
                <a:avLst/>
                <a:gdLst/>
                <a:ahLst/>
                <a:cxnLst/>
                <a:rect l="l" t="t" r="r" b="b"/>
                <a:pathLst>
                  <a:path w="2570734" h="1159510">
                    <a:moveTo>
                      <a:pt x="0" y="0"/>
                    </a:moveTo>
                    <a:lnTo>
                      <a:pt x="2570734" y="0"/>
                    </a:lnTo>
                    <a:lnTo>
                      <a:pt x="2570734" y="1159510"/>
                    </a:lnTo>
                    <a:lnTo>
                      <a:pt x="0" y="1159510"/>
                    </a:lnTo>
                    <a:close/>
                  </a:path>
                </a:pathLst>
              </a:custGeom>
              <a:solidFill>
                <a:schemeClr val="bg1"/>
              </a:solidFill>
              <a:ln w="12700">
                <a:noFill/>
              </a:ln>
            </p:spPr>
          </p:sp>
          <p:grpSp>
            <p:nvGrpSpPr>
              <p:cNvPr id="107" name="Group 24"/>
              <p:cNvGrpSpPr/>
              <p:nvPr/>
            </p:nvGrpSpPr>
            <p:grpSpPr>
              <a:xfrm rot="5400000">
                <a:off x="5320058" y="2919117"/>
                <a:ext cx="1075712" cy="1104227"/>
                <a:chOff x="0" y="0"/>
                <a:chExt cx="1705129" cy="1750329"/>
              </a:xfrm>
            </p:grpSpPr>
            <p:sp>
              <p:nvSpPr>
                <p:cNvPr id="213" name="Freeform 26"/>
                <p:cNvSpPr/>
                <p:nvPr/>
              </p:nvSpPr>
              <p:spPr>
                <a:xfrm>
                  <a:off x="0" y="0"/>
                  <a:ext cx="1705102" cy="1749044"/>
                </a:xfrm>
                <a:custGeom>
                  <a:avLst/>
                  <a:gdLst/>
                  <a:ahLst/>
                  <a:cxnLst/>
                  <a:rect l="l" t="t" r="r" b="b"/>
                  <a:pathLst>
                    <a:path w="1705102" h="1749044">
                      <a:moveTo>
                        <a:pt x="0" y="874522"/>
                      </a:moveTo>
                      <a:cubicBezTo>
                        <a:pt x="0" y="391922"/>
                        <a:pt x="381254" y="0"/>
                        <a:pt x="852551" y="0"/>
                      </a:cubicBezTo>
                      <a:lnTo>
                        <a:pt x="852551" y="16891"/>
                      </a:lnTo>
                      <a:lnTo>
                        <a:pt x="852551" y="0"/>
                      </a:lnTo>
                      <a:cubicBezTo>
                        <a:pt x="1323848" y="0"/>
                        <a:pt x="1705102" y="391922"/>
                        <a:pt x="1705102" y="874522"/>
                      </a:cubicBezTo>
                      <a:cubicBezTo>
                        <a:pt x="1705102" y="1357122"/>
                        <a:pt x="1323848" y="1749044"/>
                        <a:pt x="852551" y="1749044"/>
                      </a:cubicBezTo>
                      <a:lnTo>
                        <a:pt x="852551" y="1732153"/>
                      </a:lnTo>
                      <a:lnTo>
                        <a:pt x="852551" y="1749044"/>
                      </a:lnTo>
                      <a:cubicBezTo>
                        <a:pt x="381254" y="1749171"/>
                        <a:pt x="0" y="1357122"/>
                        <a:pt x="0" y="874522"/>
                      </a:cubicBezTo>
                      <a:lnTo>
                        <a:pt x="16891" y="874522"/>
                      </a:lnTo>
                      <a:lnTo>
                        <a:pt x="31242" y="883539"/>
                      </a:lnTo>
                      <a:cubicBezTo>
                        <a:pt x="27178" y="889889"/>
                        <a:pt x="19431" y="892810"/>
                        <a:pt x="12192" y="890778"/>
                      </a:cubicBezTo>
                      <a:cubicBezTo>
                        <a:pt x="4953" y="888746"/>
                        <a:pt x="0" y="882142"/>
                        <a:pt x="0" y="874522"/>
                      </a:cubicBezTo>
                      <a:moveTo>
                        <a:pt x="33909" y="874522"/>
                      </a:moveTo>
                      <a:lnTo>
                        <a:pt x="16891" y="874522"/>
                      </a:lnTo>
                      <a:lnTo>
                        <a:pt x="2667" y="865505"/>
                      </a:lnTo>
                      <a:cubicBezTo>
                        <a:pt x="6731" y="859155"/>
                        <a:pt x="14478" y="856234"/>
                        <a:pt x="21717" y="858266"/>
                      </a:cubicBezTo>
                      <a:cubicBezTo>
                        <a:pt x="28956" y="860298"/>
                        <a:pt x="33909" y="867029"/>
                        <a:pt x="33909" y="874522"/>
                      </a:cubicBezTo>
                      <a:cubicBezTo>
                        <a:pt x="33909" y="1339215"/>
                        <a:pt x="400812" y="1715262"/>
                        <a:pt x="852551" y="1715262"/>
                      </a:cubicBezTo>
                      <a:cubicBezTo>
                        <a:pt x="1304290" y="1715262"/>
                        <a:pt x="1671193" y="1339342"/>
                        <a:pt x="1671193" y="874522"/>
                      </a:cubicBezTo>
                      <a:lnTo>
                        <a:pt x="1688084" y="874522"/>
                      </a:lnTo>
                      <a:lnTo>
                        <a:pt x="1671193" y="874522"/>
                      </a:lnTo>
                      <a:cubicBezTo>
                        <a:pt x="1671193" y="409829"/>
                        <a:pt x="1304290" y="33782"/>
                        <a:pt x="852551" y="33782"/>
                      </a:cubicBezTo>
                      <a:lnTo>
                        <a:pt x="852551" y="16891"/>
                      </a:lnTo>
                      <a:lnTo>
                        <a:pt x="852551" y="33909"/>
                      </a:lnTo>
                      <a:cubicBezTo>
                        <a:pt x="400812" y="33909"/>
                        <a:pt x="33909" y="409829"/>
                        <a:pt x="33909" y="874649"/>
                      </a:cubicBezTo>
                      <a:close/>
                    </a:path>
                  </a:pathLst>
                </a:custGeom>
                <a:solidFill>
                  <a:srgbClr val="FFFFFF"/>
                </a:solidFill>
                <a:ln w="12700">
                  <a:solidFill>
                    <a:schemeClr val="bg1"/>
                  </a:solidFill>
                </a:ln>
              </p:spPr>
            </p:sp>
            <p:sp>
              <p:nvSpPr>
                <p:cNvPr id="214" name="Freeform 25"/>
                <p:cNvSpPr/>
                <p:nvPr/>
              </p:nvSpPr>
              <p:spPr>
                <a:xfrm>
                  <a:off x="16891" y="16891"/>
                  <a:ext cx="1671320" cy="1715262"/>
                </a:xfrm>
                <a:custGeom>
                  <a:avLst/>
                  <a:gdLst/>
                  <a:ahLst/>
                  <a:cxnLst/>
                  <a:rect l="l" t="t" r="r" b="b"/>
                  <a:pathLst>
                    <a:path w="1671320" h="1715262">
                      <a:moveTo>
                        <a:pt x="0" y="857631"/>
                      </a:moveTo>
                      <a:cubicBezTo>
                        <a:pt x="0" y="383921"/>
                        <a:pt x="374142" y="0"/>
                        <a:pt x="835660" y="0"/>
                      </a:cubicBezTo>
                      <a:cubicBezTo>
                        <a:pt x="1297178" y="0"/>
                        <a:pt x="1671320" y="383921"/>
                        <a:pt x="1671320" y="857631"/>
                      </a:cubicBezTo>
                      <a:cubicBezTo>
                        <a:pt x="1671320" y="1331341"/>
                        <a:pt x="1297178" y="1715262"/>
                        <a:pt x="835660" y="1715262"/>
                      </a:cubicBezTo>
                      <a:cubicBezTo>
                        <a:pt x="374142" y="1715262"/>
                        <a:pt x="0" y="1331341"/>
                        <a:pt x="0" y="857631"/>
                      </a:cubicBezTo>
                      <a:close/>
                    </a:path>
                  </a:pathLst>
                </a:custGeom>
                <a:solidFill>
                  <a:schemeClr val="accent2">
                    <a:lumMod val="75000"/>
                  </a:schemeClr>
                </a:solidFill>
                <a:ln w="12700">
                  <a:solidFill>
                    <a:schemeClr val="bg1"/>
                  </a:solidFill>
                </a:ln>
              </p:spPr>
            </p:sp>
          </p:grpSp>
          <p:grpSp>
            <p:nvGrpSpPr>
              <p:cNvPr id="108" name="Group 27"/>
              <p:cNvGrpSpPr/>
              <p:nvPr/>
            </p:nvGrpSpPr>
            <p:grpSpPr>
              <a:xfrm rot="5400000">
                <a:off x="5437051" y="3032396"/>
                <a:ext cx="852457" cy="877667"/>
                <a:chOff x="0" y="0"/>
                <a:chExt cx="1351244" cy="1391206"/>
              </a:xfrm>
            </p:grpSpPr>
            <p:sp>
              <p:nvSpPr>
                <p:cNvPr id="125" name="Freeform 29"/>
                <p:cNvSpPr/>
                <p:nvPr/>
              </p:nvSpPr>
              <p:spPr>
                <a:xfrm>
                  <a:off x="0" y="0"/>
                  <a:ext cx="1351280" cy="1390142"/>
                </a:xfrm>
                <a:custGeom>
                  <a:avLst/>
                  <a:gdLst/>
                  <a:ahLst/>
                  <a:cxnLst/>
                  <a:rect l="l" t="t" r="r" b="b"/>
                  <a:pathLst>
                    <a:path w="1351280" h="1390142">
                      <a:moveTo>
                        <a:pt x="0" y="695071"/>
                      </a:moveTo>
                      <a:cubicBezTo>
                        <a:pt x="0" y="311658"/>
                        <a:pt x="302006" y="0"/>
                        <a:pt x="675640" y="0"/>
                      </a:cubicBezTo>
                      <a:lnTo>
                        <a:pt x="675640" y="16891"/>
                      </a:lnTo>
                      <a:lnTo>
                        <a:pt x="675640" y="0"/>
                      </a:lnTo>
                      <a:cubicBezTo>
                        <a:pt x="1049274" y="0"/>
                        <a:pt x="1351280" y="311658"/>
                        <a:pt x="1351280" y="695071"/>
                      </a:cubicBezTo>
                      <a:lnTo>
                        <a:pt x="1334389" y="695071"/>
                      </a:lnTo>
                      <a:lnTo>
                        <a:pt x="1351280" y="695071"/>
                      </a:lnTo>
                      <a:cubicBezTo>
                        <a:pt x="1351280" y="1078484"/>
                        <a:pt x="1049274" y="1390142"/>
                        <a:pt x="675640" y="1390142"/>
                      </a:cubicBezTo>
                      <a:lnTo>
                        <a:pt x="675640" y="1373251"/>
                      </a:lnTo>
                      <a:lnTo>
                        <a:pt x="675640" y="1390142"/>
                      </a:lnTo>
                      <a:cubicBezTo>
                        <a:pt x="302006" y="1390015"/>
                        <a:pt x="0" y="1078357"/>
                        <a:pt x="0" y="695071"/>
                      </a:cubicBezTo>
                      <a:lnTo>
                        <a:pt x="16891" y="695071"/>
                      </a:lnTo>
                      <a:lnTo>
                        <a:pt x="33909" y="695071"/>
                      </a:lnTo>
                      <a:lnTo>
                        <a:pt x="16891" y="695071"/>
                      </a:lnTo>
                      <a:lnTo>
                        <a:pt x="0" y="695071"/>
                      </a:lnTo>
                      <a:moveTo>
                        <a:pt x="33909" y="695071"/>
                      </a:moveTo>
                      <a:cubicBezTo>
                        <a:pt x="33909" y="704469"/>
                        <a:pt x="26289" y="711962"/>
                        <a:pt x="17018" y="711962"/>
                      </a:cubicBezTo>
                      <a:cubicBezTo>
                        <a:pt x="7747" y="711962"/>
                        <a:pt x="0" y="704342"/>
                        <a:pt x="0" y="695071"/>
                      </a:cubicBezTo>
                      <a:cubicBezTo>
                        <a:pt x="0" y="685800"/>
                        <a:pt x="7620" y="678180"/>
                        <a:pt x="16891" y="678180"/>
                      </a:cubicBezTo>
                      <a:cubicBezTo>
                        <a:pt x="26162" y="678180"/>
                        <a:pt x="33782" y="685800"/>
                        <a:pt x="33782" y="695071"/>
                      </a:cubicBezTo>
                      <a:cubicBezTo>
                        <a:pt x="33782" y="1060704"/>
                        <a:pt x="321564" y="1356233"/>
                        <a:pt x="675513" y="1356233"/>
                      </a:cubicBezTo>
                      <a:cubicBezTo>
                        <a:pt x="1029462" y="1356233"/>
                        <a:pt x="1317244" y="1060704"/>
                        <a:pt x="1317244" y="695071"/>
                      </a:cubicBezTo>
                      <a:cubicBezTo>
                        <a:pt x="1317244" y="329438"/>
                        <a:pt x="1029462" y="33909"/>
                        <a:pt x="675513" y="33909"/>
                      </a:cubicBezTo>
                      <a:lnTo>
                        <a:pt x="675513" y="16891"/>
                      </a:lnTo>
                      <a:lnTo>
                        <a:pt x="675513" y="33909"/>
                      </a:lnTo>
                      <a:cubicBezTo>
                        <a:pt x="321691" y="33909"/>
                        <a:pt x="33909" y="329438"/>
                        <a:pt x="33909" y="695071"/>
                      </a:cubicBezTo>
                      <a:close/>
                    </a:path>
                  </a:pathLst>
                </a:custGeom>
                <a:solidFill>
                  <a:srgbClr val="FFFFFF"/>
                </a:solidFill>
                <a:ln w="12700">
                  <a:solidFill>
                    <a:schemeClr val="bg1"/>
                  </a:solidFill>
                </a:ln>
              </p:spPr>
            </p:sp>
            <p:sp>
              <p:nvSpPr>
                <p:cNvPr id="212" name="Freeform 28"/>
                <p:cNvSpPr/>
                <p:nvPr/>
              </p:nvSpPr>
              <p:spPr>
                <a:xfrm>
                  <a:off x="16891" y="16891"/>
                  <a:ext cx="1317498" cy="1356106"/>
                </a:xfrm>
                <a:custGeom>
                  <a:avLst/>
                  <a:gdLst/>
                  <a:ahLst/>
                  <a:cxnLst/>
                  <a:rect l="l" t="t" r="r" b="b"/>
                  <a:pathLst>
                    <a:path w="1317498" h="1356106">
                      <a:moveTo>
                        <a:pt x="0" y="678180"/>
                      </a:moveTo>
                      <a:cubicBezTo>
                        <a:pt x="0" y="303657"/>
                        <a:pt x="294894" y="0"/>
                        <a:pt x="658749" y="0"/>
                      </a:cubicBezTo>
                      <a:cubicBezTo>
                        <a:pt x="1022604" y="0"/>
                        <a:pt x="1317498" y="303530"/>
                        <a:pt x="1317498" y="678053"/>
                      </a:cubicBezTo>
                      <a:cubicBezTo>
                        <a:pt x="1317498" y="1052576"/>
                        <a:pt x="1022604" y="1356106"/>
                        <a:pt x="658749" y="1356106"/>
                      </a:cubicBezTo>
                      <a:cubicBezTo>
                        <a:pt x="294894" y="1356106"/>
                        <a:pt x="0" y="1052576"/>
                        <a:pt x="0" y="678180"/>
                      </a:cubicBezTo>
                      <a:close/>
                    </a:path>
                  </a:pathLst>
                </a:custGeom>
                <a:solidFill>
                  <a:srgbClr val="FFFFFF"/>
                </a:solidFill>
                <a:ln w="12700">
                  <a:solidFill>
                    <a:schemeClr val="bg1"/>
                  </a:solidFill>
                </a:ln>
              </p:spPr>
            </p:sp>
          </p:grpSp>
          <p:grpSp>
            <p:nvGrpSpPr>
              <p:cNvPr id="110" name="Group 89"/>
              <p:cNvGrpSpPr/>
              <p:nvPr/>
            </p:nvGrpSpPr>
            <p:grpSpPr>
              <a:xfrm>
                <a:off x="5703374" y="2258558"/>
                <a:ext cx="320481" cy="560842"/>
                <a:chOff x="23567" y="-191464"/>
                <a:chExt cx="522688" cy="914703"/>
              </a:xfrm>
            </p:grpSpPr>
            <p:sp>
              <p:nvSpPr>
                <p:cNvPr id="111" name="Freeform 90"/>
                <p:cNvSpPr/>
                <p:nvPr/>
              </p:nvSpPr>
              <p:spPr>
                <a:xfrm>
                  <a:off x="23567" y="-191464"/>
                  <a:ext cx="522688" cy="914703"/>
                </a:xfrm>
                <a:custGeom>
                  <a:avLst/>
                  <a:gdLst/>
                  <a:ahLst/>
                  <a:cxnLst/>
                  <a:rect l="l" t="t" r="r" b="b"/>
                  <a:pathLst>
                    <a:path w="522688" h="914703">
                      <a:moveTo>
                        <a:pt x="252259" y="914703"/>
                      </a:moveTo>
                      <a:cubicBezTo>
                        <a:pt x="164197" y="914703"/>
                        <a:pt x="100146" y="893660"/>
                        <a:pt x="60083" y="851595"/>
                      </a:cubicBezTo>
                      <a:cubicBezTo>
                        <a:pt x="20020" y="809530"/>
                        <a:pt x="0" y="746099"/>
                        <a:pt x="0" y="661283"/>
                      </a:cubicBezTo>
                      <a:lnTo>
                        <a:pt x="0" y="566883"/>
                      </a:lnTo>
                      <a:lnTo>
                        <a:pt x="204638" y="566883"/>
                      </a:lnTo>
                      <a:lnTo>
                        <a:pt x="204638" y="661787"/>
                      </a:lnTo>
                      <a:cubicBezTo>
                        <a:pt x="204638" y="685735"/>
                        <a:pt x="207938" y="705991"/>
                        <a:pt x="214559" y="722575"/>
                      </a:cubicBezTo>
                      <a:cubicBezTo>
                        <a:pt x="221158" y="739159"/>
                        <a:pt x="236006" y="747451"/>
                        <a:pt x="259059" y="747451"/>
                      </a:cubicBezTo>
                      <a:cubicBezTo>
                        <a:pt x="282490" y="747451"/>
                        <a:pt x="297405" y="738473"/>
                        <a:pt x="303848" y="720517"/>
                      </a:cubicBezTo>
                      <a:cubicBezTo>
                        <a:pt x="310268" y="702561"/>
                        <a:pt x="313479" y="673246"/>
                        <a:pt x="313479" y="632533"/>
                      </a:cubicBezTo>
                      <a:lnTo>
                        <a:pt x="313479" y="609957"/>
                      </a:lnTo>
                      <a:cubicBezTo>
                        <a:pt x="313479" y="578847"/>
                        <a:pt x="307705" y="551650"/>
                        <a:pt x="296201" y="528388"/>
                      </a:cubicBezTo>
                      <a:cubicBezTo>
                        <a:pt x="284675" y="505126"/>
                        <a:pt x="262091" y="493506"/>
                        <a:pt x="228449" y="493506"/>
                      </a:cubicBezTo>
                      <a:cubicBezTo>
                        <a:pt x="224280" y="493506"/>
                        <a:pt x="220601" y="493586"/>
                        <a:pt x="217391" y="493768"/>
                      </a:cubicBezTo>
                      <a:cubicBezTo>
                        <a:pt x="214180" y="493949"/>
                        <a:pt x="211438" y="494191"/>
                        <a:pt x="209164" y="494534"/>
                      </a:cubicBezTo>
                      <a:lnTo>
                        <a:pt x="209164" y="332427"/>
                      </a:lnTo>
                      <a:cubicBezTo>
                        <a:pt x="243542" y="332427"/>
                        <a:pt x="269827" y="325507"/>
                        <a:pt x="287974" y="311646"/>
                      </a:cubicBezTo>
                      <a:cubicBezTo>
                        <a:pt x="306122" y="297786"/>
                        <a:pt x="315195" y="274625"/>
                        <a:pt x="315195" y="242143"/>
                      </a:cubicBezTo>
                      <a:cubicBezTo>
                        <a:pt x="315195" y="191180"/>
                        <a:pt x="298943" y="165699"/>
                        <a:pt x="266438" y="165699"/>
                      </a:cubicBezTo>
                      <a:cubicBezTo>
                        <a:pt x="245281" y="165699"/>
                        <a:pt x="231012" y="173144"/>
                        <a:pt x="223633" y="188013"/>
                      </a:cubicBezTo>
                      <a:cubicBezTo>
                        <a:pt x="216254" y="202882"/>
                        <a:pt x="212575" y="221786"/>
                        <a:pt x="212575" y="244705"/>
                      </a:cubicBezTo>
                      <a:lnTo>
                        <a:pt x="212575" y="271901"/>
                      </a:lnTo>
                      <a:lnTo>
                        <a:pt x="6242" y="271901"/>
                      </a:lnTo>
                      <a:cubicBezTo>
                        <a:pt x="5863" y="267806"/>
                        <a:pt x="5574" y="262842"/>
                        <a:pt x="5395" y="257032"/>
                      </a:cubicBezTo>
                      <a:cubicBezTo>
                        <a:pt x="5195" y="251222"/>
                        <a:pt x="5105" y="245573"/>
                        <a:pt x="5105" y="240105"/>
                      </a:cubicBezTo>
                      <a:cubicBezTo>
                        <a:pt x="5105" y="157346"/>
                        <a:pt x="26463" y="96639"/>
                        <a:pt x="69157" y="57984"/>
                      </a:cubicBezTo>
                      <a:cubicBezTo>
                        <a:pt x="111872" y="19328"/>
                        <a:pt x="177239" y="0"/>
                        <a:pt x="265301" y="0"/>
                      </a:cubicBezTo>
                      <a:cubicBezTo>
                        <a:pt x="435361" y="0"/>
                        <a:pt x="520414" y="80035"/>
                        <a:pt x="520414" y="240085"/>
                      </a:cubicBezTo>
                      <a:cubicBezTo>
                        <a:pt x="520414" y="284551"/>
                        <a:pt x="513792" y="321230"/>
                        <a:pt x="500572" y="350120"/>
                      </a:cubicBezTo>
                      <a:cubicBezTo>
                        <a:pt x="487329" y="379031"/>
                        <a:pt x="462783" y="399287"/>
                        <a:pt x="426889" y="410908"/>
                      </a:cubicBezTo>
                      <a:cubicBezTo>
                        <a:pt x="455225" y="423215"/>
                        <a:pt x="476204" y="438952"/>
                        <a:pt x="489804" y="458098"/>
                      </a:cubicBezTo>
                      <a:cubicBezTo>
                        <a:pt x="503403" y="477265"/>
                        <a:pt x="512276" y="501031"/>
                        <a:pt x="516445" y="529417"/>
                      </a:cubicBezTo>
                      <a:cubicBezTo>
                        <a:pt x="520592" y="557804"/>
                        <a:pt x="522688" y="592182"/>
                        <a:pt x="522688" y="632533"/>
                      </a:cubicBezTo>
                      <a:cubicBezTo>
                        <a:pt x="522688" y="722817"/>
                        <a:pt x="501798" y="792421"/>
                        <a:pt x="460041" y="841326"/>
                      </a:cubicBezTo>
                      <a:cubicBezTo>
                        <a:pt x="418261" y="890251"/>
                        <a:pt x="349016" y="914703"/>
                        <a:pt x="252259" y="914703"/>
                      </a:cubicBezTo>
                      <a:close/>
                    </a:path>
                  </a:pathLst>
                </a:custGeom>
                <a:solidFill>
                  <a:srgbClr val="FFC000"/>
                </a:solidFill>
                <a:ln w="12700" cap="sq">
                  <a:solidFill>
                    <a:srgbClr val="000000"/>
                  </a:solidFill>
                  <a:prstDash val="solid"/>
                  <a:miter/>
                </a:ln>
              </p:spPr>
              <p:txBody>
                <a:bodyPr/>
                <a:lstStyle/>
                <a:p>
                  <a:endParaRPr lang="en-US" dirty="0"/>
                </a:p>
              </p:txBody>
            </p:sp>
          </p:grpSp>
        </p:grpSp>
        <p:pic>
          <p:nvPicPr>
            <p:cNvPr id="3" name="Picture 2"/>
            <p:cNvPicPr>
              <a:picLocks noChangeAspect="1"/>
            </p:cNvPicPr>
            <p:nvPr/>
          </p:nvPicPr>
          <p:blipFill>
            <a:blip r:embed="rId11"/>
            <a:stretch>
              <a:fillRect/>
            </a:stretch>
          </p:blipFill>
          <p:spPr>
            <a:xfrm>
              <a:off x="8073070" y="1804100"/>
              <a:ext cx="485843" cy="647790"/>
            </a:xfrm>
            <a:prstGeom prst="rect">
              <a:avLst/>
            </a:prstGeom>
          </p:spPr>
        </p:pic>
        <p:sp>
          <p:nvSpPr>
            <p:cNvPr id="219" name="Freeform 30"/>
            <p:cNvSpPr/>
            <p:nvPr/>
          </p:nvSpPr>
          <p:spPr>
            <a:xfrm>
              <a:off x="8062492" y="2669357"/>
              <a:ext cx="463400" cy="429193"/>
            </a:xfrm>
            <a:custGeom>
              <a:avLst/>
              <a:gdLst/>
              <a:ahLst/>
              <a:cxnLst/>
              <a:rect l="l" t="t" r="r" b="b"/>
              <a:pathLst>
                <a:path w="463400" h="429193">
                  <a:moveTo>
                    <a:pt x="0" y="0"/>
                  </a:moveTo>
                  <a:lnTo>
                    <a:pt x="463400" y="0"/>
                  </a:lnTo>
                  <a:lnTo>
                    <a:pt x="463400" y="429193"/>
                  </a:lnTo>
                  <a:lnTo>
                    <a:pt x="0" y="429193"/>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grpSp>
      <p:grpSp>
        <p:nvGrpSpPr>
          <p:cNvPr id="126" name="Group 8"/>
          <p:cNvGrpSpPr/>
          <p:nvPr/>
        </p:nvGrpSpPr>
        <p:grpSpPr>
          <a:xfrm>
            <a:off x="260201" y="6832240"/>
            <a:ext cx="9233200" cy="331402"/>
            <a:chOff x="0" y="-19049"/>
            <a:chExt cx="12310933" cy="441869"/>
          </a:xfrm>
        </p:grpSpPr>
        <p:grpSp>
          <p:nvGrpSpPr>
            <p:cNvPr id="220" name="Group 9"/>
            <p:cNvGrpSpPr>
              <a:grpSpLocks noChangeAspect="1"/>
            </p:cNvGrpSpPr>
            <p:nvPr/>
          </p:nvGrpSpPr>
          <p:grpSpPr>
            <a:xfrm>
              <a:off x="2682866" y="46656"/>
              <a:ext cx="9628067" cy="146307"/>
              <a:chOff x="90219" y="0"/>
              <a:chExt cx="12362509" cy="187859"/>
            </a:xfrm>
          </p:grpSpPr>
          <p:sp>
            <p:nvSpPr>
              <p:cNvPr id="223"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14"/>
                <a:stretch>
                  <a:fillRect r="-22539" b="6"/>
                </a:stretch>
              </a:blipFill>
            </p:spPr>
          </p:sp>
        </p:grpSp>
        <p:sp>
          <p:nvSpPr>
            <p:cNvPr id="22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2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070" y="137149"/>
            <a:ext cx="3136094" cy="765139"/>
            <a:chOff x="0" y="0"/>
            <a:chExt cx="4181458" cy="1020185"/>
          </a:xfrm>
        </p:grpSpPr>
        <p:grpSp>
          <p:nvGrpSpPr>
            <p:cNvPr id="3" name="Group 3"/>
            <p:cNvGrpSpPr/>
            <p:nvPr/>
          </p:nvGrpSpPr>
          <p:grpSpPr>
            <a:xfrm>
              <a:off x="393157" y="30721"/>
              <a:ext cx="3788302" cy="951389"/>
              <a:chOff x="0" y="0"/>
              <a:chExt cx="3788302" cy="951389"/>
            </a:xfrm>
          </p:grpSpPr>
          <p:sp>
            <p:nvSpPr>
              <p:cNvPr id="4" name="Freeform 4"/>
              <p:cNvSpPr/>
              <p:nvPr/>
            </p:nvSpPr>
            <p:spPr>
              <a:xfrm>
                <a:off x="0" y="0"/>
                <a:ext cx="3788302" cy="951389"/>
              </a:xfrm>
              <a:custGeom>
                <a:avLst/>
                <a:gdLst/>
                <a:ahLst/>
                <a:cxnLst/>
                <a:rect l="l" t="t" r="r" b="b"/>
                <a:pathLst>
                  <a:path w="3788302" h="951389">
                    <a:moveTo>
                      <a:pt x="0" y="0"/>
                    </a:moveTo>
                    <a:lnTo>
                      <a:pt x="3788302" y="0"/>
                    </a:lnTo>
                    <a:lnTo>
                      <a:pt x="3788302" y="951389"/>
                    </a:lnTo>
                    <a:lnTo>
                      <a:pt x="0" y="951389"/>
                    </a:lnTo>
                    <a:close/>
                  </a:path>
                </a:pathLst>
              </a:custGeom>
              <a:solidFill>
                <a:srgbClr val="000000">
                  <a:alpha val="0"/>
                </a:srgbClr>
              </a:solidFill>
            </p:spPr>
          </p:sp>
          <p:sp>
            <p:nvSpPr>
              <p:cNvPr id="5" name="TextBox 5"/>
              <p:cNvSpPr txBox="1"/>
              <p:nvPr/>
            </p:nvSpPr>
            <p:spPr>
              <a:xfrm>
                <a:off x="0" y="-19050"/>
                <a:ext cx="378830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1.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Tổng</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quan</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6" name="AutoShape 6"/>
            <p:cNvSpPr/>
            <p:nvPr/>
          </p:nvSpPr>
          <p:spPr>
            <a:xfrm>
              <a:off x="105976" y="1007485"/>
              <a:ext cx="4007567" cy="0"/>
            </a:xfrm>
            <a:prstGeom prst="line">
              <a:avLst/>
            </a:prstGeom>
            <a:ln w="25400" cap="rnd">
              <a:solidFill>
                <a:srgbClr val="5B9BD5"/>
              </a:solidFill>
              <a:prstDash val="solid"/>
              <a:headEnd type="none" w="sm" len="sm"/>
              <a:tailEnd type="none" w="sm" len="sm"/>
            </a:ln>
          </p:spPr>
        </p:sp>
        <p:grpSp>
          <p:nvGrpSpPr>
            <p:cNvPr id="7" name="Group 7"/>
            <p:cNvGrpSpPr/>
            <p:nvPr/>
          </p:nvGrpSpPr>
          <p:grpSpPr>
            <a:xfrm>
              <a:off x="0" y="0"/>
              <a:ext cx="211952" cy="1020185"/>
              <a:chOff x="0" y="0"/>
              <a:chExt cx="211952" cy="1020185"/>
            </a:xfrm>
          </p:grpSpPr>
          <p:sp>
            <p:nvSpPr>
              <p:cNvPr id="8" name="Freeform 8"/>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9" name="Freeform 9"/>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10" name="TextBox 10"/>
          <p:cNvSpPr txBox="1"/>
          <p:nvPr/>
        </p:nvSpPr>
        <p:spPr>
          <a:xfrm>
            <a:off x="487680" y="1009716"/>
            <a:ext cx="3322320" cy="438084"/>
          </a:xfrm>
          <a:prstGeom prst="rect">
            <a:avLst/>
          </a:prstGeom>
        </p:spPr>
        <p:txBody>
          <a:bodyPr wrap="square" lIns="0" tIns="0" rIns="0" bIns="0" rtlCol="0" anchor="t">
            <a:spAutoFit/>
          </a:bodyPr>
          <a:lstStyle/>
          <a:p>
            <a:pPr algn="l">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Lý</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do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chọn</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đề</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tài</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11" name="Group 11"/>
          <p:cNvGrpSpPr/>
          <p:nvPr/>
        </p:nvGrpSpPr>
        <p:grpSpPr>
          <a:xfrm>
            <a:off x="636613" y="2029498"/>
            <a:ext cx="4145280" cy="1645920"/>
            <a:chOff x="0" y="0"/>
            <a:chExt cx="1535289" cy="609600"/>
          </a:xfrm>
        </p:grpSpPr>
        <p:sp>
          <p:nvSpPr>
            <p:cNvPr id="12" name="Freeform 12"/>
            <p:cNvSpPr/>
            <p:nvPr/>
          </p:nvSpPr>
          <p:spPr>
            <a:xfrm>
              <a:off x="5215" y="0"/>
              <a:ext cx="1524859" cy="609600"/>
            </a:xfrm>
            <a:custGeom>
              <a:avLst/>
              <a:gdLst/>
              <a:ahLst/>
              <a:cxnLst/>
              <a:rect l="l" t="t" r="r" b="b"/>
              <a:pathLst>
                <a:path w="1524859" h="609600">
                  <a:moveTo>
                    <a:pt x="1308197" y="0"/>
                  </a:moveTo>
                  <a:lnTo>
                    <a:pt x="13461" y="0"/>
                  </a:lnTo>
                  <a:cubicBezTo>
                    <a:pt x="9134" y="0"/>
                    <a:pt x="5071" y="2080"/>
                    <a:pt x="2541" y="5590"/>
                  </a:cubicBezTo>
                  <a:cubicBezTo>
                    <a:pt x="11" y="9101"/>
                    <a:pt x="-677" y="13613"/>
                    <a:pt x="691" y="17718"/>
                  </a:cubicBezTo>
                  <a:lnTo>
                    <a:pt x="192079" y="591882"/>
                  </a:lnTo>
                  <a:cubicBezTo>
                    <a:pt x="195606" y="602463"/>
                    <a:pt x="205508" y="609600"/>
                    <a:pt x="216661" y="609600"/>
                  </a:cubicBezTo>
                  <a:lnTo>
                    <a:pt x="1511397" y="609600"/>
                  </a:lnTo>
                  <a:cubicBezTo>
                    <a:pt x="1515724" y="609600"/>
                    <a:pt x="1519788" y="607520"/>
                    <a:pt x="1522318" y="604010"/>
                  </a:cubicBezTo>
                  <a:cubicBezTo>
                    <a:pt x="1524848" y="600499"/>
                    <a:pt x="1525536" y="595987"/>
                    <a:pt x="1524168" y="591882"/>
                  </a:cubicBezTo>
                  <a:lnTo>
                    <a:pt x="1332780" y="17718"/>
                  </a:lnTo>
                  <a:cubicBezTo>
                    <a:pt x="1329253" y="7137"/>
                    <a:pt x="1319351" y="0"/>
                    <a:pt x="1308197" y="0"/>
                  </a:cubicBezTo>
                  <a:close/>
                </a:path>
              </a:pathLst>
            </a:custGeom>
            <a:solidFill>
              <a:srgbClr val="000000">
                <a:alpha val="0"/>
              </a:srgbClr>
            </a:solidFill>
            <a:ln w="47625" cap="sq">
              <a:solidFill>
                <a:srgbClr val="1F5CA9"/>
              </a:solidFill>
              <a:prstDash val="solid"/>
              <a:miter/>
            </a:ln>
          </p:spPr>
        </p:sp>
        <p:sp>
          <p:nvSpPr>
            <p:cNvPr id="13" name="TextBox 13"/>
            <p:cNvSpPr txBox="1"/>
            <p:nvPr/>
          </p:nvSpPr>
          <p:spPr>
            <a:xfrm>
              <a:off x="101600" y="-19050"/>
              <a:ext cx="1332089" cy="628650"/>
            </a:xfrm>
            <a:prstGeom prst="rect">
              <a:avLst/>
            </a:prstGeom>
          </p:spPr>
          <p:txBody>
            <a:bodyPr lIns="50800" tIns="50800" rIns="50800" bIns="50800" rtlCol="0" anchor="ctr"/>
            <a:lstStyle/>
            <a:p>
              <a:pPr algn="ctr">
                <a:lnSpc>
                  <a:spcPts val="1415"/>
                </a:lnSpc>
              </a:pPr>
              <a:endParaRPr/>
            </a:p>
          </p:txBody>
        </p:sp>
      </p:grpSp>
      <p:grpSp>
        <p:nvGrpSpPr>
          <p:cNvPr id="14" name="Group 14"/>
          <p:cNvGrpSpPr/>
          <p:nvPr/>
        </p:nvGrpSpPr>
        <p:grpSpPr>
          <a:xfrm>
            <a:off x="636613" y="4206747"/>
            <a:ext cx="4145280" cy="1645920"/>
            <a:chOff x="0" y="0"/>
            <a:chExt cx="1535289" cy="609600"/>
          </a:xfrm>
        </p:grpSpPr>
        <p:sp>
          <p:nvSpPr>
            <p:cNvPr id="15" name="Freeform 15"/>
            <p:cNvSpPr/>
            <p:nvPr/>
          </p:nvSpPr>
          <p:spPr>
            <a:xfrm>
              <a:off x="5215" y="0"/>
              <a:ext cx="1524859" cy="609600"/>
            </a:xfrm>
            <a:custGeom>
              <a:avLst/>
              <a:gdLst/>
              <a:ahLst/>
              <a:cxnLst/>
              <a:rect l="l" t="t" r="r" b="b"/>
              <a:pathLst>
                <a:path w="1524859" h="609600">
                  <a:moveTo>
                    <a:pt x="1308197" y="0"/>
                  </a:moveTo>
                  <a:lnTo>
                    <a:pt x="13461" y="0"/>
                  </a:lnTo>
                  <a:cubicBezTo>
                    <a:pt x="9134" y="0"/>
                    <a:pt x="5071" y="2080"/>
                    <a:pt x="2541" y="5590"/>
                  </a:cubicBezTo>
                  <a:cubicBezTo>
                    <a:pt x="11" y="9101"/>
                    <a:pt x="-677" y="13613"/>
                    <a:pt x="691" y="17718"/>
                  </a:cubicBezTo>
                  <a:lnTo>
                    <a:pt x="192079" y="591882"/>
                  </a:lnTo>
                  <a:cubicBezTo>
                    <a:pt x="195606" y="602463"/>
                    <a:pt x="205508" y="609600"/>
                    <a:pt x="216661" y="609600"/>
                  </a:cubicBezTo>
                  <a:lnTo>
                    <a:pt x="1511397" y="609600"/>
                  </a:lnTo>
                  <a:cubicBezTo>
                    <a:pt x="1515724" y="609600"/>
                    <a:pt x="1519788" y="607520"/>
                    <a:pt x="1522318" y="604010"/>
                  </a:cubicBezTo>
                  <a:cubicBezTo>
                    <a:pt x="1524848" y="600499"/>
                    <a:pt x="1525536" y="595987"/>
                    <a:pt x="1524168" y="591882"/>
                  </a:cubicBezTo>
                  <a:lnTo>
                    <a:pt x="1332780" y="17718"/>
                  </a:lnTo>
                  <a:cubicBezTo>
                    <a:pt x="1329253" y="7137"/>
                    <a:pt x="1319351" y="0"/>
                    <a:pt x="1308197" y="0"/>
                  </a:cubicBezTo>
                  <a:close/>
                </a:path>
              </a:pathLst>
            </a:custGeom>
            <a:solidFill>
              <a:srgbClr val="000000">
                <a:alpha val="0"/>
              </a:srgbClr>
            </a:solidFill>
            <a:ln w="47625" cap="sq">
              <a:solidFill>
                <a:srgbClr val="1F5CA9"/>
              </a:solidFill>
              <a:prstDash val="solid"/>
              <a:miter/>
            </a:ln>
          </p:spPr>
        </p:sp>
        <p:sp>
          <p:nvSpPr>
            <p:cNvPr id="16" name="TextBox 16"/>
            <p:cNvSpPr txBox="1"/>
            <p:nvPr/>
          </p:nvSpPr>
          <p:spPr>
            <a:xfrm>
              <a:off x="101600" y="-19050"/>
              <a:ext cx="1332089" cy="628650"/>
            </a:xfrm>
            <a:prstGeom prst="rect">
              <a:avLst/>
            </a:prstGeom>
          </p:spPr>
          <p:txBody>
            <a:bodyPr lIns="50800" tIns="50800" rIns="50800" bIns="50800" rtlCol="0" anchor="ctr"/>
            <a:lstStyle/>
            <a:p>
              <a:pPr algn="ctr">
                <a:lnSpc>
                  <a:spcPts val="1415"/>
                </a:lnSpc>
              </a:pPr>
              <a:endParaRPr/>
            </a:p>
          </p:txBody>
        </p:sp>
      </p:grpSp>
      <p:grpSp>
        <p:nvGrpSpPr>
          <p:cNvPr id="17" name="Group 17"/>
          <p:cNvGrpSpPr/>
          <p:nvPr/>
        </p:nvGrpSpPr>
        <p:grpSpPr>
          <a:xfrm>
            <a:off x="5018116" y="2029498"/>
            <a:ext cx="4145280" cy="1645920"/>
            <a:chOff x="0" y="0"/>
            <a:chExt cx="1535289" cy="609600"/>
          </a:xfrm>
        </p:grpSpPr>
        <p:sp>
          <p:nvSpPr>
            <p:cNvPr id="18" name="Freeform 18"/>
            <p:cNvSpPr/>
            <p:nvPr/>
          </p:nvSpPr>
          <p:spPr>
            <a:xfrm>
              <a:off x="5215" y="0"/>
              <a:ext cx="1524859" cy="609600"/>
            </a:xfrm>
            <a:custGeom>
              <a:avLst/>
              <a:gdLst/>
              <a:ahLst/>
              <a:cxnLst/>
              <a:rect l="l" t="t" r="r" b="b"/>
              <a:pathLst>
                <a:path w="1524859" h="609600">
                  <a:moveTo>
                    <a:pt x="216661" y="0"/>
                  </a:moveTo>
                  <a:lnTo>
                    <a:pt x="1511397" y="0"/>
                  </a:lnTo>
                  <a:cubicBezTo>
                    <a:pt x="1515724" y="0"/>
                    <a:pt x="1519788" y="2080"/>
                    <a:pt x="1522318" y="5590"/>
                  </a:cubicBezTo>
                  <a:cubicBezTo>
                    <a:pt x="1524848" y="9101"/>
                    <a:pt x="1525536" y="13613"/>
                    <a:pt x="1524168" y="17718"/>
                  </a:cubicBezTo>
                  <a:lnTo>
                    <a:pt x="1332780" y="591882"/>
                  </a:lnTo>
                  <a:cubicBezTo>
                    <a:pt x="1329253" y="602463"/>
                    <a:pt x="1319351" y="609600"/>
                    <a:pt x="1308197" y="609600"/>
                  </a:cubicBezTo>
                  <a:lnTo>
                    <a:pt x="13461" y="609600"/>
                  </a:lnTo>
                  <a:cubicBezTo>
                    <a:pt x="9134" y="609600"/>
                    <a:pt x="5071" y="607520"/>
                    <a:pt x="2541" y="604010"/>
                  </a:cubicBezTo>
                  <a:cubicBezTo>
                    <a:pt x="11" y="600499"/>
                    <a:pt x="-677" y="595987"/>
                    <a:pt x="691" y="591882"/>
                  </a:cubicBezTo>
                  <a:lnTo>
                    <a:pt x="192079" y="17718"/>
                  </a:lnTo>
                  <a:cubicBezTo>
                    <a:pt x="195606" y="7137"/>
                    <a:pt x="205508" y="0"/>
                    <a:pt x="216661" y="0"/>
                  </a:cubicBezTo>
                  <a:close/>
                </a:path>
              </a:pathLst>
            </a:custGeom>
            <a:solidFill>
              <a:srgbClr val="000000">
                <a:alpha val="0"/>
              </a:srgbClr>
            </a:solidFill>
            <a:ln w="47625" cap="sq">
              <a:solidFill>
                <a:srgbClr val="1F5CA9"/>
              </a:solidFill>
              <a:prstDash val="solid"/>
              <a:miter/>
            </a:ln>
          </p:spPr>
        </p:sp>
        <p:sp>
          <p:nvSpPr>
            <p:cNvPr id="19" name="TextBox 19"/>
            <p:cNvSpPr txBox="1"/>
            <p:nvPr/>
          </p:nvSpPr>
          <p:spPr>
            <a:xfrm>
              <a:off x="101600" y="-19050"/>
              <a:ext cx="1332089" cy="628650"/>
            </a:xfrm>
            <a:prstGeom prst="rect">
              <a:avLst/>
            </a:prstGeom>
          </p:spPr>
          <p:txBody>
            <a:bodyPr lIns="50800" tIns="50800" rIns="50800" bIns="50800" rtlCol="0" anchor="ctr"/>
            <a:lstStyle/>
            <a:p>
              <a:pPr algn="ctr">
                <a:lnSpc>
                  <a:spcPts val="1415"/>
                </a:lnSpc>
              </a:pPr>
              <a:endParaRPr/>
            </a:p>
          </p:txBody>
        </p:sp>
      </p:grpSp>
      <p:grpSp>
        <p:nvGrpSpPr>
          <p:cNvPr id="20" name="Group 20"/>
          <p:cNvGrpSpPr/>
          <p:nvPr/>
        </p:nvGrpSpPr>
        <p:grpSpPr>
          <a:xfrm>
            <a:off x="5018116" y="4206747"/>
            <a:ext cx="4145280" cy="1645920"/>
            <a:chOff x="0" y="0"/>
            <a:chExt cx="1535289" cy="609600"/>
          </a:xfrm>
        </p:grpSpPr>
        <p:sp>
          <p:nvSpPr>
            <p:cNvPr id="21" name="Freeform 21"/>
            <p:cNvSpPr/>
            <p:nvPr/>
          </p:nvSpPr>
          <p:spPr>
            <a:xfrm>
              <a:off x="5215" y="0"/>
              <a:ext cx="1524859" cy="609600"/>
            </a:xfrm>
            <a:custGeom>
              <a:avLst/>
              <a:gdLst/>
              <a:ahLst/>
              <a:cxnLst/>
              <a:rect l="l" t="t" r="r" b="b"/>
              <a:pathLst>
                <a:path w="1524859" h="609600">
                  <a:moveTo>
                    <a:pt x="216661" y="0"/>
                  </a:moveTo>
                  <a:lnTo>
                    <a:pt x="1511397" y="0"/>
                  </a:lnTo>
                  <a:cubicBezTo>
                    <a:pt x="1515724" y="0"/>
                    <a:pt x="1519788" y="2080"/>
                    <a:pt x="1522318" y="5590"/>
                  </a:cubicBezTo>
                  <a:cubicBezTo>
                    <a:pt x="1524848" y="9101"/>
                    <a:pt x="1525536" y="13613"/>
                    <a:pt x="1524168" y="17718"/>
                  </a:cubicBezTo>
                  <a:lnTo>
                    <a:pt x="1332780" y="591882"/>
                  </a:lnTo>
                  <a:cubicBezTo>
                    <a:pt x="1329253" y="602463"/>
                    <a:pt x="1319351" y="609600"/>
                    <a:pt x="1308197" y="609600"/>
                  </a:cubicBezTo>
                  <a:lnTo>
                    <a:pt x="13461" y="609600"/>
                  </a:lnTo>
                  <a:cubicBezTo>
                    <a:pt x="9134" y="609600"/>
                    <a:pt x="5071" y="607520"/>
                    <a:pt x="2541" y="604010"/>
                  </a:cubicBezTo>
                  <a:cubicBezTo>
                    <a:pt x="11" y="600499"/>
                    <a:pt x="-677" y="595987"/>
                    <a:pt x="691" y="591882"/>
                  </a:cubicBezTo>
                  <a:lnTo>
                    <a:pt x="192079" y="17718"/>
                  </a:lnTo>
                  <a:cubicBezTo>
                    <a:pt x="195606" y="7137"/>
                    <a:pt x="205508" y="0"/>
                    <a:pt x="216661" y="0"/>
                  </a:cubicBezTo>
                  <a:close/>
                </a:path>
              </a:pathLst>
            </a:custGeom>
            <a:solidFill>
              <a:srgbClr val="000000">
                <a:alpha val="0"/>
              </a:srgbClr>
            </a:solidFill>
            <a:ln w="47625" cap="sq">
              <a:solidFill>
                <a:srgbClr val="1F5CA9"/>
              </a:solidFill>
              <a:prstDash val="solid"/>
              <a:miter/>
            </a:ln>
          </p:spPr>
        </p:sp>
        <p:sp>
          <p:nvSpPr>
            <p:cNvPr id="22" name="TextBox 22"/>
            <p:cNvSpPr txBox="1"/>
            <p:nvPr/>
          </p:nvSpPr>
          <p:spPr>
            <a:xfrm>
              <a:off x="101600" y="-19050"/>
              <a:ext cx="1332089" cy="628650"/>
            </a:xfrm>
            <a:prstGeom prst="rect">
              <a:avLst/>
            </a:prstGeom>
          </p:spPr>
          <p:txBody>
            <a:bodyPr lIns="50800" tIns="50800" rIns="50800" bIns="50800" rtlCol="0" anchor="ctr"/>
            <a:lstStyle/>
            <a:p>
              <a:pPr algn="ctr">
                <a:lnSpc>
                  <a:spcPts val="1415"/>
                </a:lnSpc>
              </a:pPr>
              <a:endParaRPr/>
            </a:p>
          </p:txBody>
        </p:sp>
      </p:grpSp>
      <p:sp>
        <p:nvSpPr>
          <p:cNvPr id="23" name="TextBox 23"/>
          <p:cNvSpPr txBox="1"/>
          <p:nvPr/>
        </p:nvSpPr>
        <p:spPr>
          <a:xfrm>
            <a:off x="687874" y="2049915"/>
            <a:ext cx="4042756" cy="1523494"/>
          </a:xfrm>
          <a:prstGeom prst="rect">
            <a:avLst/>
          </a:prstGeom>
        </p:spPr>
        <p:txBody>
          <a:bodyPr lIns="0" tIns="0" rIns="0" bIns="0" rtlCol="0" anchor="t">
            <a:spAutoFit/>
          </a:bodyPr>
          <a:lstStyle/>
          <a:p>
            <a:pPr>
              <a:lnSpc>
                <a:spcPct val="150000"/>
              </a:lnSpc>
              <a:spcBef>
                <a:spcPct val="0"/>
              </a:spcBef>
            </a:pPr>
            <a:r>
              <a:rPr 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Nhu</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cầu</a:t>
            </a:r>
            <a:r>
              <a:rPr 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a:solidFill>
                  <a:srgbClr val="002060"/>
                </a:solidFill>
                <a:latin typeface="Arial" panose="020B0604020202020204" pitchFamily="34" charset="0"/>
                <a:cs typeface="Arial" panose="020B0604020202020204" pitchFamily="34" charset="0"/>
              </a:rPr>
              <a:t>mua</a:t>
            </a:r>
            <a:r>
              <a:rPr lang="en-US" sz="2200" dirty="0">
                <a:solidFill>
                  <a:srgbClr val="002060"/>
                </a:solidFill>
                <a:latin typeface="Arial" panose="020B0604020202020204" pitchFamily="34" charset="0"/>
                <a:cs typeface="Arial" panose="020B0604020202020204" pitchFamily="34" charset="0"/>
              </a:rPr>
              <a:t> </a:t>
            </a:r>
            <a:r>
              <a:rPr lang="en-US" sz="2200" dirty="0" err="1">
                <a:solidFill>
                  <a:srgbClr val="002060"/>
                </a:solidFill>
                <a:latin typeface="Arial" panose="020B0604020202020204" pitchFamily="34" charset="0"/>
                <a:cs typeface="Arial" panose="020B0604020202020204" pitchFamily="34" charset="0"/>
              </a:rPr>
              <a:t>bán</a:t>
            </a:r>
            <a:r>
              <a:rPr lang="en-US" sz="2200" dirty="0">
                <a:solidFill>
                  <a:srgbClr val="002060"/>
                </a:solidFill>
                <a:latin typeface="Arial" panose="020B0604020202020204" pitchFamily="34" charset="0"/>
                <a:cs typeface="Arial" panose="020B0604020202020204" pitchFamily="34" charset="0"/>
              </a:rPr>
              <a:t> </a:t>
            </a:r>
            <a:r>
              <a:rPr lang="en-US" sz="2200" dirty="0" smtClean="0">
                <a:solidFill>
                  <a:srgbClr val="002060"/>
                </a:solidFill>
                <a:latin typeface="Arial" panose="020B0604020202020204" pitchFamily="34" charset="0"/>
                <a:cs typeface="Arial" panose="020B0604020202020204" pitchFamily="34" charset="0"/>
              </a:rPr>
              <a:t>laptop</a:t>
            </a:r>
          </a:p>
          <a:p>
            <a:pPr>
              <a:lnSpc>
                <a:spcPct val="150000"/>
              </a:lnSpc>
              <a:spcBef>
                <a:spcPct val="0"/>
              </a:spcBef>
            </a:pPr>
            <a:r>
              <a:rPr lang="en-US" sz="2200" dirty="0">
                <a:solidFill>
                  <a:srgbClr val="002060"/>
                </a:solidFill>
                <a:latin typeface="Arial" panose="020B0604020202020204" pitchFamily="34" charset="0"/>
                <a:cs typeface="Arial" panose="020B0604020202020204" pitchFamily="34" charset="0"/>
              </a:rPr>
              <a:t> </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đã</a:t>
            </a:r>
            <a:r>
              <a:rPr lang="en-US" sz="2200" dirty="0" smtClean="0">
                <a:solidFill>
                  <a:srgbClr val="002060"/>
                </a:solidFill>
                <a:latin typeface="Arial" panose="020B0604020202020204" pitchFamily="34" charset="0"/>
                <a:cs typeface="Arial" panose="020B0604020202020204" pitchFamily="34" charset="0"/>
              </a:rPr>
              <a:t> </a:t>
            </a:r>
            <a:r>
              <a:rPr lang="en-US" sz="2200" dirty="0">
                <a:solidFill>
                  <a:srgbClr val="002060"/>
                </a:solidFill>
                <a:latin typeface="Arial" panose="020B0604020202020204" pitchFamily="34" charset="0"/>
                <a:cs typeface="Arial" panose="020B0604020202020204" pitchFamily="34" charset="0"/>
              </a:rPr>
              <a:t>qua </a:t>
            </a:r>
            <a:r>
              <a:rPr lang="en-US" sz="2200" dirty="0" err="1">
                <a:solidFill>
                  <a:srgbClr val="002060"/>
                </a:solidFill>
                <a:latin typeface="Arial" panose="020B0604020202020204" pitchFamily="34" charset="0"/>
                <a:cs typeface="Arial" panose="020B0604020202020204" pitchFamily="34" charset="0"/>
              </a:rPr>
              <a:t>sử</a:t>
            </a:r>
            <a:r>
              <a:rPr lang="en-US" sz="2200" dirty="0">
                <a:solidFill>
                  <a:srgbClr val="002060"/>
                </a:solidFill>
                <a:latin typeface="Arial" panose="020B0604020202020204" pitchFamily="34" charset="0"/>
                <a:cs typeface="Arial" panose="020B0604020202020204" pitchFamily="34" charset="0"/>
              </a:rPr>
              <a:t> </a:t>
            </a:r>
            <a:r>
              <a:rPr lang="en-US" sz="2200" dirty="0" err="1">
                <a:solidFill>
                  <a:srgbClr val="002060"/>
                </a:solidFill>
                <a:latin typeface="Arial" panose="020B0604020202020204" pitchFamily="34" charset="0"/>
                <a:cs typeface="Arial" panose="020B0604020202020204" pitchFamily="34" charset="0"/>
              </a:rPr>
              <a:t>dụng</a:t>
            </a:r>
            <a:r>
              <a:rPr lang="en-US" sz="2200" dirty="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ngày</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càng</a:t>
            </a:r>
            <a:endParaRPr lang="en-US" sz="2200" dirty="0" smtClean="0">
              <a:solidFill>
                <a:srgbClr val="002060"/>
              </a:solidFill>
              <a:latin typeface="Arial" panose="020B0604020202020204" pitchFamily="34" charset="0"/>
              <a:cs typeface="Arial" panose="020B0604020202020204" pitchFamily="34" charset="0"/>
            </a:endParaRPr>
          </a:p>
          <a:p>
            <a:pPr>
              <a:lnSpc>
                <a:spcPct val="150000"/>
              </a:lnSpc>
              <a:spcBef>
                <a:spcPct val="0"/>
              </a:spcBef>
            </a:pP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tăng</a:t>
            </a:r>
            <a:r>
              <a:rPr lang="en-US" sz="2200" dirty="0" smtClean="0">
                <a:solidFill>
                  <a:srgbClr val="002060"/>
                </a:solidFill>
                <a:latin typeface="Arial" panose="020B0604020202020204" pitchFamily="34" charset="0"/>
                <a:cs typeface="Arial" panose="020B0604020202020204" pitchFamily="34" charset="0"/>
              </a:rPr>
              <a:t>.</a:t>
            </a:r>
            <a:endParaRPr 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sp>
        <p:nvSpPr>
          <p:cNvPr id="24" name="TextBox 24"/>
          <p:cNvSpPr txBox="1"/>
          <p:nvPr/>
        </p:nvSpPr>
        <p:spPr>
          <a:xfrm>
            <a:off x="5018115" y="2060801"/>
            <a:ext cx="4145280" cy="1523494"/>
          </a:xfrm>
          <a:prstGeom prst="rect">
            <a:avLst/>
          </a:prstGeom>
        </p:spPr>
        <p:txBody>
          <a:bodyPr lIns="0" tIns="0" rIns="0" bIns="0" rtlCol="0" anchor="t">
            <a:spAutoFit/>
          </a:bodyPr>
          <a:lstStyle/>
          <a:p>
            <a:pPr>
              <a:lnSpc>
                <a:spcPct val="150000"/>
              </a:lnSpc>
              <a:spcBef>
                <a:spcPct val="0"/>
              </a:spcBef>
            </a:pP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Q</a:t>
            </a:r>
            <a:r>
              <a:rPr lang="en-US" sz="2200" dirty="0" err="1" smtClean="0">
                <a:solidFill>
                  <a:srgbClr val="002060"/>
                </a:solidFill>
                <a:latin typeface="Arial" panose="020B0604020202020204" pitchFamily="34" charset="0"/>
                <a:cs typeface="Arial" panose="020B0604020202020204" pitchFamily="34" charset="0"/>
              </a:rPr>
              <a:t>uản</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lý</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thủ</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công</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thiếu</a:t>
            </a:r>
            <a:r>
              <a:rPr lang="en-US" sz="2200" dirty="0" smtClean="0">
                <a:solidFill>
                  <a:srgbClr val="002060"/>
                </a:solidFill>
                <a:latin typeface="Arial" panose="020B0604020202020204" pitchFamily="34" charset="0"/>
                <a:cs typeface="Arial" panose="020B0604020202020204" pitchFamily="34" charset="0"/>
              </a:rPr>
              <a:t> </a:t>
            </a:r>
          </a:p>
          <a:p>
            <a:pPr>
              <a:lnSpc>
                <a:spcPct val="150000"/>
              </a:lnSpc>
              <a:spcBef>
                <a:spcPct val="0"/>
              </a:spcBef>
            </a:pP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hệ</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thống</a:t>
            </a:r>
            <a:r>
              <a:rPr lang="en-US" sz="2200" dirty="0" smtClean="0">
                <a:solidFill>
                  <a:srgbClr val="002060"/>
                </a:solidFill>
                <a:latin typeface="Arial" panose="020B0604020202020204" pitchFamily="34" charset="0"/>
                <a:cs typeface="Arial" panose="020B0604020202020204" pitchFamily="34" charset="0"/>
              </a:rPr>
              <a:t> website </a:t>
            </a:r>
            <a:r>
              <a:rPr lang="en-US" sz="2200" dirty="0" err="1" smtClean="0">
                <a:solidFill>
                  <a:srgbClr val="002060"/>
                </a:solidFill>
                <a:latin typeface="Arial" panose="020B0604020202020204" pitchFamily="34" charset="0"/>
                <a:cs typeface="Arial" panose="020B0604020202020204" pitchFamily="34" charset="0"/>
              </a:rPr>
              <a:t>bán</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hàng</a:t>
            </a:r>
            <a:endParaRPr lang="en-US" sz="2200" dirty="0" smtClean="0">
              <a:solidFill>
                <a:srgbClr val="002060"/>
              </a:solidFill>
              <a:latin typeface="Arial" panose="020B0604020202020204" pitchFamily="34" charset="0"/>
              <a:cs typeface="Arial" panose="020B0604020202020204" pitchFamily="34" charset="0"/>
            </a:endParaRPr>
          </a:p>
          <a:p>
            <a:pPr>
              <a:lnSpc>
                <a:spcPct val="150000"/>
              </a:lnSpc>
              <a:spcBef>
                <a:spcPct val="0"/>
              </a:spcBef>
            </a:pP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và</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quản</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lý</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tập</a:t>
            </a:r>
            <a:r>
              <a:rPr lang="en-US" sz="2200" dirty="0" smtClean="0">
                <a:solidFill>
                  <a:srgbClr val="002060"/>
                </a:solidFill>
                <a:latin typeface="Arial" panose="020B0604020202020204" pitchFamily="34" charset="0"/>
                <a:cs typeface="Arial" panose="020B0604020202020204" pitchFamily="34" charset="0"/>
              </a:rPr>
              <a:t> </a:t>
            </a:r>
            <a:r>
              <a:rPr lang="en-US" sz="2200" dirty="0" err="1" smtClean="0">
                <a:solidFill>
                  <a:srgbClr val="002060"/>
                </a:solidFill>
                <a:latin typeface="Arial" panose="020B0604020202020204" pitchFamily="34" charset="0"/>
                <a:cs typeface="Arial" panose="020B0604020202020204" pitchFamily="34" charset="0"/>
              </a:rPr>
              <a:t>trung</a:t>
            </a:r>
            <a:r>
              <a:rPr lang="en-US" sz="2200" dirty="0" smtClean="0">
                <a:solidFill>
                  <a:srgbClr val="002060"/>
                </a:solidFill>
                <a:latin typeface="Arial" panose="020B0604020202020204" pitchFamily="34" charset="0"/>
                <a:cs typeface="Arial" panose="020B0604020202020204" pitchFamily="34" charset="0"/>
              </a:rPr>
              <a:t>.</a:t>
            </a:r>
            <a:endParaRPr lang="en-US" sz="2200" spc="-48"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sp>
        <p:nvSpPr>
          <p:cNvPr id="25" name="TextBox 25"/>
          <p:cNvSpPr txBox="1"/>
          <p:nvPr/>
        </p:nvSpPr>
        <p:spPr>
          <a:xfrm>
            <a:off x="5028052" y="4527544"/>
            <a:ext cx="4145280" cy="1015663"/>
          </a:xfrm>
          <a:prstGeom prst="rect">
            <a:avLst/>
          </a:prstGeom>
        </p:spPr>
        <p:txBody>
          <a:bodyPr lIns="0" tIns="0" rIns="0" bIns="0" rtlCol="0" anchor="t">
            <a:spAutoFit/>
          </a:bodyPr>
          <a:lstStyle/>
          <a:p>
            <a:pPr algn="l">
              <a:lnSpc>
                <a:spcPct val="150000"/>
              </a:lnSpc>
              <a:spcBef>
                <a:spcPct val="0"/>
              </a:spcBef>
            </a:pP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ận</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dụng</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kiến</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thức</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đã</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học</a:t>
            </a:r>
            <a:endPar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a:p>
            <a:pPr algn="l">
              <a:lnSpc>
                <a:spcPct val="150000"/>
              </a:lnSpc>
              <a:spcBef>
                <a:spcPct val="0"/>
              </a:spcBef>
            </a:pPr>
            <a:r>
              <a:rPr 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vào</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một</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hệ</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thống</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thục</a:t>
            </a:r>
            <a:r>
              <a:rPr 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tế</a:t>
            </a:r>
            <a:endParaRPr lang="en-US" sz="2200" spc="-149"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sp>
        <p:nvSpPr>
          <p:cNvPr id="26" name="TextBox 26"/>
          <p:cNvSpPr txBox="1"/>
          <p:nvPr/>
        </p:nvSpPr>
        <p:spPr>
          <a:xfrm>
            <a:off x="586737" y="4191000"/>
            <a:ext cx="4137663" cy="1593513"/>
          </a:xfrm>
          <a:prstGeom prst="rect">
            <a:avLst/>
          </a:prstGeom>
        </p:spPr>
        <p:txBody>
          <a:bodyPr lIns="0" tIns="0" rIns="0" bIns="0" rtlCol="0" anchor="t">
            <a:spAutoFit/>
          </a:bodyPr>
          <a:lstStyle/>
          <a:p>
            <a:pPr>
              <a:lnSpc>
                <a:spcPct val="150000"/>
              </a:lnSpc>
              <a:spcBef>
                <a:spcPct val="0"/>
              </a:spcBef>
            </a:pPr>
            <a:r>
              <a:rPr lang="en-US" sz="2400" dirty="0" smtClean="0">
                <a:solidFill>
                  <a:srgbClr val="002060"/>
                </a:solidFill>
                <a:latin typeface="Arial" panose="020B0604020202020204" pitchFamily="34" charset="0"/>
                <a:cs typeface="Arial" panose="020B0604020202020204" pitchFamily="34" charset="0"/>
              </a:rPr>
              <a:t>     K</a:t>
            </a:r>
            <a:r>
              <a:rPr lang="vi-VN" sz="2400" dirty="0" smtClean="0">
                <a:solidFill>
                  <a:srgbClr val="002060"/>
                </a:solidFill>
                <a:latin typeface="Arial" panose="020B0604020202020204" pitchFamily="34" charset="0"/>
                <a:cs typeface="Arial" panose="020B0604020202020204" pitchFamily="34" charset="0"/>
              </a:rPr>
              <a:t>hó </a:t>
            </a:r>
            <a:r>
              <a:rPr lang="vi-VN" sz="2400" dirty="0">
                <a:solidFill>
                  <a:srgbClr val="002060"/>
                </a:solidFill>
                <a:latin typeface="Arial" panose="020B0604020202020204" pitchFamily="34" charset="0"/>
                <a:cs typeface="Arial" panose="020B0604020202020204" pitchFamily="34" charset="0"/>
              </a:rPr>
              <a:t>khăn trong quản </a:t>
            </a:r>
            <a:r>
              <a:rPr lang="vi-VN" sz="2400" dirty="0" smtClean="0">
                <a:solidFill>
                  <a:srgbClr val="002060"/>
                </a:solidFill>
                <a:latin typeface="Arial" panose="020B0604020202020204" pitchFamily="34" charset="0"/>
                <a:cs typeface="Arial" panose="020B0604020202020204" pitchFamily="34" charset="0"/>
              </a:rPr>
              <a:t>lý</a:t>
            </a:r>
            <a:endParaRPr lang="en-US" sz="2400" dirty="0" smtClean="0">
              <a:solidFill>
                <a:srgbClr val="002060"/>
              </a:solidFill>
              <a:latin typeface="Arial" panose="020B0604020202020204" pitchFamily="34" charset="0"/>
              <a:cs typeface="Arial" panose="020B0604020202020204" pitchFamily="34" charset="0"/>
            </a:endParaRPr>
          </a:p>
          <a:p>
            <a:pPr>
              <a:lnSpc>
                <a:spcPct val="150000"/>
              </a:lnSpc>
              <a:spcBef>
                <a:spcPct val="0"/>
              </a:spcBef>
            </a:pPr>
            <a:r>
              <a:rPr lang="en-US" sz="2400" dirty="0">
                <a:solidFill>
                  <a:srgbClr val="002060"/>
                </a:solidFill>
                <a:latin typeface="Arial" panose="020B0604020202020204" pitchFamily="34" charset="0"/>
                <a:cs typeface="Arial" panose="020B0604020202020204" pitchFamily="34" charset="0"/>
              </a:rPr>
              <a:t> </a:t>
            </a:r>
            <a:r>
              <a:rPr lang="en-US" sz="2400" dirty="0" smtClean="0">
                <a:solidFill>
                  <a:srgbClr val="002060"/>
                </a:solidFill>
                <a:latin typeface="Arial" panose="020B0604020202020204" pitchFamily="34" charset="0"/>
                <a:cs typeface="Arial" panose="020B0604020202020204" pitchFamily="34" charset="0"/>
              </a:rPr>
              <a:t>     </a:t>
            </a:r>
            <a:r>
              <a:rPr lang="vi-VN" sz="2400" dirty="0" smtClean="0">
                <a:solidFill>
                  <a:srgbClr val="002060"/>
                </a:solidFill>
                <a:latin typeface="Arial" panose="020B0604020202020204" pitchFamily="34" charset="0"/>
                <a:cs typeface="Arial" panose="020B0604020202020204" pitchFamily="34" charset="0"/>
              </a:rPr>
              <a:t>sản </a:t>
            </a:r>
            <a:r>
              <a:rPr lang="vi-VN" sz="2400" dirty="0">
                <a:solidFill>
                  <a:srgbClr val="002060"/>
                </a:solidFill>
                <a:latin typeface="Arial" panose="020B0604020202020204" pitchFamily="34" charset="0"/>
                <a:cs typeface="Arial" panose="020B0604020202020204" pitchFamily="34" charset="0"/>
              </a:rPr>
              <a:t>phẩm, cập nhật </a:t>
            </a:r>
            <a:r>
              <a:rPr lang="vi-VN" sz="2400" dirty="0" smtClean="0">
                <a:solidFill>
                  <a:srgbClr val="002060"/>
                </a:solidFill>
                <a:latin typeface="Arial" panose="020B0604020202020204" pitchFamily="34" charset="0"/>
                <a:cs typeface="Arial" panose="020B0604020202020204" pitchFamily="34" charset="0"/>
              </a:rPr>
              <a:t>giá</a:t>
            </a:r>
            <a:r>
              <a:rPr lang="en-US" sz="2400" dirty="0" smtClean="0">
                <a:solidFill>
                  <a:srgbClr val="002060"/>
                </a:solidFill>
                <a:latin typeface="Arial" panose="020B0604020202020204" pitchFamily="34" charset="0"/>
                <a:cs typeface="Arial" panose="020B0604020202020204" pitchFamily="34" charset="0"/>
              </a:rPr>
              <a:t>,</a:t>
            </a:r>
          </a:p>
          <a:p>
            <a:pPr>
              <a:lnSpc>
                <a:spcPct val="150000"/>
              </a:lnSpc>
              <a:spcBef>
                <a:spcPct val="0"/>
              </a:spcBef>
            </a:pPr>
            <a:r>
              <a:rPr lang="en-US" sz="2400" dirty="0">
                <a:solidFill>
                  <a:srgbClr val="002060"/>
                </a:solidFill>
                <a:latin typeface="Arial" panose="020B0604020202020204" pitchFamily="34" charset="0"/>
                <a:cs typeface="Arial" panose="020B0604020202020204" pitchFamily="34" charset="0"/>
              </a:rPr>
              <a:t> </a:t>
            </a:r>
            <a:r>
              <a:rPr lang="en-US" sz="2400" dirty="0" smtClean="0">
                <a:solidFill>
                  <a:srgbClr val="002060"/>
                </a:solidFill>
                <a:latin typeface="Arial" panose="020B0604020202020204" pitchFamily="34" charset="0"/>
                <a:cs typeface="Arial" panose="020B0604020202020204" pitchFamily="34" charset="0"/>
              </a:rPr>
              <a:t>       </a:t>
            </a:r>
            <a:r>
              <a:rPr lang="vi-VN" sz="2400" dirty="0" smtClean="0">
                <a:solidFill>
                  <a:srgbClr val="002060"/>
                </a:solidFill>
                <a:latin typeface="Arial" panose="020B0604020202020204" pitchFamily="34" charset="0"/>
                <a:cs typeface="Arial" panose="020B0604020202020204" pitchFamily="34" charset="0"/>
              </a:rPr>
              <a:t> trải nghiệm</a:t>
            </a:r>
            <a:r>
              <a:rPr lang="en-US" sz="2400" dirty="0">
                <a:solidFill>
                  <a:srgbClr val="002060"/>
                </a:solidFill>
                <a:latin typeface="Arial" panose="020B0604020202020204" pitchFamily="34" charset="0"/>
                <a:cs typeface="Arial" panose="020B0604020202020204" pitchFamily="34" charset="0"/>
              </a:rPr>
              <a:t> </a:t>
            </a:r>
            <a:r>
              <a:rPr lang="vi-VN" sz="2400" dirty="0" smtClean="0">
                <a:solidFill>
                  <a:srgbClr val="002060"/>
                </a:solidFill>
                <a:latin typeface="Arial" panose="020B0604020202020204" pitchFamily="34" charset="0"/>
                <a:cs typeface="Arial" panose="020B0604020202020204" pitchFamily="34" charset="0"/>
              </a:rPr>
              <a:t>người </a:t>
            </a:r>
            <a:r>
              <a:rPr lang="vi-VN" sz="2400" dirty="0">
                <a:solidFill>
                  <a:srgbClr val="002060"/>
                </a:solidFill>
                <a:latin typeface="Arial" panose="020B0604020202020204" pitchFamily="34" charset="0"/>
                <a:cs typeface="Arial" panose="020B0604020202020204" pitchFamily="34" charset="0"/>
              </a:rPr>
              <a:t>dùng</a:t>
            </a:r>
            <a:endParaRPr 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grpSp>
        <p:nvGrpSpPr>
          <p:cNvPr id="32" name="Group 8"/>
          <p:cNvGrpSpPr/>
          <p:nvPr/>
        </p:nvGrpSpPr>
        <p:grpSpPr>
          <a:xfrm>
            <a:off x="260201" y="6832240"/>
            <a:ext cx="9233200" cy="331402"/>
            <a:chOff x="0" y="-19049"/>
            <a:chExt cx="12310933" cy="441869"/>
          </a:xfrm>
        </p:grpSpPr>
        <p:grpSp>
          <p:nvGrpSpPr>
            <p:cNvPr id="33" name="Group 9"/>
            <p:cNvGrpSpPr>
              <a:grpSpLocks noChangeAspect="1"/>
            </p:cNvGrpSpPr>
            <p:nvPr/>
          </p:nvGrpSpPr>
          <p:grpSpPr>
            <a:xfrm>
              <a:off x="2682866" y="46656"/>
              <a:ext cx="9628067" cy="146307"/>
              <a:chOff x="90219" y="0"/>
              <a:chExt cx="12362509" cy="187859"/>
            </a:xfrm>
          </p:grpSpPr>
          <p:sp>
            <p:nvSpPr>
              <p:cNvPr id="36"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34"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35"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914400" y="1629346"/>
            <a:ext cx="1882048" cy="1761597"/>
          </a:xfrm>
          <a:custGeom>
            <a:avLst/>
            <a:gdLst/>
            <a:ahLst/>
            <a:cxnLst/>
            <a:rect l="l" t="t" r="r" b="b"/>
            <a:pathLst>
              <a:path w="1890591" h="1753093">
                <a:moveTo>
                  <a:pt x="0" y="0"/>
                </a:moveTo>
                <a:lnTo>
                  <a:pt x="1890591" y="0"/>
                </a:lnTo>
                <a:lnTo>
                  <a:pt x="1890591" y="1753093"/>
                </a:lnTo>
                <a:lnTo>
                  <a:pt x="0" y="175309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487680" y="1009716"/>
            <a:ext cx="3779520" cy="438084"/>
          </a:xfrm>
          <a:prstGeom prst="rect">
            <a:avLst/>
          </a:prstGeom>
        </p:spPr>
        <p:txBody>
          <a:bodyPr wrap="square" lIns="0" tIns="0" rIns="0" bIns="0" rtlCol="0" anchor="t">
            <a:spAutoFit/>
          </a:bodyPr>
          <a:lstStyle/>
          <a:p>
            <a:pPr algn="l">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Mục</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tiêu</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của</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đề</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tài</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57" name="Group 56"/>
          <p:cNvGrpSpPr/>
          <p:nvPr/>
        </p:nvGrpSpPr>
        <p:grpSpPr>
          <a:xfrm>
            <a:off x="2530628" y="6282413"/>
            <a:ext cx="1554480" cy="307777"/>
            <a:chOff x="6019800" y="4733260"/>
            <a:chExt cx="1537014" cy="307777"/>
          </a:xfrm>
        </p:grpSpPr>
        <p:grpSp>
          <p:nvGrpSpPr>
            <p:cNvPr id="8" name="Group 8"/>
            <p:cNvGrpSpPr/>
            <p:nvPr/>
          </p:nvGrpSpPr>
          <p:grpSpPr>
            <a:xfrm>
              <a:off x="6019800" y="4797537"/>
              <a:ext cx="188538" cy="190500"/>
              <a:chOff x="0" y="0"/>
              <a:chExt cx="125432" cy="126738"/>
            </a:xfrm>
          </p:grpSpPr>
          <p:sp>
            <p:nvSpPr>
              <p:cNvPr id="9" name="Freeform 9"/>
              <p:cNvSpPr/>
              <p:nvPr/>
            </p:nvSpPr>
            <p:spPr>
              <a:xfrm>
                <a:off x="0" y="0"/>
                <a:ext cx="125432" cy="126738"/>
              </a:xfrm>
              <a:custGeom>
                <a:avLst/>
                <a:gdLst/>
                <a:ahLst/>
                <a:cxnLst/>
                <a:rect l="l" t="t" r="r" b="b"/>
                <a:pathLst>
                  <a:path w="125432" h="126738">
                    <a:moveTo>
                      <a:pt x="62716" y="0"/>
                    </a:moveTo>
                    <a:cubicBezTo>
                      <a:pt x="28079" y="0"/>
                      <a:pt x="0" y="28371"/>
                      <a:pt x="0" y="63369"/>
                    </a:cubicBezTo>
                    <a:cubicBezTo>
                      <a:pt x="0" y="98366"/>
                      <a:pt x="28079" y="126738"/>
                      <a:pt x="62716" y="126738"/>
                    </a:cubicBezTo>
                    <a:cubicBezTo>
                      <a:pt x="97353" y="126738"/>
                      <a:pt x="125432" y="98366"/>
                      <a:pt x="125432" y="63369"/>
                    </a:cubicBezTo>
                    <a:cubicBezTo>
                      <a:pt x="125432" y="28371"/>
                      <a:pt x="97353" y="0"/>
                      <a:pt x="62716" y="0"/>
                    </a:cubicBezTo>
                    <a:close/>
                  </a:path>
                </a:pathLst>
              </a:custGeom>
              <a:solidFill>
                <a:srgbClr val="7FD7F7"/>
              </a:solidFill>
            </p:spPr>
          </p:sp>
          <p:sp>
            <p:nvSpPr>
              <p:cNvPr id="10" name="TextBox 10"/>
              <p:cNvSpPr txBox="1"/>
              <p:nvPr/>
            </p:nvSpPr>
            <p:spPr>
              <a:xfrm>
                <a:off x="11759" y="11882"/>
                <a:ext cx="101914" cy="102974"/>
              </a:xfrm>
              <a:prstGeom prst="rect">
                <a:avLst/>
              </a:prstGeom>
            </p:spPr>
            <p:txBody>
              <a:bodyPr lIns="50800" tIns="50800" rIns="50800" bIns="50800" rtlCol="0" anchor="ctr"/>
              <a:lstStyle/>
              <a:p>
                <a:pPr algn="ctr">
                  <a:lnSpc>
                    <a:spcPts val="1680"/>
                  </a:lnSpc>
                </a:pPr>
                <a:endParaRPr>
                  <a:solidFill>
                    <a:srgbClr val="002060"/>
                  </a:solidFill>
                </a:endParaRPr>
              </a:p>
            </p:txBody>
          </p:sp>
        </p:grpSp>
        <p:sp>
          <p:nvSpPr>
            <p:cNvPr id="12" name="TextBox 12"/>
            <p:cNvSpPr txBox="1"/>
            <p:nvPr/>
          </p:nvSpPr>
          <p:spPr>
            <a:xfrm>
              <a:off x="6327874" y="4733260"/>
              <a:ext cx="1228940" cy="307777"/>
            </a:xfrm>
            <a:prstGeom prst="rect">
              <a:avLst/>
            </a:prstGeom>
          </p:spPr>
          <p:txBody>
            <a:bodyPr wrap="square" lIns="0" tIns="0" rIns="0" bIns="0" rtlCol="0" anchor="t">
              <a:spAutoFit/>
            </a:bodyPr>
            <a:lstStyle/>
            <a:p>
              <a:pPr algn="l">
                <a:lnSpc>
                  <a:spcPts val="2400"/>
                </a:lnSpc>
              </a:pP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Ứng</a:t>
              </a:r>
              <a:r>
                <a:rPr lang="en-US" sz="2000" dirty="0" smtClean="0">
                  <a:solidFill>
                    <a:srgbClr val="002060"/>
                  </a:solidFill>
                  <a:latin typeface="Arial" panose="020B0604020202020204"/>
                  <a:ea typeface="Arial" panose="020B0604020202020204"/>
                  <a:cs typeface="Arial" panose="020B0604020202020204"/>
                  <a:sym typeface="Arial" panose="020B0604020202020204"/>
                </a:rPr>
                <a:t> </a:t>
              </a: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dụng</a:t>
              </a:r>
              <a:endParaRPr lang="en-US" sz="2000" dirty="0">
                <a:solidFill>
                  <a:srgbClr val="002060"/>
                </a:solidFill>
                <a:latin typeface="Arial" panose="020B0604020202020204"/>
                <a:ea typeface="Arial" panose="020B0604020202020204"/>
                <a:cs typeface="Arial" panose="020B0604020202020204"/>
                <a:sym typeface="Arial" panose="020B0604020202020204"/>
              </a:endParaRPr>
            </a:p>
          </p:txBody>
        </p:sp>
      </p:grpSp>
      <p:grpSp>
        <p:nvGrpSpPr>
          <p:cNvPr id="41" name="Group 41"/>
          <p:cNvGrpSpPr/>
          <p:nvPr/>
        </p:nvGrpSpPr>
        <p:grpSpPr>
          <a:xfrm>
            <a:off x="89070" y="137149"/>
            <a:ext cx="3136094" cy="765139"/>
            <a:chOff x="0" y="0"/>
            <a:chExt cx="4181458" cy="1020185"/>
          </a:xfrm>
        </p:grpSpPr>
        <p:grpSp>
          <p:nvGrpSpPr>
            <p:cNvPr id="42" name="Group 42"/>
            <p:cNvGrpSpPr/>
            <p:nvPr/>
          </p:nvGrpSpPr>
          <p:grpSpPr>
            <a:xfrm>
              <a:off x="393157" y="30721"/>
              <a:ext cx="3788302" cy="951389"/>
              <a:chOff x="0" y="0"/>
              <a:chExt cx="3788302" cy="951389"/>
            </a:xfrm>
          </p:grpSpPr>
          <p:sp>
            <p:nvSpPr>
              <p:cNvPr id="43" name="Freeform 43"/>
              <p:cNvSpPr/>
              <p:nvPr/>
            </p:nvSpPr>
            <p:spPr>
              <a:xfrm>
                <a:off x="0" y="0"/>
                <a:ext cx="3788302" cy="951389"/>
              </a:xfrm>
              <a:custGeom>
                <a:avLst/>
                <a:gdLst/>
                <a:ahLst/>
                <a:cxnLst/>
                <a:rect l="l" t="t" r="r" b="b"/>
                <a:pathLst>
                  <a:path w="3788302" h="951389">
                    <a:moveTo>
                      <a:pt x="0" y="0"/>
                    </a:moveTo>
                    <a:lnTo>
                      <a:pt x="3788302" y="0"/>
                    </a:lnTo>
                    <a:lnTo>
                      <a:pt x="3788302" y="951389"/>
                    </a:lnTo>
                    <a:lnTo>
                      <a:pt x="0" y="951389"/>
                    </a:lnTo>
                    <a:close/>
                  </a:path>
                </a:pathLst>
              </a:custGeom>
              <a:solidFill>
                <a:srgbClr val="000000">
                  <a:alpha val="0"/>
                </a:srgbClr>
              </a:solidFill>
            </p:spPr>
          </p:sp>
          <p:sp>
            <p:nvSpPr>
              <p:cNvPr id="44" name="TextBox 44"/>
              <p:cNvSpPr txBox="1"/>
              <p:nvPr/>
            </p:nvSpPr>
            <p:spPr>
              <a:xfrm>
                <a:off x="0" y="-19050"/>
                <a:ext cx="3788302" cy="970439"/>
              </a:xfrm>
              <a:prstGeom prst="rect">
                <a:avLst/>
              </a:prstGeom>
            </p:spPr>
            <p:txBody>
              <a:bodyPr lIns="0" tIns="0" rIns="0" bIns="0" rtlCol="0" anchor="ctr"/>
              <a:lstStyle/>
              <a:p>
                <a:pPr>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1.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Tổng</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quan</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45" name="AutoShape 45"/>
            <p:cNvSpPr/>
            <p:nvPr/>
          </p:nvSpPr>
          <p:spPr>
            <a:xfrm>
              <a:off x="105976" y="1007485"/>
              <a:ext cx="4007567" cy="0"/>
            </a:xfrm>
            <a:prstGeom prst="line">
              <a:avLst/>
            </a:prstGeom>
            <a:ln w="25400" cap="rnd">
              <a:solidFill>
                <a:srgbClr val="5B9BD5"/>
              </a:solidFill>
              <a:prstDash val="solid"/>
              <a:headEnd type="none" w="sm" len="sm"/>
              <a:tailEnd type="none" w="sm" len="sm"/>
            </a:ln>
          </p:spPr>
        </p:sp>
        <p:grpSp>
          <p:nvGrpSpPr>
            <p:cNvPr id="46" name="Group 46"/>
            <p:cNvGrpSpPr/>
            <p:nvPr/>
          </p:nvGrpSpPr>
          <p:grpSpPr>
            <a:xfrm>
              <a:off x="0" y="0"/>
              <a:ext cx="211952" cy="1020185"/>
              <a:chOff x="0" y="0"/>
              <a:chExt cx="211952" cy="1020185"/>
            </a:xfrm>
          </p:grpSpPr>
          <p:sp>
            <p:nvSpPr>
              <p:cNvPr id="47" name="Freeform 47"/>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48" name="Freeform 48"/>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pic>
        <p:nvPicPr>
          <p:cNvPr id="54" name="Picture 53"/>
          <p:cNvPicPr>
            <a:picLocks noChangeAspect="1"/>
          </p:cNvPicPr>
          <p:nvPr/>
        </p:nvPicPr>
        <p:blipFill>
          <a:blip r:embed="rId5"/>
          <a:stretch>
            <a:fillRect/>
          </a:stretch>
        </p:blipFill>
        <p:spPr>
          <a:xfrm>
            <a:off x="3225165" y="1524000"/>
            <a:ext cx="2695951" cy="2000529"/>
          </a:xfrm>
          <a:prstGeom prst="rect">
            <a:avLst/>
          </a:prstGeom>
        </p:spPr>
      </p:pic>
      <p:pic>
        <p:nvPicPr>
          <p:cNvPr id="55" name="Picture 54"/>
          <p:cNvPicPr>
            <a:picLocks noChangeAspect="1"/>
          </p:cNvPicPr>
          <p:nvPr/>
        </p:nvPicPr>
        <p:blipFill>
          <a:blip r:embed="rId6"/>
          <a:stretch>
            <a:fillRect/>
          </a:stretch>
        </p:blipFill>
        <p:spPr>
          <a:xfrm>
            <a:off x="1893981" y="4407382"/>
            <a:ext cx="2867425" cy="1779758"/>
          </a:xfrm>
          <a:prstGeom prst="rect">
            <a:avLst/>
          </a:prstGeom>
        </p:spPr>
      </p:pic>
      <p:pic>
        <p:nvPicPr>
          <p:cNvPr id="56" name="Picture 55"/>
          <p:cNvPicPr>
            <a:picLocks noChangeAspect="1"/>
          </p:cNvPicPr>
          <p:nvPr/>
        </p:nvPicPr>
        <p:blipFill>
          <a:blip r:embed="rId7"/>
          <a:stretch>
            <a:fillRect/>
          </a:stretch>
        </p:blipFill>
        <p:spPr>
          <a:xfrm>
            <a:off x="6553200" y="1629346"/>
            <a:ext cx="2191056" cy="1886213"/>
          </a:xfrm>
          <a:prstGeom prst="rect">
            <a:avLst/>
          </a:prstGeom>
        </p:spPr>
      </p:pic>
      <p:grpSp>
        <p:nvGrpSpPr>
          <p:cNvPr id="58" name="Group 57"/>
          <p:cNvGrpSpPr/>
          <p:nvPr/>
        </p:nvGrpSpPr>
        <p:grpSpPr>
          <a:xfrm>
            <a:off x="3991281" y="3564912"/>
            <a:ext cx="1421180" cy="311911"/>
            <a:chOff x="6019800" y="4733260"/>
            <a:chExt cx="1421180" cy="311911"/>
          </a:xfrm>
        </p:grpSpPr>
        <p:grpSp>
          <p:nvGrpSpPr>
            <p:cNvPr id="59" name="Group 8"/>
            <p:cNvGrpSpPr/>
            <p:nvPr/>
          </p:nvGrpSpPr>
          <p:grpSpPr>
            <a:xfrm>
              <a:off x="6019800" y="4797537"/>
              <a:ext cx="188538" cy="190500"/>
              <a:chOff x="0" y="0"/>
              <a:chExt cx="125432" cy="126738"/>
            </a:xfrm>
          </p:grpSpPr>
          <p:sp>
            <p:nvSpPr>
              <p:cNvPr id="61" name="Freeform 9"/>
              <p:cNvSpPr/>
              <p:nvPr/>
            </p:nvSpPr>
            <p:spPr>
              <a:xfrm>
                <a:off x="0" y="0"/>
                <a:ext cx="125432" cy="126738"/>
              </a:xfrm>
              <a:custGeom>
                <a:avLst/>
                <a:gdLst/>
                <a:ahLst/>
                <a:cxnLst/>
                <a:rect l="l" t="t" r="r" b="b"/>
                <a:pathLst>
                  <a:path w="125432" h="126738">
                    <a:moveTo>
                      <a:pt x="62716" y="0"/>
                    </a:moveTo>
                    <a:cubicBezTo>
                      <a:pt x="28079" y="0"/>
                      <a:pt x="0" y="28371"/>
                      <a:pt x="0" y="63369"/>
                    </a:cubicBezTo>
                    <a:cubicBezTo>
                      <a:pt x="0" y="98366"/>
                      <a:pt x="28079" y="126738"/>
                      <a:pt x="62716" y="126738"/>
                    </a:cubicBezTo>
                    <a:cubicBezTo>
                      <a:pt x="97353" y="126738"/>
                      <a:pt x="125432" y="98366"/>
                      <a:pt x="125432" y="63369"/>
                    </a:cubicBezTo>
                    <a:cubicBezTo>
                      <a:pt x="125432" y="28371"/>
                      <a:pt x="97353" y="0"/>
                      <a:pt x="62716" y="0"/>
                    </a:cubicBezTo>
                    <a:close/>
                  </a:path>
                </a:pathLst>
              </a:custGeom>
              <a:solidFill>
                <a:srgbClr val="7FD7F7"/>
              </a:solidFill>
            </p:spPr>
          </p:sp>
          <p:sp>
            <p:nvSpPr>
              <p:cNvPr id="62" name="TextBox 10"/>
              <p:cNvSpPr txBox="1"/>
              <p:nvPr/>
            </p:nvSpPr>
            <p:spPr>
              <a:xfrm>
                <a:off x="11759" y="11882"/>
                <a:ext cx="101914" cy="102974"/>
              </a:xfrm>
              <a:prstGeom prst="rect">
                <a:avLst/>
              </a:prstGeom>
            </p:spPr>
            <p:txBody>
              <a:bodyPr lIns="50800" tIns="50800" rIns="50800" bIns="50800" rtlCol="0" anchor="ctr"/>
              <a:lstStyle/>
              <a:p>
                <a:pPr algn="ctr">
                  <a:lnSpc>
                    <a:spcPts val="1680"/>
                  </a:lnSpc>
                </a:pPr>
                <a:endParaRPr>
                  <a:solidFill>
                    <a:srgbClr val="002060"/>
                  </a:solidFill>
                </a:endParaRPr>
              </a:p>
            </p:txBody>
          </p:sp>
        </p:grpSp>
        <p:sp>
          <p:nvSpPr>
            <p:cNvPr id="60" name="TextBox 12"/>
            <p:cNvSpPr txBox="1"/>
            <p:nvPr/>
          </p:nvSpPr>
          <p:spPr>
            <a:xfrm>
              <a:off x="6327874" y="4733260"/>
              <a:ext cx="1113106" cy="311911"/>
            </a:xfrm>
            <a:prstGeom prst="rect">
              <a:avLst/>
            </a:prstGeom>
          </p:spPr>
          <p:txBody>
            <a:bodyPr lIns="0" tIns="0" rIns="0" bIns="0" rtlCol="0" anchor="t">
              <a:spAutoFit/>
            </a:bodyPr>
            <a:lstStyle/>
            <a:p>
              <a:pPr algn="l">
                <a:lnSpc>
                  <a:spcPts val="2400"/>
                </a:lnSpc>
              </a:pP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Tối</a:t>
              </a:r>
              <a:r>
                <a:rPr lang="en-US" sz="2000" dirty="0" smtClean="0">
                  <a:solidFill>
                    <a:srgbClr val="002060"/>
                  </a:solidFill>
                  <a:latin typeface="Arial" panose="020B0604020202020204"/>
                  <a:ea typeface="Arial" panose="020B0604020202020204"/>
                  <a:cs typeface="Arial" panose="020B0604020202020204"/>
                  <a:sym typeface="Arial" panose="020B0604020202020204"/>
                </a:rPr>
                <a:t> </a:t>
              </a: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ưu</a:t>
              </a:r>
              <a:endParaRPr lang="en-US" sz="2000" dirty="0">
                <a:solidFill>
                  <a:srgbClr val="002060"/>
                </a:solidFill>
                <a:latin typeface="Arial" panose="020B0604020202020204"/>
                <a:ea typeface="Arial" panose="020B0604020202020204"/>
                <a:cs typeface="Arial" panose="020B0604020202020204"/>
                <a:sym typeface="Arial" panose="020B0604020202020204"/>
              </a:endParaRPr>
            </a:p>
          </p:txBody>
        </p:sp>
      </p:grpSp>
      <p:grpSp>
        <p:nvGrpSpPr>
          <p:cNvPr id="63" name="Group 62"/>
          <p:cNvGrpSpPr/>
          <p:nvPr/>
        </p:nvGrpSpPr>
        <p:grpSpPr>
          <a:xfrm>
            <a:off x="6900804" y="3566182"/>
            <a:ext cx="1421180" cy="311911"/>
            <a:chOff x="6019800" y="4733260"/>
            <a:chExt cx="1421180" cy="311911"/>
          </a:xfrm>
        </p:grpSpPr>
        <p:grpSp>
          <p:nvGrpSpPr>
            <p:cNvPr id="64" name="Group 8"/>
            <p:cNvGrpSpPr/>
            <p:nvPr/>
          </p:nvGrpSpPr>
          <p:grpSpPr>
            <a:xfrm>
              <a:off x="6019800" y="4797537"/>
              <a:ext cx="188538" cy="190500"/>
              <a:chOff x="0" y="0"/>
              <a:chExt cx="125432" cy="126738"/>
            </a:xfrm>
          </p:grpSpPr>
          <p:sp>
            <p:nvSpPr>
              <p:cNvPr id="66" name="Freeform 9"/>
              <p:cNvSpPr/>
              <p:nvPr/>
            </p:nvSpPr>
            <p:spPr>
              <a:xfrm>
                <a:off x="0" y="0"/>
                <a:ext cx="125432" cy="126738"/>
              </a:xfrm>
              <a:custGeom>
                <a:avLst/>
                <a:gdLst/>
                <a:ahLst/>
                <a:cxnLst/>
                <a:rect l="l" t="t" r="r" b="b"/>
                <a:pathLst>
                  <a:path w="125432" h="126738">
                    <a:moveTo>
                      <a:pt x="62716" y="0"/>
                    </a:moveTo>
                    <a:cubicBezTo>
                      <a:pt x="28079" y="0"/>
                      <a:pt x="0" y="28371"/>
                      <a:pt x="0" y="63369"/>
                    </a:cubicBezTo>
                    <a:cubicBezTo>
                      <a:pt x="0" y="98366"/>
                      <a:pt x="28079" y="126738"/>
                      <a:pt x="62716" y="126738"/>
                    </a:cubicBezTo>
                    <a:cubicBezTo>
                      <a:pt x="97353" y="126738"/>
                      <a:pt x="125432" y="98366"/>
                      <a:pt x="125432" y="63369"/>
                    </a:cubicBezTo>
                    <a:cubicBezTo>
                      <a:pt x="125432" y="28371"/>
                      <a:pt x="97353" y="0"/>
                      <a:pt x="62716" y="0"/>
                    </a:cubicBezTo>
                    <a:close/>
                  </a:path>
                </a:pathLst>
              </a:custGeom>
              <a:solidFill>
                <a:srgbClr val="7FD7F7"/>
              </a:solidFill>
            </p:spPr>
          </p:sp>
          <p:sp>
            <p:nvSpPr>
              <p:cNvPr id="67" name="TextBox 10"/>
              <p:cNvSpPr txBox="1"/>
              <p:nvPr/>
            </p:nvSpPr>
            <p:spPr>
              <a:xfrm>
                <a:off x="11759" y="11882"/>
                <a:ext cx="101914" cy="102974"/>
              </a:xfrm>
              <a:prstGeom prst="rect">
                <a:avLst/>
              </a:prstGeom>
            </p:spPr>
            <p:txBody>
              <a:bodyPr lIns="50800" tIns="50800" rIns="50800" bIns="50800" rtlCol="0" anchor="ctr"/>
              <a:lstStyle/>
              <a:p>
                <a:pPr algn="ctr">
                  <a:lnSpc>
                    <a:spcPts val="1680"/>
                  </a:lnSpc>
                </a:pPr>
                <a:endParaRPr>
                  <a:solidFill>
                    <a:srgbClr val="002060"/>
                  </a:solidFill>
                </a:endParaRPr>
              </a:p>
            </p:txBody>
          </p:sp>
        </p:grpSp>
        <p:sp>
          <p:nvSpPr>
            <p:cNvPr id="65" name="TextBox 12"/>
            <p:cNvSpPr txBox="1"/>
            <p:nvPr/>
          </p:nvSpPr>
          <p:spPr>
            <a:xfrm>
              <a:off x="6327874" y="4733260"/>
              <a:ext cx="1113106" cy="311911"/>
            </a:xfrm>
            <a:prstGeom prst="rect">
              <a:avLst/>
            </a:prstGeom>
          </p:spPr>
          <p:txBody>
            <a:bodyPr lIns="0" tIns="0" rIns="0" bIns="0" rtlCol="0" anchor="t">
              <a:spAutoFit/>
            </a:bodyPr>
            <a:lstStyle/>
            <a:p>
              <a:pPr algn="l">
                <a:lnSpc>
                  <a:spcPts val="2400"/>
                </a:lnSpc>
              </a:pP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Cung</a:t>
              </a:r>
              <a:r>
                <a:rPr lang="en-US" sz="2000" dirty="0" smtClean="0">
                  <a:solidFill>
                    <a:srgbClr val="002060"/>
                  </a:solidFill>
                  <a:latin typeface="Arial" panose="020B0604020202020204"/>
                  <a:ea typeface="Arial" panose="020B0604020202020204"/>
                  <a:cs typeface="Arial" panose="020B0604020202020204"/>
                  <a:sym typeface="Arial" panose="020B0604020202020204"/>
                </a:rPr>
                <a:t> </a:t>
              </a: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cấp</a:t>
              </a:r>
              <a:endParaRPr lang="en-US" sz="2000" dirty="0">
                <a:solidFill>
                  <a:srgbClr val="002060"/>
                </a:solidFill>
                <a:latin typeface="Arial" panose="020B0604020202020204"/>
                <a:ea typeface="Arial" panose="020B0604020202020204"/>
                <a:cs typeface="Arial" panose="020B0604020202020204"/>
                <a:sym typeface="Arial" panose="020B0604020202020204"/>
              </a:endParaRPr>
            </a:p>
          </p:txBody>
        </p:sp>
      </p:grpSp>
      <p:grpSp>
        <p:nvGrpSpPr>
          <p:cNvPr id="68" name="Group 67"/>
          <p:cNvGrpSpPr/>
          <p:nvPr/>
        </p:nvGrpSpPr>
        <p:grpSpPr>
          <a:xfrm>
            <a:off x="1081758" y="3564912"/>
            <a:ext cx="1421180" cy="311911"/>
            <a:chOff x="6019800" y="4733260"/>
            <a:chExt cx="1421180" cy="311911"/>
          </a:xfrm>
        </p:grpSpPr>
        <p:grpSp>
          <p:nvGrpSpPr>
            <p:cNvPr id="69" name="Group 8"/>
            <p:cNvGrpSpPr/>
            <p:nvPr/>
          </p:nvGrpSpPr>
          <p:grpSpPr>
            <a:xfrm>
              <a:off x="6019800" y="4797537"/>
              <a:ext cx="188538" cy="190500"/>
              <a:chOff x="0" y="0"/>
              <a:chExt cx="125432" cy="126738"/>
            </a:xfrm>
          </p:grpSpPr>
          <p:sp>
            <p:nvSpPr>
              <p:cNvPr id="71" name="Freeform 9"/>
              <p:cNvSpPr/>
              <p:nvPr/>
            </p:nvSpPr>
            <p:spPr>
              <a:xfrm>
                <a:off x="0" y="0"/>
                <a:ext cx="125432" cy="126738"/>
              </a:xfrm>
              <a:custGeom>
                <a:avLst/>
                <a:gdLst/>
                <a:ahLst/>
                <a:cxnLst/>
                <a:rect l="l" t="t" r="r" b="b"/>
                <a:pathLst>
                  <a:path w="125432" h="126738">
                    <a:moveTo>
                      <a:pt x="62716" y="0"/>
                    </a:moveTo>
                    <a:cubicBezTo>
                      <a:pt x="28079" y="0"/>
                      <a:pt x="0" y="28371"/>
                      <a:pt x="0" y="63369"/>
                    </a:cubicBezTo>
                    <a:cubicBezTo>
                      <a:pt x="0" y="98366"/>
                      <a:pt x="28079" y="126738"/>
                      <a:pt x="62716" y="126738"/>
                    </a:cubicBezTo>
                    <a:cubicBezTo>
                      <a:pt x="97353" y="126738"/>
                      <a:pt x="125432" y="98366"/>
                      <a:pt x="125432" y="63369"/>
                    </a:cubicBezTo>
                    <a:cubicBezTo>
                      <a:pt x="125432" y="28371"/>
                      <a:pt x="97353" y="0"/>
                      <a:pt x="62716" y="0"/>
                    </a:cubicBezTo>
                    <a:close/>
                  </a:path>
                </a:pathLst>
              </a:custGeom>
              <a:solidFill>
                <a:srgbClr val="7FD7F7"/>
              </a:solidFill>
            </p:spPr>
          </p:sp>
          <p:sp>
            <p:nvSpPr>
              <p:cNvPr id="72" name="TextBox 10"/>
              <p:cNvSpPr txBox="1"/>
              <p:nvPr/>
            </p:nvSpPr>
            <p:spPr>
              <a:xfrm>
                <a:off x="11759" y="11882"/>
                <a:ext cx="101914" cy="102974"/>
              </a:xfrm>
              <a:prstGeom prst="rect">
                <a:avLst/>
              </a:prstGeom>
            </p:spPr>
            <p:txBody>
              <a:bodyPr lIns="50800" tIns="50800" rIns="50800" bIns="50800" rtlCol="0" anchor="ctr"/>
              <a:lstStyle/>
              <a:p>
                <a:pPr algn="ctr">
                  <a:lnSpc>
                    <a:spcPts val="1680"/>
                  </a:lnSpc>
                </a:pPr>
                <a:endParaRPr>
                  <a:solidFill>
                    <a:srgbClr val="002060"/>
                  </a:solidFill>
                </a:endParaRPr>
              </a:p>
            </p:txBody>
          </p:sp>
        </p:grpSp>
        <p:sp>
          <p:nvSpPr>
            <p:cNvPr id="70" name="TextBox 12"/>
            <p:cNvSpPr txBox="1"/>
            <p:nvPr/>
          </p:nvSpPr>
          <p:spPr>
            <a:xfrm>
              <a:off x="6327874" y="4733260"/>
              <a:ext cx="1113106" cy="311911"/>
            </a:xfrm>
            <a:prstGeom prst="rect">
              <a:avLst/>
            </a:prstGeom>
          </p:spPr>
          <p:txBody>
            <a:bodyPr lIns="0" tIns="0" rIns="0" bIns="0" rtlCol="0" anchor="t">
              <a:spAutoFit/>
            </a:bodyPr>
            <a:lstStyle/>
            <a:p>
              <a:pPr algn="l">
                <a:lnSpc>
                  <a:spcPts val="2400"/>
                </a:lnSpc>
              </a:pP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Xây</a:t>
              </a:r>
              <a:r>
                <a:rPr lang="en-US" sz="2000" dirty="0" smtClean="0">
                  <a:solidFill>
                    <a:srgbClr val="002060"/>
                  </a:solidFill>
                  <a:latin typeface="Arial" panose="020B0604020202020204"/>
                  <a:ea typeface="Arial" panose="020B0604020202020204"/>
                  <a:cs typeface="Arial" panose="020B0604020202020204"/>
                  <a:sym typeface="Arial" panose="020B0604020202020204"/>
                </a:rPr>
                <a:t> </a:t>
              </a: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dưng</a:t>
              </a:r>
              <a:endParaRPr lang="en-US" sz="2000" dirty="0">
                <a:solidFill>
                  <a:srgbClr val="002060"/>
                </a:solidFill>
                <a:latin typeface="Arial" panose="020B0604020202020204"/>
                <a:ea typeface="Arial" panose="020B0604020202020204"/>
                <a:cs typeface="Arial" panose="020B0604020202020204"/>
                <a:sym typeface="Arial" panose="020B0604020202020204"/>
              </a:endParaRPr>
            </a:p>
          </p:txBody>
        </p:sp>
      </p:grpSp>
      <p:pic>
        <p:nvPicPr>
          <p:cNvPr id="73" name="Picture 72"/>
          <p:cNvPicPr>
            <a:picLocks noChangeAspect="1"/>
          </p:cNvPicPr>
          <p:nvPr/>
        </p:nvPicPr>
        <p:blipFill>
          <a:blip r:embed="rId8"/>
          <a:stretch>
            <a:fillRect/>
          </a:stretch>
        </p:blipFill>
        <p:spPr>
          <a:xfrm>
            <a:off x="5376890" y="4157185"/>
            <a:ext cx="1905001" cy="2082707"/>
          </a:xfrm>
          <a:prstGeom prst="rect">
            <a:avLst/>
          </a:prstGeom>
        </p:spPr>
      </p:pic>
      <p:grpSp>
        <p:nvGrpSpPr>
          <p:cNvPr id="74" name="Group 73"/>
          <p:cNvGrpSpPr/>
          <p:nvPr/>
        </p:nvGrpSpPr>
        <p:grpSpPr>
          <a:xfrm>
            <a:off x="5560883" y="6239892"/>
            <a:ext cx="1554480" cy="307777"/>
            <a:chOff x="6019800" y="4733260"/>
            <a:chExt cx="1537014" cy="307777"/>
          </a:xfrm>
        </p:grpSpPr>
        <p:grpSp>
          <p:nvGrpSpPr>
            <p:cNvPr id="75" name="Group 8"/>
            <p:cNvGrpSpPr/>
            <p:nvPr/>
          </p:nvGrpSpPr>
          <p:grpSpPr>
            <a:xfrm>
              <a:off x="6019800" y="4797537"/>
              <a:ext cx="188538" cy="190500"/>
              <a:chOff x="0" y="0"/>
              <a:chExt cx="125432" cy="126738"/>
            </a:xfrm>
          </p:grpSpPr>
          <p:sp>
            <p:nvSpPr>
              <p:cNvPr id="77" name="Freeform 9"/>
              <p:cNvSpPr/>
              <p:nvPr/>
            </p:nvSpPr>
            <p:spPr>
              <a:xfrm>
                <a:off x="0" y="0"/>
                <a:ext cx="125432" cy="126738"/>
              </a:xfrm>
              <a:custGeom>
                <a:avLst/>
                <a:gdLst/>
                <a:ahLst/>
                <a:cxnLst/>
                <a:rect l="l" t="t" r="r" b="b"/>
                <a:pathLst>
                  <a:path w="125432" h="126738">
                    <a:moveTo>
                      <a:pt x="62716" y="0"/>
                    </a:moveTo>
                    <a:cubicBezTo>
                      <a:pt x="28079" y="0"/>
                      <a:pt x="0" y="28371"/>
                      <a:pt x="0" y="63369"/>
                    </a:cubicBezTo>
                    <a:cubicBezTo>
                      <a:pt x="0" y="98366"/>
                      <a:pt x="28079" y="126738"/>
                      <a:pt x="62716" y="126738"/>
                    </a:cubicBezTo>
                    <a:cubicBezTo>
                      <a:pt x="97353" y="126738"/>
                      <a:pt x="125432" y="98366"/>
                      <a:pt x="125432" y="63369"/>
                    </a:cubicBezTo>
                    <a:cubicBezTo>
                      <a:pt x="125432" y="28371"/>
                      <a:pt x="97353" y="0"/>
                      <a:pt x="62716" y="0"/>
                    </a:cubicBezTo>
                    <a:close/>
                  </a:path>
                </a:pathLst>
              </a:custGeom>
              <a:solidFill>
                <a:srgbClr val="7FD7F7"/>
              </a:solidFill>
            </p:spPr>
          </p:sp>
          <p:sp>
            <p:nvSpPr>
              <p:cNvPr id="78" name="TextBox 10"/>
              <p:cNvSpPr txBox="1"/>
              <p:nvPr/>
            </p:nvSpPr>
            <p:spPr>
              <a:xfrm>
                <a:off x="11759" y="11882"/>
                <a:ext cx="101914" cy="102974"/>
              </a:xfrm>
              <a:prstGeom prst="rect">
                <a:avLst/>
              </a:prstGeom>
            </p:spPr>
            <p:txBody>
              <a:bodyPr lIns="50800" tIns="50800" rIns="50800" bIns="50800" rtlCol="0" anchor="ctr"/>
              <a:lstStyle/>
              <a:p>
                <a:pPr algn="ctr">
                  <a:lnSpc>
                    <a:spcPts val="1680"/>
                  </a:lnSpc>
                </a:pPr>
                <a:endParaRPr>
                  <a:solidFill>
                    <a:srgbClr val="002060"/>
                  </a:solidFill>
                </a:endParaRPr>
              </a:p>
            </p:txBody>
          </p:sp>
        </p:grpSp>
        <p:sp>
          <p:nvSpPr>
            <p:cNvPr id="76" name="TextBox 12"/>
            <p:cNvSpPr txBox="1"/>
            <p:nvPr/>
          </p:nvSpPr>
          <p:spPr>
            <a:xfrm>
              <a:off x="6327874" y="4733260"/>
              <a:ext cx="1228940" cy="307777"/>
            </a:xfrm>
            <a:prstGeom prst="rect">
              <a:avLst/>
            </a:prstGeom>
          </p:spPr>
          <p:txBody>
            <a:bodyPr wrap="square" lIns="0" tIns="0" rIns="0" bIns="0" rtlCol="0" anchor="t">
              <a:spAutoFit/>
            </a:bodyPr>
            <a:lstStyle/>
            <a:p>
              <a:pPr algn="l">
                <a:lnSpc>
                  <a:spcPts val="2400"/>
                </a:lnSpc>
              </a:pP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Rèn</a:t>
              </a:r>
              <a:r>
                <a:rPr lang="en-US" sz="2000" dirty="0" smtClean="0">
                  <a:solidFill>
                    <a:srgbClr val="002060"/>
                  </a:solidFill>
                  <a:latin typeface="Arial" panose="020B0604020202020204"/>
                  <a:ea typeface="Arial" panose="020B0604020202020204"/>
                  <a:cs typeface="Arial" panose="020B0604020202020204"/>
                  <a:sym typeface="Arial" panose="020B0604020202020204"/>
                </a:rPr>
                <a:t> </a:t>
              </a:r>
              <a:r>
                <a:rPr lang="en-US" sz="2000" dirty="0" err="1" smtClean="0">
                  <a:solidFill>
                    <a:srgbClr val="002060"/>
                  </a:solidFill>
                  <a:latin typeface="Arial" panose="020B0604020202020204"/>
                  <a:ea typeface="Arial" panose="020B0604020202020204"/>
                  <a:cs typeface="Arial" panose="020B0604020202020204"/>
                  <a:sym typeface="Arial" panose="020B0604020202020204"/>
                </a:rPr>
                <a:t>luyện</a:t>
              </a:r>
              <a:endParaRPr lang="en-US" sz="2000" dirty="0">
                <a:solidFill>
                  <a:srgbClr val="002060"/>
                </a:solidFill>
                <a:latin typeface="Arial" panose="020B0604020202020204"/>
                <a:ea typeface="Arial" panose="020B0604020202020204"/>
                <a:cs typeface="Arial" panose="020B0604020202020204"/>
                <a:sym typeface="Arial" panose="020B0604020202020204"/>
              </a:endParaRPr>
            </a:p>
          </p:txBody>
        </p:sp>
      </p:grpSp>
      <p:grpSp>
        <p:nvGrpSpPr>
          <p:cNvPr id="79" name="Group 8"/>
          <p:cNvGrpSpPr/>
          <p:nvPr/>
        </p:nvGrpSpPr>
        <p:grpSpPr>
          <a:xfrm>
            <a:off x="260201" y="6832240"/>
            <a:ext cx="9233200" cy="331402"/>
            <a:chOff x="0" y="-19049"/>
            <a:chExt cx="12310933" cy="441869"/>
          </a:xfrm>
        </p:grpSpPr>
        <p:grpSp>
          <p:nvGrpSpPr>
            <p:cNvPr id="80" name="Group 9"/>
            <p:cNvGrpSpPr>
              <a:grpSpLocks noChangeAspect="1"/>
            </p:cNvGrpSpPr>
            <p:nvPr/>
          </p:nvGrpSpPr>
          <p:grpSpPr>
            <a:xfrm>
              <a:off x="2682866" y="46656"/>
              <a:ext cx="9628067" cy="146307"/>
              <a:chOff x="90219" y="0"/>
              <a:chExt cx="12362509" cy="187859"/>
            </a:xfrm>
          </p:grpSpPr>
          <p:sp>
            <p:nvSpPr>
              <p:cNvPr id="83"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9"/>
                <a:stretch>
                  <a:fillRect r="-22539" b="6"/>
                </a:stretch>
              </a:blipFill>
            </p:spPr>
          </p:sp>
        </p:grpSp>
        <p:sp>
          <p:nvSpPr>
            <p:cNvPr id="8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8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070" y="137149"/>
            <a:ext cx="3136094" cy="765139"/>
            <a:chOff x="0" y="0"/>
            <a:chExt cx="4181458" cy="1020185"/>
          </a:xfrm>
        </p:grpSpPr>
        <p:grpSp>
          <p:nvGrpSpPr>
            <p:cNvPr id="3" name="Group 3"/>
            <p:cNvGrpSpPr/>
            <p:nvPr/>
          </p:nvGrpSpPr>
          <p:grpSpPr>
            <a:xfrm>
              <a:off x="393157" y="30721"/>
              <a:ext cx="3788302" cy="951389"/>
              <a:chOff x="0" y="0"/>
              <a:chExt cx="3788302" cy="951389"/>
            </a:xfrm>
          </p:grpSpPr>
          <p:sp>
            <p:nvSpPr>
              <p:cNvPr id="4" name="Freeform 4"/>
              <p:cNvSpPr/>
              <p:nvPr/>
            </p:nvSpPr>
            <p:spPr>
              <a:xfrm>
                <a:off x="0" y="0"/>
                <a:ext cx="3788302" cy="951389"/>
              </a:xfrm>
              <a:custGeom>
                <a:avLst/>
                <a:gdLst/>
                <a:ahLst/>
                <a:cxnLst/>
                <a:rect l="l" t="t" r="r" b="b"/>
                <a:pathLst>
                  <a:path w="3788302" h="951389">
                    <a:moveTo>
                      <a:pt x="0" y="0"/>
                    </a:moveTo>
                    <a:lnTo>
                      <a:pt x="3788302" y="0"/>
                    </a:lnTo>
                    <a:lnTo>
                      <a:pt x="3788302" y="951389"/>
                    </a:lnTo>
                    <a:lnTo>
                      <a:pt x="0" y="951389"/>
                    </a:lnTo>
                    <a:close/>
                  </a:path>
                </a:pathLst>
              </a:custGeom>
              <a:solidFill>
                <a:srgbClr val="000000">
                  <a:alpha val="0"/>
                </a:srgbClr>
              </a:solidFill>
            </p:spPr>
          </p:sp>
          <p:sp>
            <p:nvSpPr>
              <p:cNvPr id="5" name="TextBox 5"/>
              <p:cNvSpPr txBox="1"/>
              <p:nvPr/>
            </p:nvSpPr>
            <p:spPr>
              <a:xfrm>
                <a:off x="0" y="-19050"/>
                <a:ext cx="3788302" cy="970439"/>
              </a:xfrm>
              <a:prstGeom prst="rect">
                <a:avLst/>
              </a:prstGeom>
            </p:spPr>
            <p:txBody>
              <a:bodyPr lIns="0" tIns="0" rIns="0" bIns="0" rtlCol="0" anchor="ctr"/>
              <a:lstStyle/>
              <a:p>
                <a:pPr>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1.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Tổng</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quan</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6" name="AutoShape 6"/>
            <p:cNvSpPr/>
            <p:nvPr/>
          </p:nvSpPr>
          <p:spPr>
            <a:xfrm>
              <a:off x="105976" y="1007485"/>
              <a:ext cx="4007567" cy="0"/>
            </a:xfrm>
            <a:prstGeom prst="line">
              <a:avLst/>
            </a:prstGeom>
            <a:ln w="25400" cap="rnd">
              <a:solidFill>
                <a:srgbClr val="5B9BD5"/>
              </a:solidFill>
              <a:prstDash val="solid"/>
              <a:headEnd type="none" w="sm" len="sm"/>
              <a:tailEnd type="none" w="sm" len="sm"/>
            </a:ln>
          </p:spPr>
        </p:sp>
        <p:grpSp>
          <p:nvGrpSpPr>
            <p:cNvPr id="7" name="Group 7"/>
            <p:cNvGrpSpPr/>
            <p:nvPr/>
          </p:nvGrpSpPr>
          <p:grpSpPr>
            <a:xfrm>
              <a:off x="0" y="0"/>
              <a:ext cx="211952" cy="1020185"/>
              <a:chOff x="0" y="0"/>
              <a:chExt cx="211952" cy="1020185"/>
            </a:xfrm>
          </p:grpSpPr>
          <p:sp>
            <p:nvSpPr>
              <p:cNvPr id="8" name="Freeform 8"/>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9" name="Freeform 9"/>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11" name="AutoShape 11"/>
          <p:cNvSpPr/>
          <p:nvPr/>
        </p:nvSpPr>
        <p:spPr>
          <a:xfrm>
            <a:off x="4876800" y="949913"/>
            <a:ext cx="0" cy="5633767"/>
          </a:xfrm>
          <a:prstGeom prst="line">
            <a:avLst/>
          </a:prstGeom>
          <a:ln w="38100" cap="flat">
            <a:solidFill>
              <a:srgbClr val="5B9BD5"/>
            </a:solidFill>
            <a:prstDash val="solid"/>
            <a:headEnd type="none" w="sm" len="sm"/>
            <a:tailEnd type="none" w="sm" len="sm"/>
          </a:ln>
        </p:spPr>
      </p:sp>
      <p:sp>
        <p:nvSpPr>
          <p:cNvPr id="32" name="TextBox 32"/>
          <p:cNvSpPr txBox="1"/>
          <p:nvPr/>
        </p:nvSpPr>
        <p:spPr>
          <a:xfrm>
            <a:off x="487680" y="1011779"/>
            <a:ext cx="4084320" cy="438084"/>
          </a:xfrm>
          <a:prstGeom prst="rect">
            <a:avLst/>
          </a:prstGeom>
        </p:spPr>
        <p:txBody>
          <a:bodyPr wrap="square" lIns="0" tIns="0" rIns="0" bIns="0" rtlCol="0" anchor="t">
            <a:spAutoFit/>
          </a:bodyPr>
          <a:lstStyle/>
          <a:p>
            <a:pPr algn="l">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Đối</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tượng</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nghiên</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cứu</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sp>
        <p:nvSpPr>
          <p:cNvPr id="33" name="TextBox 33"/>
          <p:cNvSpPr txBox="1"/>
          <p:nvPr/>
        </p:nvSpPr>
        <p:spPr>
          <a:xfrm>
            <a:off x="5257800" y="1011783"/>
            <a:ext cx="4114800" cy="436017"/>
          </a:xfrm>
          <a:prstGeom prst="rect">
            <a:avLst/>
          </a:prstGeom>
        </p:spPr>
        <p:txBody>
          <a:bodyPr wrap="square" lIns="0" tIns="0" rIns="0" bIns="0" rtlCol="0" anchor="t">
            <a:spAutoFit/>
          </a:bodyPr>
          <a:lstStyle/>
          <a:p>
            <a:pPr algn="ctr">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Phạm</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vi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nghiên</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cứu</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sp>
        <p:nvSpPr>
          <p:cNvPr id="42" name="AutoShape 42"/>
          <p:cNvSpPr/>
          <p:nvPr/>
        </p:nvSpPr>
        <p:spPr>
          <a:xfrm>
            <a:off x="714146" y="1524000"/>
            <a:ext cx="3316224" cy="0"/>
          </a:xfrm>
          <a:prstGeom prst="line">
            <a:avLst/>
          </a:prstGeom>
          <a:ln w="38100" cap="flat">
            <a:solidFill>
              <a:srgbClr val="5B9BD5"/>
            </a:solidFill>
            <a:prstDash val="solid"/>
            <a:headEnd type="none" w="sm" len="sm"/>
            <a:tailEnd type="none" w="sm" len="sm"/>
          </a:ln>
        </p:spPr>
      </p:sp>
      <p:sp>
        <p:nvSpPr>
          <p:cNvPr id="43" name="AutoShape 43"/>
          <p:cNvSpPr/>
          <p:nvPr/>
        </p:nvSpPr>
        <p:spPr>
          <a:xfrm>
            <a:off x="6032792" y="1527314"/>
            <a:ext cx="2782918" cy="0"/>
          </a:xfrm>
          <a:prstGeom prst="line">
            <a:avLst/>
          </a:prstGeom>
          <a:ln w="38100" cap="flat">
            <a:solidFill>
              <a:srgbClr val="5B9BD5"/>
            </a:solidFill>
            <a:prstDash val="solid"/>
            <a:headEnd type="none" w="sm" len="sm"/>
            <a:tailEnd type="none" w="sm" len="sm"/>
          </a:ln>
        </p:spPr>
      </p:sp>
      <p:pic>
        <p:nvPicPr>
          <p:cNvPr id="35" name="Picture 34"/>
          <p:cNvPicPr>
            <a:picLocks noChangeAspect="1"/>
          </p:cNvPicPr>
          <p:nvPr/>
        </p:nvPicPr>
        <p:blipFill>
          <a:blip r:embed="rId3"/>
          <a:stretch>
            <a:fillRect/>
          </a:stretch>
        </p:blipFill>
        <p:spPr>
          <a:xfrm>
            <a:off x="333336" y="1684581"/>
            <a:ext cx="1775475" cy="1287219"/>
          </a:xfrm>
          <a:prstGeom prst="rect">
            <a:avLst/>
          </a:prstGeom>
        </p:spPr>
      </p:pic>
      <p:pic>
        <p:nvPicPr>
          <p:cNvPr id="36" name="Picture 35"/>
          <p:cNvPicPr>
            <a:picLocks noChangeAspect="1"/>
          </p:cNvPicPr>
          <p:nvPr/>
        </p:nvPicPr>
        <p:blipFill>
          <a:blip r:embed="rId4"/>
          <a:stretch>
            <a:fillRect/>
          </a:stretch>
        </p:blipFill>
        <p:spPr>
          <a:xfrm>
            <a:off x="2324711" y="1747958"/>
            <a:ext cx="2362530" cy="1219370"/>
          </a:xfrm>
          <a:prstGeom prst="rect">
            <a:avLst/>
          </a:prstGeom>
        </p:spPr>
      </p:pic>
      <p:grpSp>
        <p:nvGrpSpPr>
          <p:cNvPr id="50" name="Group 49"/>
          <p:cNvGrpSpPr/>
          <p:nvPr/>
        </p:nvGrpSpPr>
        <p:grpSpPr>
          <a:xfrm>
            <a:off x="792583" y="3516407"/>
            <a:ext cx="3237787" cy="2402457"/>
            <a:chOff x="115013" y="3464943"/>
            <a:chExt cx="2628410" cy="1838582"/>
          </a:xfrm>
        </p:grpSpPr>
        <p:pic>
          <p:nvPicPr>
            <p:cNvPr id="37" name="Picture 36"/>
            <p:cNvPicPr>
              <a:picLocks noChangeAspect="1"/>
            </p:cNvPicPr>
            <p:nvPr/>
          </p:nvPicPr>
          <p:blipFill>
            <a:blip r:embed="rId5"/>
            <a:stretch>
              <a:fillRect/>
            </a:stretch>
          </p:blipFill>
          <p:spPr>
            <a:xfrm>
              <a:off x="215097" y="3464943"/>
              <a:ext cx="2438740" cy="1838582"/>
            </a:xfrm>
            <a:prstGeom prst="rect">
              <a:avLst/>
            </a:prstGeom>
          </p:spPr>
        </p:pic>
        <p:sp>
          <p:nvSpPr>
            <p:cNvPr id="38" name="Rectangle 37"/>
            <p:cNvSpPr/>
            <p:nvPr/>
          </p:nvSpPr>
          <p:spPr>
            <a:xfrm>
              <a:off x="1905999" y="4257497"/>
              <a:ext cx="837424" cy="3082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115013" y="4198998"/>
              <a:ext cx="837424" cy="3082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168552" y="5070324"/>
              <a:ext cx="837424" cy="1392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1833072" y="5043876"/>
              <a:ext cx="763166" cy="1656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rot="1854369">
              <a:off x="1719510" y="5041765"/>
              <a:ext cx="837424" cy="13922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ounded Rectangle 59"/>
          <p:cNvSpPr/>
          <p:nvPr/>
        </p:nvSpPr>
        <p:spPr>
          <a:xfrm>
            <a:off x="5257800" y="2133600"/>
            <a:ext cx="4038600" cy="6858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dirty="0" err="1" smtClean="0">
                <a:solidFill>
                  <a:srgbClr val="002060"/>
                </a:solidFill>
                <a:latin typeface="Arial" panose="020B0604020202020204" pitchFamily="34" charset="0"/>
              </a:rPr>
              <a:t>Chỉ</a:t>
            </a:r>
            <a:r>
              <a:rPr lang="en-US" altLang="en-US" dirty="0" smtClean="0">
                <a:solidFill>
                  <a:srgbClr val="002060"/>
                </a:solidFill>
                <a:latin typeface="Arial" panose="020B0604020202020204" pitchFamily="34" charset="0"/>
              </a:rPr>
              <a:t> </a:t>
            </a:r>
            <a:r>
              <a:rPr lang="en-US" altLang="en-US" dirty="0" err="1" smtClean="0">
                <a:solidFill>
                  <a:srgbClr val="002060"/>
                </a:solidFill>
                <a:latin typeface="Arial" panose="020B0604020202020204" pitchFamily="34" charset="0"/>
              </a:rPr>
              <a:t>phục</a:t>
            </a:r>
            <a:r>
              <a:rPr lang="en-US" altLang="en-US" dirty="0" smtClean="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vụ</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xem</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tìm</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kiếm</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đặt</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mua</a:t>
            </a:r>
            <a:r>
              <a:rPr lang="en-US" altLang="en-US" dirty="0">
                <a:solidFill>
                  <a:srgbClr val="002060"/>
                </a:solidFill>
                <a:latin typeface="Arial" panose="020B0604020202020204" pitchFamily="34" charset="0"/>
              </a:rPr>
              <a:t> </a:t>
            </a:r>
            <a:r>
              <a:rPr lang="en-US" altLang="en-US" dirty="0" err="1">
                <a:solidFill>
                  <a:srgbClr val="002060"/>
                </a:solidFill>
                <a:latin typeface="Arial" panose="020B0604020202020204" pitchFamily="34" charset="0"/>
              </a:rPr>
              <a:t>sản</a:t>
            </a:r>
            <a:r>
              <a:rPr lang="en-US" altLang="en-US" dirty="0">
                <a:solidFill>
                  <a:srgbClr val="002060"/>
                </a:solidFill>
                <a:latin typeface="Arial" panose="020B0604020202020204" pitchFamily="34" charset="0"/>
              </a:rPr>
              <a:t> </a:t>
            </a:r>
            <a:r>
              <a:rPr lang="en-US" altLang="en-US" dirty="0" err="1" smtClean="0">
                <a:solidFill>
                  <a:srgbClr val="002060"/>
                </a:solidFill>
                <a:latin typeface="Arial" panose="020B0604020202020204" pitchFamily="34" charset="0"/>
              </a:rPr>
              <a:t>phẩm</a:t>
            </a:r>
            <a:r>
              <a:rPr lang="en-US" altLang="en-US" dirty="0" smtClean="0">
                <a:solidFill>
                  <a:srgbClr val="002060"/>
                </a:solidFill>
                <a:latin typeface="Arial" panose="020B0604020202020204" pitchFamily="34" charset="0"/>
              </a:rPr>
              <a:t>,… .</a:t>
            </a:r>
            <a:endParaRPr lang="en-US" altLang="en-US" dirty="0">
              <a:solidFill>
                <a:srgbClr val="002060"/>
              </a:solidFill>
              <a:latin typeface="Arial" panose="020B0604020202020204" pitchFamily="34" charset="0"/>
            </a:endParaRPr>
          </a:p>
        </p:txBody>
      </p:sp>
      <p:sp>
        <p:nvSpPr>
          <p:cNvPr id="61" name="Rounded Rectangle 60"/>
          <p:cNvSpPr/>
          <p:nvPr/>
        </p:nvSpPr>
        <p:spPr>
          <a:xfrm>
            <a:off x="5248275" y="3063279"/>
            <a:ext cx="4038600" cy="6858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vi-VN" altLang="en-US" dirty="0" smtClean="0">
                <a:solidFill>
                  <a:srgbClr val="002060"/>
                </a:solidFill>
              </a:rPr>
              <a:t>Trang </a:t>
            </a:r>
            <a:r>
              <a:rPr lang="vi-VN" altLang="en-US" dirty="0">
                <a:solidFill>
                  <a:srgbClr val="002060"/>
                </a:solidFill>
              </a:rPr>
              <a:t>quản trị quản lý sản phẩm, đơn hàng, khách </a:t>
            </a:r>
            <a:r>
              <a:rPr lang="en-US" altLang="en-US" dirty="0" smtClean="0">
                <a:solidFill>
                  <a:srgbClr val="002060"/>
                </a:solidFill>
                <a:latin typeface="Arial" panose="020B0604020202020204" pitchFamily="34" charset="0"/>
                <a:cs typeface="Arial" panose="020B0604020202020204" pitchFamily="34" charset="0"/>
              </a:rPr>
              <a:t>hang, banner,… </a:t>
            </a:r>
            <a:r>
              <a:rPr lang="en-US" altLang="en-US" dirty="0" smtClean="0">
                <a:solidFill>
                  <a:srgbClr val="002060"/>
                </a:solidFill>
              </a:rPr>
              <a:t>.</a:t>
            </a:r>
            <a:endParaRPr lang="en-US" altLang="en-US" dirty="0">
              <a:solidFill>
                <a:srgbClr val="002060"/>
              </a:solidFill>
              <a:latin typeface="Arial" panose="020B0604020202020204" pitchFamily="34" charset="0"/>
            </a:endParaRPr>
          </a:p>
        </p:txBody>
      </p:sp>
      <p:sp>
        <p:nvSpPr>
          <p:cNvPr id="62" name="Rounded Rectangle 61"/>
          <p:cNvSpPr/>
          <p:nvPr/>
        </p:nvSpPr>
        <p:spPr>
          <a:xfrm>
            <a:off x="5248275" y="3992958"/>
            <a:ext cx="4038600" cy="6858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vi-VN" altLang="en-US" dirty="0">
                <a:solidFill>
                  <a:srgbClr val="002060"/>
                </a:solidFill>
              </a:rPr>
              <a:t>Hệ thống chạy ở mức mô phỏng phục vụ đồ án (localhost/Docker).</a:t>
            </a:r>
          </a:p>
        </p:txBody>
      </p:sp>
      <p:sp>
        <p:nvSpPr>
          <p:cNvPr id="63" name="Rounded Rectangle 62"/>
          <p:cNvSpPr/>
          <p:nvPr/>
        </p:nvSpPr>
        <p:spPr>
          <a:xfrm>
            <a:off x="5248275" y="4930696"/>
            <a:ext cx="4038600" cy="6858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vi-VN" altLang="en-US" dirty="0">
                <a:solidFill>
                  <a:srgbClr val="002060"/>
                </a:solidFill>
              </a:rPr>
              <a:t>Không tích hợp thanh toán online thực tế.</a:t>
            </a:r>
            <a:endParaRPr lang="en-US" altLang="en-US" dirty="0">
              <a:solidFill>
                <a:srgbClr val="002060"/>
              </a:solidFill>
              <a:latin typeface="Arial" panose="020B0604020202020204" pitchFamily="34" charset="0"/>
            </a:endParaRPr>
          </a:p>
        </p:txBody>
      </p:sp>
      <p:grpSp>
        <p:nvGrpSpPr>
          <p:cNvPr id="39" name="Group 8"/>
          <p:cNvGrpSpPr/>
          <p:nvPr/>
        </p:nvGrpSpPr>
        <p:grpSpPr>
          <a:xfrm>
            <a:off x="260201" y="6832240"/>
            <a:ext cx="9233200" cy="331402"/>
            <a:chOff x="0" y="-19049"/>
            <a:chExt cx="12310933" cy="441869"/>
          </a:xfrm>
        </p:grpSpPr>
        <p:grpSp>
          <p:nvGrpSpPr>
            <p:cNvPr id="40" name="Group 9"/>
            <p:cNvGrpSpPr>
              <a:grpSpLocks noChangeAspect="1"/>
            </p:cNvGrpSpPr>
            <p:nvPr/>
          </p:nvGrpSpPr>
          <p:grpSpPr>
            <a:xfrm>
              <a:off x="2682866" y="46656"/>
              <a:ext cx="9628067" cy="146307"/>
              <a:chOff x="90219" y="0"/>
              <a:chExt cx="12362509" cy="187859"/>
            </a:xfrm>
          </p:grpSpPr>
          <p:sp>
            <p:nvSpPr>
              <p:cNvPr id="49"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6"/>
                <a:stretch>
                  <a:fillRect r="-22539" b="6"/>
                </a:stretch>
              </a:blipFill>
            </p:spPr>
          </p:sp>
        </p:grpSp>
        <p:sp>
          <p:nvSpPr>
            <p:cNvPr id="4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44"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53"/>
          <p:cNvSpPr/>
          <p:nvPr/>
        </p:nvSpPr>
        <p:spPr>
          <a:xfrm>
            <a:off x="6662271" y="0"/>
            <a:ext cx="781086" cy="782509"/>
          </a:xfrm>
          <a:custGeom>
            <a:avLst/>
            <a:gdLst/>
            <a:ahLst/>
            <a:cxnLst/>
            <a:rect l="l" t="t" r="r" b="b"/>
            <a:pathLst>
              <a:path w="781086" h="782509">
                <a:moveTo>
                  <a:pt x="0" y="0"/>
                </a:moveTo>
                <a:lnTo>
                  <a:pt x="781086" y="0"/>
                </a:lnTo>
                <a:lnTo>
                  <a:pt x="781086" y="782509"/>
                </a:lnTo>
                <a:lnTo>
                  <a:pt x="0" y="782509"/>
                </a:lnTo>
                <a:lnTo>
                  <a:pt x="0" y="0"/>
                </a:lnTo>
                <a:close/>
              </a:path>
            </a:pathLst>
          </a:custGeom>
          <a:blipFill>
            <a:blip r:embed="rId3">
              <a:extLst>
                <a:ext uri="{96DAC541-7B7A-43D3-8B79-37D633B846F1}">
                  <asvg:svgBlip xmlns:asvg="http://schemas.microsoft.com/office/drawing/2016/SVG/main" xmlns="" r:embed="rId7"/>
                </a:ext>
              </a:extLst>
            </a:blip>
            <a:stretch>
              <a:fillRect/>
            </a:stretch>
          </a:blipFill>
        </p:spPr>
      </p:sp>
      <p:grpSp>
        <p:nvGrpSpPr>
          <p:cNvPr id="58" name="Group 58"/>
          <p:cNvGrpSpPr/>
          <p:nvPr/>
        </p:nvGrpSpPr>
        <p:grpSpPr>
          <a:xfrm>
            <a:off x="89070" y="137149"/>
            <a:ext cx="6272064" cy="765139"/>
            <a:chOff x="0" y="0"/>
            <a:chExt cx="8362751" cy="1020185"/>
          </a:xfrm>
        </p:grpSpPr>
        <p:grpSp>
          <p:nvGrpSpPr>
            <p:cNvPr id="59" name="Group 59"/>
            <p:cNvGrpSpPr/>
            <p:nvPr/>
          </p:nvGrpSpPr>
          <p:grpSpPr>
            <a:xfrm>
              <a:off x="393157" y="30721"/>
              <a:ext cx="7969595" cy="951389"/>
              <a:chOff x="0" y="0"/>
              <a:chExt cx="7969595" cy="951389"/>
            </a:xfrm>
          </p:grpSpPr>
          <p:sp>
            <p:nvSpPr>
              <p:cNvPr id="60" name="Freeform 60"/>
              <p:cNvSpPr/>
              <p:nvPr/>
            </p:nvSpPr>
            <p:spPr>
              <a:xfrm>
                <a:off x="0" y="0"/>
                <a:ext cx="7969594" cy="951389"/>
              </a:xfrm>
              <a:custGeom>
                <a:avLst/>
                <a:gdLst/>
                <a:ahLst/>
                <a:cxnLst/>
                <a:rect l="l" t="t" r="r" b="b"/>
                <a:pathLst>
                  <a:path w="7969594" h="951389">
                    <a:moveTo>
                      <a:pt x="0" y="0"/>
                    </a:moveTo>
                    <a:lnTo>
                      <a:pt x="7969594" y="0"/>
                    </a:lnTo>
                    <a:lnTo>
                      <a:pt x="7969594" y="951389"/>
                    </a:lnTo>
                    <a:lnTo>
                      <a:pt x="0" y="951389"/>
                    </a:lnTo>
                    <a:close/>
                  </a:path>
                </a:pathLst>
              </a:custGeom>
              <a:solidFill>
                <a:srgbClr val="000000">
                  <a:alpha val="0"/>
                </a:srgbClr>
              </a:solidFill>
            </p:spPr>
          </p:sp>
          <p:sp>
            <p:nvSpPr>
              <p:cNvPr id="61" name="TextBox 61"/>
              <p:cNvSpPr txBox="1"/>
              <p:nvPr/>
            </p:nvSpPr>
            <p:spPr>
              <a:xfrm>
                <a:off x="0" y="-19050"/>
                <a:ext cx="7969595"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2.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cứu</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lý</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thuyết</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62" name="AutoShape 62"/>
            <p:cNvSpPr/>
            <p:nvPr/>
          </p:nvSpPr>
          <p:spPr>
            <a:xfrm>
              <a:off x="105976" y="1007485"/>
              <a:ext cx="8256775" cy="0"/>
            </a:xfrm>
            <a:prstGeom prst="line">
              <a:avLst/>
            </a:prstGeom>
            <a:ln w="25400" cap="rnd">
              <a:solidFill>
                <a:srgbClr val="5B9BD5"/>
              </a:solidFill>
              <a:prstDash val="solid"/>
              <a:headEnd type="none" w="sm" len="sm"/>
              <a:tailEnd type="none" w="sm" len="sm"/>
            </a:ln>
          </p:spPr>
        </p:sp>
        <p:grpSp>
          <p:nvGrpSpPr>
            <p:cNvPr id="63" name="Group 63"/>
            <p:cNvGrpSpPr/>
            <p:nvPr/>
          </p:nvGrpSpPr>
          <p:grpSpPr>
            <a:xfrm>
              <a:off x="0" y="0"/>
              <a:ext cx="211952" cy="1020185"/>
              <a:chOff x="0" y="0"/>
              <a:chExt cx="211952" cy="1020185"/>
            </a:xfrm>
          </p:grpSpPr>
          <p:sp>
            <p:nvSpPr>
              <p:cNvPr id="64" name="Freeform 6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65" name="Freeform 6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66" name="AutoShape 11"/>
          <p:cNvSpPr/>
          <p:nvPr/>
        </p:nvSpPr>
        <p:spPr>
          <a:xfrm>
            <a:off x="4876800" y="949913"/>
            <a:ext cx="0" cy="5633767"/>
          </a:xfrm>
          <a:prstGeom prst="line">
            <a:avLst/>
          </a:prstGeom>
          <a:ln w="38100" cap="flat">
            <a:solidFill>
              <a:srgbClr val="5B9BD5"/>
            </a:solidFill>
            <a:prstDash val="solid"/>
            <a:headEnd type="none" w="sm" len="sm"/>
            <a:tailEnd type="none" w="sm" len="sm"/>
          </a:ln>
        </p:spPr>
      </p:sp>
      <p:sp>
        <p:nvSpPr>
          <p:cNvPr id="67" name="TextBox 32"/>
          <p:cNvSpPr txBox="1"/>
          <p:nvPr/>
        </p:nvSpPr>
        <p:spPr>
          <a:xfrm>
            <a:off x="0" y="1011779"/>
            <a:ext cx="4800600" cy="436017"/>
          </a:xfrm>
          <a:prstGeom prst="rect">
            <a:avLst/>
          </a:prstGeom>
        </p:spPr>
        <p:txBody>
          <a:bodyPr wrap="square" lIns="0" tIns="0" rIns="0" bIns="0" rtlCol="0" anchor="t">
            <a:spAutoFit/>
          </a:bodyPr>
          <a:lstStyle/>
          <a:p>
            <a:pPr algn="ctr">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Công</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nghệ</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sử</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dụng</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sp>
        <p:nvSpPr>
          <p:cNvPr id="68" name="TextBox 33"/>
          <p:cNvSpPr txBox="1"/>
          <p:nvPr/>
        </p:nvSpPr>
        <p:spPr>
          <a:xfrm>
            <a:off x="5067300" y="1030829"/>
            <a:ext cx="4495800" cy="436017"/>
          </a:xfrm>
          <a:prstGeom prst="rect">
            <a:avLst/>
          </a:prstGeom>
        </p:spPr>
        <p:txBody>
          <a:bodyPr wrap="square" lIns="0" tIns="0" rIns="0" bIns="0" rtlCol="0" anchor="t">
            <a:spAutoFit/>
          </a:bodyPr>
          <a:lstStyle/>
          <a:p>
            <a:pPr algn="ctr">
              <a:lnSpc>
                <a:spcPts val="3360"/>
              </a:lnSpc>
            </a:pP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Phương</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pháp</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nghiên</a:t>
            </a:r>
            <a:r>
              <a:rPr lang="en-US" sz="2800" b="1" dirty="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a:solidFill>
                  <a:srgbClr val="3117D4"/>
                </a:solidFill>
                <a:latin typeface="Arial Bold" panose="020B0704020202020204"/>
                <a:ea typeface="Arial Bold" panose="020B0704020202020204"/>
                <a:cs typeface="Arial Bold" panose="020B0704020202020204"/>
                <a:sym typeface="Arial Bold" panose="020B0704020202020204"/>
              </a:rPr>
              <a:t>cứu</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sp>
        <p:nvSpPr>
          <p:cNvPr id="69" name="AutoShape 42"/>
          <p:cNvSpPr/>
          <p:nvPr/>
        </p:nvSpPr>
        <p:spPr>
          <a:xfrm>
            <a:off x="714146" y="1524000"/>
            <a:ext cx="3316224" cy="0"/>
          </a:xfrm>
          <a:prstGeom prst="line">
            <a:avLst/>
          </a:prstGeom>
          <a:ln w="38100" cap="flat">
            <a:solidFill>
              <a:srgbClr val="5B9BD5"/>
            </a:solidFill>
            <a:prstDash val="solid"/>
            <a:headEnd type="none" w="sm" len="sm"/>
            <a:tailEnd type="none" w="sm" len="sm"/>
          </a:ln>
        </p:spPr>
      </p:sp>
      <p:sp>
        <p:nvSpPr>
          <p:cNvPr id="70" name="AutoShape 43"/>
          <p:cNvSpPr/>
          <p:nvPr/>
        </p:nvSpPr>
        <p:spPr>
          <a:xfrm>
            <a:off x="6032792" y="1524000"/>
            <a:ext cx="2782918" cy="0"/>
          </a:xfrm>
          <a:prstGeom prst="line">
            <a:avLst/>
          </a:prstGeom>
          <a:ln w="38100" cap="flat">
            <a:solidFill>
              <a:srgbClr val="5B9BD5"/>
            </a:solidFill>
            <a:prstDash val="solid"/>
            <a:headEnd type="none" w="sm" len="sm"/>
            <a:tailEnd type="none" w="sm" len="sm"/>
          </a:ln>
        </p:spPr>
      </p:sp>
      <p:pic>
        <p:nvPicPr>
          <p:cNvPr id="109" name="Picture 108"/>
          <p:cNvPicPr>
            <a:picLocks noChangeAspect="1"/>
          </p:cNvPicPr>
          <p:nvPr/>
        </p:nvPicPr>
        <p:blipFill>
          <a:blip r:embed="rId8"/>
          <a:stretch>
            <a:fillRect/>
          </a:stretch>
        </p:blipFill>
        <p:spPr>
          <a:xfrm>
            <a:off x="1273300" y="4459887"/>
            <a:ext cx="2153478" cy="1849969"/>
          </a:xfrm>
          <a:prstGeom prst="rect">
            <a:avLst/>
          </a:prstGeom>
        </p:spPr>
      </p:pic>
      <p:grpSp>
        <p:nvGrpSpPr>
          <p:cNvPr id="17" name="Group 16"/>
          <p:cNvGrpSpPr/>
          <p:nvPr/>
        </p:nvGrpSpPr>
        <p:grpSpPr>
          <a:xfrm>
            <a:off x="225448" y="1687502"/>
            <a:ext cx="4207092" cy="2095531"/>
            <a:chOff x="5044575" y="1915329"/>
            <a:chExt cx="4207092" cy="2095531"/>
          </a:xfrm>
        </p:grpSpPr>
        <p:pic>
          <p:nvPicPr>
            <p:cNvPr id="106" name="Picture 105"/>
            <p:cNvPicPr>
              <a:picLocks noChangeAspect="1"/>
            </p:cNvPicPr>
            <p:nvPr/>
          </p:nvPicPr>
          <p:blipFill>
            <a:blip r:embed="rId9"/>
            <a:stretch>
              <a:fillRect/>
            </a:stretch>
          </p:blipFill>
          <p:spPr>
            <a:xfrm>
              <a:off x="6587424" y="2059742"/>
              <a:ext cx="2664243" cy="1770568"/>
            </a:xfrm>
            <a:prstGeom prst="rect">
              <a:avLst/>
            </a:prstGeom>
          </p:spPr>
        </p:pic>
        <p:pic>
          <p:nvPicPr>
            <p:cNvPr id="100" name="Picture 99"/>
            <p:cNvPicPr>
              <a:picLocks noChangeAspect="1"/>
            </p:cNvPicPr>
            <p:nvPr/>
          </p:nvPicPr>
          <p:blipFill>
            <a:blip r:embed="rId10"/>
            <a:stretch>
              <a:fillRect/>
            </a:stretch>
          </p:blipFill>
          <p:spPr>
            <a:xfrm>
              <a:off x="5044575" y="2733343"/>
              <a:ext cx="1375074" cy="1277517"/>
            </a:xfrm>
            <a:prstGeom prst="rect">
              <a:avLst/>
            </a:prstGeom>
          </p:spPr>
        </p:pic>
        <p:pic>
          <p:nvPicPr>
            <p:cNvPr id="108" name="Picture 107"/>
            <p:cNvPicPr>
              <a:picLocks noChangeAspect="1"/>
            </p:cNvPicPr>
            <p:nvPr/>
          </p:nvPicPr>
          <p:blipFill>
            <a:blip r:embed="rId11"/>
            <a:stretch>
              <a:fillRect/>
            </a:stretch>
          </p:blipFill>
          <p:spPr>
            <a:xfrm>
              <a:off x="5633642" y="1915329"/>
              <a:ext cx="2285903" cy="842175"/>
            </a:xfrm>
            <a:prstGeom prst="rect">
              <a:avLst/>
            </a:prstGeom>
          </p:spPr>
        </p:pic>
      </p:grpSp>
      <p:sp>
        <p:nvSpPr>
          <p:cNvPr id="19" name="Down Arrow 18"/>
          <p:cNvSpPr/>
          <p:nvPr/>
        </p:nvSpPr>
        <p:spPr>
          <a:xfrm>
            <a:off x="2069783" y="3843618"/>
            <a:ext cx="560511" cy="42471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109"/>
          <p:cNvSpPr/>
          <p:nvPr/>
        </p:nvSpPr>
        <p:spPr>
          <a:xfrm>
            <a:off x="5257800" y="1867047"/>
            <a:ext cx="4114800" cy="685800"/>
          </a:xfrm>
          <a:prstGeom prst="roundRect">
            <a:avLst/>
          </a:prstGeom>
          <a:solidFill>
            <a:schemeClr val="bg1"/>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sz="2000" dirty="0" err="1">
                <a:solidFill>
                  <a:srgbClr val="002060"/>
                </a:solidFill>
                <a:latin typeface="Arial" panose="020B0604020202020204"/>
              </a:rPr>
              <a:t>Phương</a:t>
            </a:r>
            <a:r>
              <a:rPr lang="en-US" sz="2000" dirty="0">
                <a:solidFill>
                  <a:srgbClr val="002060"/>
                </a:solidFill>
                <a:latin typeface="Arial" panose="020B0604020202020204"/>
              </a:rPr>
              <a:t> </a:t>
            </a:r>
            <a:r>
              <a:rPr lang="en-US" sz="2000" dirty="0" err="1">
                <a:solidFill>
                  <a:srgbClr val="002060"/>
                </a:solidFill>
                <a:latin typeface="Arial" panose="020B0604020202020204"/>
              </a:rPr>
              <a:t>pháp</a:t>
            </a:r>
            <a:r>
              <a:rPr lang="en-US" sz="2000" dirty="0">
                <a:solidFill>
                  <a:srgbClr val="002060"/>
                </a:solidFill>
                <a:latin typeface="Arial" panose="020B0604020202020204"/>
              </a:rPr>
              <a:t> </a:t>
            </a:r>
            <a:r>
              <a:rPr lang="en-US" sz="2000" dirty="0" err="1">
                <a:solidFill>
                  <a:srgbClr val="002060"/>
                </a:solidFill>
                <a:latin typeface="Arial" panose="020B0604020202020204"/>
              </a:rPr>
              <a:t>phân</a:t>
            </a:r>
            <a:r>
              <a:rPr lang="en-US" sz="2000" dirty="0">
                <a:solidFill>
                  <a:srgbClr val="002060"/>
                </a:solidFill>
                <a:latin typeface="Arial" panose="020B0604020202020204"/>
              </a:rPr>
              <a:t> </a:t>
            </a:r>
            <a:r>
              <a:rPr lang="en-US" sz="2000" dirty="0" err="1">
                <a:solidFill>
                  <a:srgbClr val="002060"/>
                </a:solidFill>
                <a:latin typeface="Arial" panose="020B0604020202020204"/>
              </a:rPr>
              <a:t>tích</a:t>
            </a:r>
            <a:r>
              <a:rPr lang="en-US" sz="2000" dirty="0">
                <a:solidFill>
                  <a:srgbClr val="002060"/>
                </a:solidFill>
                <a:latin typeface="Arial" panose="020B0604020202020204"/>
              </a:rPr>
              <a:t> </a:t>
            </a:r>
            <a:r>
              <a:rPr lang="en-US" sz="2000" dirty="0" err="1">
                <a:solidFill>
                  <a:srgbClr val="002060"/>
                </a:solidFill>
                <a:latin typeface="Arial" panose="020B0604020202020204"/>
              </a:rPr>
              <a:t>hệ</a:t>
            </a:r>
            <a:r>
              <a:rPr lang="en-US" sz="2000" dirty="0">
                <a:solidFill>
                  <a:srgbClr val="002060"/>
                </a:solidFill>
                <a:latin typeface="Arial" panose="020B0604020202020204"/>
              </a:rPr>
              <a:t> </a:t>
            </a:r>
            <a:r>
              <a:rPr lang="en-US" sz="2000" dirty="0" err="1">
                <a:solidFill>
                  <a:srgbClr val="002060"/>
                </a:solidFill>
                <a:latin typeface="Arial" panose="020B0604020202020204"/>
              </a:rPr>
              <a:t>thống</a:t>
            </a:r>
            <a:endParaRPr lang="en-US" altLang="en-US" sz="2000" dirty="0">
              <a:solidFill>
                <a:srgbClr val="002060"/>
              </a:solidFill>
              <a:latin typeface="Arial" panose="020B0604020202020204"/>
            </a:endParaRPr>
          </a:p>
        </p:txBody>
      </p:sp>
      <p:sp>
        <p:nvSpPr>
          <p:cNvPr id="111" name="Rounded Rectangle 110"/>
          <p:cNvSpPr/>
          <p:nvPr/>
        </p:nvSpPr>
        <p:spPr>
          <a:xfrm>
            <a:off x="5257800" y="2918081"/>
            <a:ext cx="4114800" cy="685800"/>
          </a:xfrm>
          <a:prstGeom prst="roundRect">
            <a:avLst/>
          </a:prstGeom>
          <a:solidFill>
            <a:schemeClr val="bg1"/>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sz="2000" dirty="0" err="1">
                <a:solidFill>
                  <a:srgbClr val="002060"/>
                </a:solidFill>
                <a:latin typeface="Arial" panose="020B0604020202020204"/>
              </a:rPr>
              <a:t>Phương</a:t>
            </a:r>
            <a:r>
              <a:rPr lang="en-US" sz="2000" dirty="0">
                <a:solidFill>
                  <a:srgbClr val="002060"/>
                </a:solidFill>
                <a:latin typeface="Arial" panose="020B0604020202020204"/>
              </a:rPr>
              <a:t> </a:t>
            </a:r>
            <a:r>
              <a:rPr lang="en-US" sz="2000" dirty="0" err="1">
                <a:solidFill>
                  <a:srgbClr val="002060"/>
                </a:solidFill>
                <a:latin typeface="Arial" panose="020B0604020202020204"/>
              </a:rPr>
              <a:t>pháp</a:t>
            </a:r>
            <a:r>
              <a:rPr lang="en-US" sz="2000" dirty="0">
                <a:solidFill>
                  <a:srgbClr val="002060"/>
                </a:solidFill>
                <a:latin typeface="Arial" panose="020B0604020202020204"/>
              </a:rPr>
              <a:t> </a:t>
            </a:r>
            <a:r>
              <a:rPr lang="en-US" sz="2000" dirty="0" err="1" smtClean="0">
                <a:solidFill>
                  <a:srgbClr val="002060"/>
                </a:solidFill>
                <a:latin typeface="Arial" panose="020B0604020202020204"/>
              </a:rPr>
              <a:t>thiết</a:t>
            </a:r>
            <a:r>
              <a:rPr lang="en-US" sz="2000" dirty="0" smtClean="0">
                <a:solidFill>
                  <a:srgbClr val="002060"/>
                </a:solidFill>
                <a:latin typeface="Arial" panose="020B0604020202020204"/>
              </a:rPr>
              <a:t> </a:t>
            </a:r>
            <a:r>
              <a:rPr lang="en-US" sz="2000" dirty="0" err="1" smtClean="0">
                <a:solidFill>
                  <a:srgbClr val="002060"/>
                </a:solidFill>
                <a:latin typeface="Arial" panose="020B0604020202020204"/>
              </a:rPr>
              <a:t>kế</a:t>
            </a:r>
            <a:endParaRPr lang="en-US" altLang="en-US" sz="2000" dirty="0">
              <a:solidFill>
                <a:srgbClr val="002060"/>
              </a:solidFill>
              <a:latin typeface="Arial" panose="020B0604020202020204"/>
            </a:endParaRPr>
          </a:p>
        </p:txBody>
      </p:sp>
      <p:sp>
        <p:nvSpPr>
          <p:cNvPr id="112" name="Rounded Rectangle 111"/>
          <p:cNvSpPr/>
          <p:nvPr/>
        </p:nvSpPr>
        <p:spPr>
          <a:xfrm>
            <a:off x="5257800" y="3969115"/>
            <a:ext cx="4114800" cy="685800"/>
          </a:xfrm>
          <a:prstGeom prst="roundRect">
            <a:avLst/>
          </a:prstGeom>
          <a:solidFill>
            <a:schemeClr val="bg1"/>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sz="2000" dirty="0" err="1">
                <a:solidFill>
                  <a:srgbClr val="002060"/>
                </a:solidFill>
                <a:latin typeface="Arial" panose="020B0604020202020204"/>
              </a:rPr>
              <a:t>Phương</a:t>
            </a:r>
            <a:r>
              <a:rPr lang="en-US" sz="2000" dirty="0">
                <a:solidFill>
                  <a:srgbClr val="002060"/>
                </a:solidFill>
                <a:latin typeface="Arial" panose="020B0604020202020204"/>
              </a:rPr>
              <a:t> </a:t>
            </a:r>
            <a:r>
              <a:rPr lang="en-US" sz="2000" dirty="0" err="1">
                <a:solidFill>
                  <a:srgbClr val="002060"/>
                </a:solidFill>
                <a:latin typeface="Arial" panose="020B0604020202020204"/>
              </a:rPr>
              <a:t>pháp</a:t>
            </a:r>
            <a:r>
              <a:rPr lang="en-US" sz="2000" dirty="0">
                <a:solidFill>
                  <a:srgbClr val="002060"/>
                </a:solidFill>
                <a:latin typeface="Arial" panose="020B0604020202020204"/>
              </a:rPr>
              <a:t> </a:t>
            </a:r>
            <a:r>
              <a:rPr lang="en-US" sz="2000" dirty="0" err="1" smtClean="0">
                <a:solidFill>
                  <a:srgbClr val="002060"/>
                </a:solidFill>
                <a:latin typeface="Arial" panose="020B0604020202020204"/>
              </a:rPr>
              <a:t>hiện</a:t>
            </a:r>
            <a:r>
              <a:rPr lang="en-US" sz="2000" dirty="0" smtClean="0">
                <a:solidFill>
                  <a:srgbClr val="002060"/>
                </a:solidFill>
                <a:latin typeface="Arial" panose="020B0604020202020204"/>
              </a:rPr>
              <a:t> </a:t>
            </a:r>
            <a:r>
              <a:rPr lang="en-US" sz="2000" dirty="0" err="1" smtClean="0">
                <a:solidFill>
                  <a:srgbClr val="002060"/>
                </a:solidFill>
                <a:latin typeface="Arial" panose="020B0604020202020204"/>
              </a:rPr>
              <a:t>thực</a:t>
            </a:r>
            <a:r>
              <a:rPr lang="en-US" sz="2000" dirty="0" smtClean="0">
                <a:solidFill>
                  <a:srgbClr val="002060"/>
                </a:solidFill>
                <a:latin typeface="Arial" panose="020B0604020202020204"/>
              </a:rPr>
              <a:t> </a:t>
            </a:r>
            <a:r>
              <a:rPr lang="en-US" sz="2000" dirty="0" err="1" smtClean="0">
                <a:solidFill>
                  <a:srgbClr val="002060"/>
                </a:solidFill>
                <a:latin typeface="Arial" panose="020B0604020202020204"/>
              </a:rPr>
              <a:t>hóa</a:t>
            </a:r>
            <a:endParaRPr lang="en-US" altLang="en-US" sz="2000" dirty="0">
              <a:solidFill>
                <a:srgbClr val="002060"/>
              </a:solidFill>
              <a:latin typeface="Arial" panose="020B0604020202020204"/>
            </a:endParaRPr>
          </a:p>
        </p:txBody>
      </p:sp>
      <p:sp>
        <p:nvSpPr>
          <p:cNvPr id="114" name="Rounded Rectangle 113"/>
          <p:cNvSpPr/>
          <p:nvPr/>
        </p:nvSpPr>
        <p:spPr>
          <a:xfrm>
            <a:off x="5257800" y="5019765"/>
            <a:ext cx="4114800" cy="685800"/>
          </a:xfrm>
          <a:prstGeom prst="roundRect">
            <a:avLst/>
          </a:prstGeom>
          <a:solidFill>
            <a:schemeClr val="bg1"/>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sz="2000" dirty="0" err="1">
                <a:solidFill>
                  <a:srgbClr val="002060"/>
                </a:solidFill>
                <a:latin typeface="Arial" panose="020B0604020202020204"/>
              </a:rPr>
              <a:t>Phương</a:t>
            </a:r>
            <a:r>
              <a:rPr lang="en-US" sz="2000" dirty="0">
                <a:solidFill>
                  <a:srgbClr val="002060"/>
                </a:solidFill>
                <a:latin typeface="Arial" panose="020B0604020202020204"/>
              </a:rPr>
              <a:t> </a:t>
            </a:r>
            <a:r>
              <a:rPr lang="en-US" sz="2000" dirty="0" err="1">
                <a:solidFill>
                  <a:srgbClr val="002060"/>
                </a:solidFill>
                <a:latin typeface="Arial" panose="020B0604020202020204"/>
              </a:rPr>
              <a:t>pháp</a:t>
            </a:r>
            <a:r>
              <a:rPr lang="en-US" sz="2000" dirty="0">
                <a:solidFill>
                  <a:srgbClr val="002060"/>
                </a:solidFill>
                <a:latin typeface="Arial" panose="020B0604020202020204"/>
              </a:rPr>
              <a:t> </a:t>
            </a:r>
            <a:r>
              <a:rPr lang="en-US" sz="2000" dirty="0" err="1" smtClean="0">
                <a:solidFill>
                  <a:srgbClr val="002060"/>
                </a:solidFill>
                <a:latin typeface="Arial" panose="020B0604020202020204"/>
              </a:rPr>
              <a:t>thử</a:t>
            </a:r>
            <a:r>
              <a:rPr lang="en-US" sz="2000" dirty="0" smtClean="0">
                <a:solidFill>
                  <a:srgbClr val="002060"/>
                </a:solidFill>
                <a:latin typeface="Arial" panose="020B0604020202020204"/>
              </a:rPr>
              <a:t> </a:t>
            </a:r>
            <a:r>
              <a:rPr lang="en-US" sz="2000" dirty="0" err="1" smtClean="0">
                <a:solidFill>
                  <a:srgbClr val="002060"/>
                </a:solidFill>
                <a:latin typeface="Arial" panose="020B0604020202020204"/>
              </a:rPr>
              <a:t>nghiệm</a:t>
            </a:r>
            <a:endParaRPr lang="en-US" altLang="en-US" sz="2000" dirty="0">
              <a:solidFill>
                <a:srgbClr val="002060"/>
              </a:solidFill>
              <a:latin typeface="Arial" panose="020B0604020202020204"/>
            </a:endParaRPr>
          </a:p>
        </p:txBody>
      </p:sp>
      <p:grpSp>
        <p:nvGrpSpPr>
          <p:cNvPr id="117" name="Group 8"/>
          <p:cNvGrpSpPr/>
          <p:nvPr/>
        </p:nvGrpSpPr>
        <p:grpSpPr>
          <a:xfrm>
            <a:off x="260201" y="6832240"/>
            <a:ext cx="9233200" cy="331402"/>
            <a:chOff x="0" y="-19049"/>
            <a:chExt cx="12310933" cy="441869"/>
          </a:xfrm>
        </p:grpSpPr>
        <p:grpSp>
          <p:nvGrpSpPr>
            <p:cNvPr id="118" name="Group 9"/>
            <p:cNvGrpSpPr>
              <a:grpSpLocks noChangeAspect="1"/>
            </p:cNvGrpSpPr>
            <p:nvPr/>
          </p:nvGrpSpPr>
          <p:grpSpPr>
            <a:xfrm>
              <a:off x="2682866" y="46656"/>
              <a:ext cx="9628067" cy="146307"/>
              <a:chOff x="90219" y="0"/>
              <a:chExt cx="12362509" cy="187859"/>
            </a:xfrm>
          </p:grpSpPr>
          <p:sp>
            <p:nvSpPr>
              <p:cNvPr id="121"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12"/>
                <a:stretch>
                  <a:fillRect r="-22539" b="6"/>
                </a:stretch>
              </a:blipFill>
            </p:spPr>
          </p:sp>
        </p:grpSp>
        <p:sp>
          <p:nvSpPr>
            <p:cNvPr id="119"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120"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7"/>
          <p:cNvSpPr txBox="1"/>
          <p:nvPr/>
        </p:nvSpPr>
        <p:spPr>
          <a:xfrm>
            <a:off x="487680" y="1039034"/>
            <a:ext cx="4846320" cy="408766"/>
          </a:xfrm>
          <a:prstGeom prst="rect">
            <a:avLst/>
          </a:prstGeom>
        </p:spPr>
        <p:txBody>
          <a:bodyPr wrap="square" lIns="0" tIns="0" rIns="0" bIns="0" rtlCol="0" anchor="t">
            <a:spAutoFit/>
          </a:bodyPr>
          <a:lstStyle/>
          <a:p>
            <a:pPr algn="l">
              <a:lnSpc>
                <a:spcPts val="3360"/>
              </a:lnSpc>
            </a:pP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Tổng</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quan</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hệ</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thống</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6464130" cy="765139"/>
            <a:chOff x="0" y="0"/>
            <a:chExt cx="8618840" cy="1020185"/>
          </a:xfrm>
        </p:grpSpPr>
        <p:grpSp>
          <p:nvGrpSpPr>
            <p:cNvPr id="9" name="Group 9"/>
            <p:cNvGrpSpPr/>
            <p:nvPr/>
          </p:nvGrpSpPr>
          <p:grpSpPr>
            <a:xfrm>
              <a:off x="393157" y="11670"/>
              <a:ext cx="8225683" cy="970440"/>
              <a:chOff x="0" y="-19051"/>
              <a:chExt cx="8225683" cy="970440"/>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1"/>
                <a:ext cx="8225683" cy="970440"/>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3.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Hiện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thực</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hóa</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8411264"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grpSp>
        <p:nvGrpSpPr>
          <p:cNvPr id="37" name="Group 36"/>
          <p:cNvGrpSpPr/>
          <p:nvPr/>
        </p:nvGrpSpPr>
        <p:grpSpPr>
          <a:xfrm>
            <a:off x="5334001" y="1541872"/>
            <a:ext cx="3276605" cy="2658088"/>
            <a:chOff x="4724395" y="1523999"/>
            <a:chExt cx="3276605" cy="2658088"/>
          </a:xfrm>
        </p:grpSpPr>
        <p:sp>
          <p:nvSpPr>
            <p:cNvPr id="31" name="Round Same Side Corner Rectangle 30"/>
            <p:cNvSpPr/>
            <p:nvPr/>
          </p:nvSpPr>
          <p:spPr>
            <a:xfrm>
              <a:off x="4724400" y="1523999"/>
              <a:ext cx="3276600" cy="533505"/>
            </a:xfrm>
            <a:prstGeom prst="round2Same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bg2">
                      <a:lumMod val="10000"/>
                    </a:schemeClr>
                  </a:solidFill>
                  <a:latin typeface="Arial" panose="020B0604020202020204" pitchFamily="34" charset="0"/>
                  <a:cs typeface="Arial" panose="020B0604020202020204" pitchFamily="34" charset="0"/>
                </a:rPr>
                <a:t>Xem</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tìm</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kiếm</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yêu</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thích</a:t>
              </a:r>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32" name="Round Same Side Corner Rectangle 31"/>
            <p:cNvSpPr/>
            <p:nvPr/>
          </p:nvSpPr>
          <p:spPr>
            <a:xfrm rot="10800000">
              <a:off x="4724395" y="3648582"/>
              <a:ext cx="3276600" cy="533505"/>
            </a:xfrm>
            <a:prstGeom prst="round2Same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lang="en-US" sz="2000" dirty="0">
                <a:solidFill>
                  <a:schemeClr val="tx1"/>
                </a:solidFill>
                <a:latin typeface="Arial" panose="020B0604020202020204" pitchFamily="34" charset="0"/>
                <a:cs typeface="Arial" panose="020B0604020202020204" pitchFamily="34" charset="0"/>
              </a:endParaRPr>
            </a:p>
          </p:txBody>
        </p:sp>
        <p:sp>
          <p:nvSpPr>
            <p:cNvPr id="33" name="Rectangle 32"/>
            <p:cNvSpPr/>
            <p:nvPr/>
          </p:nvSpPr>
          <p:spPr>
            <a:xfrm>
              <a:off x="4724398" y="2057502"/>
              <a:ext cx="3276602" cy="533505"/>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bg2">
                      <a:lumMod val="10000"/>
                    </a:schemeClr>
                  </a:solidFill>
                  <a:latin typeface="Arial" panose="020B0604020202020204" pitchFamily="34" charset="0"/>
                  <a:cs typeface="Arial" panose="020B0604020202020204" pitchFamily="34" charset="0"/>
                </a:rPr>
                <a:t>Thêm</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giỏ</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hàng</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mua</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hàng</a:t>
              </a:r>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34" name="Rectangle 33"/>
            <p:cNvSpPr/>
            <p:nvPr/>
          </p:nvSpPr>
          <p:spPr>
            <a:xfrm>
              <a:off x="4724398" y="2591005"/>
              <a:ext cx="3276602" cy="533505"/>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bg2">
                      <a:lumMod val="10000"/>
                    </a:schemeClr>
                  </a:solidFill>
                  <a:latin typeface="Arial" panose="020B0604020202020204" pitchFamily="34" charset="0"/>
                  <a:cs typeface="Arial" panose="020B0604020202020204" pitchFamily="34" charset="0"/>
                </a:rPr>
                <a:t>Đánh</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giá</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sản</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phẩm</a:t>
              </a:r>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35" name="Rectangle 34"/>
            <p:cNvSpPr/>
            <p:nvPr/>
          </p:nvSpPr>
          <p:spPr>
            <a:xfrm>
              <a:off x="4724397" y="3115083"/>
              <a:ext cx="3276602" cy="533505"/>
            </a:xfrm>
            <a:prstGeom prst="rect">
              <a:avLst/>
            </a:prstGeom>
            <a:solidFill>
              <a:schemeClr val="bg1"/>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smtClean="0">
                  <a:solidFill>
                    <a:schemeClr val="bg2">
                      <a:lumMod val="10000"/>
                    </a:schemeClr>
                  </a:solidFill>
                  <a:latin typeface="Arial" panose="020B0604020202020204" pitchFamily="34" charset="0"/>
                  <a:cs typeface="Arial" panose="020B0604020202020204" pitchFamily="34" charset="0"/>
                </a:rPr>
                <a:t>Xác</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thực</a:t>
              </a:r>
              <a:r>
                <a:rPr lang="en-US" sz="2000" dirty="0" smtClean="0">
                  <a:solidFill>
                    <a:schemeClr val="bg2">
                      <a:lumMod val="10000"/>
                    </a:schemeClr>
                  </a:solidFill>
                  <a:latin typeface="Arial" panose="020B0604020202020204" pitchFamily="34" charset="0"/>
                  <a:cs typeface="Arial" panose="020B0604020202020204" pitchFamily="34" charset="0"/>
                </a:rPr>
                <a:t> EDU</a:t>
              </a:r>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36" name="Rectangle 35"/>
            <p:cNvSpPr/>
            <p:nvPr/>
          </p:nvSpPr>
          <p:spPr>
            <a:xfrm>
              <a:off x="4800595" y="3712155"/>
              <a:ext cx="3124200" cy="400110"/>
            </a:xfrm>
            <a:prstGeom prst="rect">
              <a:avLst/>
            </a:prstGeom>
            <a:ln>
              <a:solidFill>
                <a:schemeClr val="bg1"/>
              </a:solidFill>
            </a:ln>
          </p:spPr>
          <p:txBody>
            <a:bodyPr wrap="square">
              <a:spAutoFit/>
            </a:bodyPr>
            <a:lstStyle/>
            <a:p>
              <a:pPr algn="ctr"/>
              <a:r>
                <a:rPr lang="en-US" sz="2000" dirty="0" err="1">
                  <a:solidFill>
                    <a:schemeClr val="bg2">
                      <a:lumMod val="10000"/>
                    </a:schemeClr>
                  </a:solidFill>
                  <a:latin typeface="Arial" panose="020B0604020202020204" pitchFamily="34" charset="0"/>
                  <a:cs typeface="Arial" panose="020B0604020202020204" pitchFamily="34" charset="0"/>
                </a:rPr>
                <a:t>Quản</a:t>
              </a:r>
              <a:r>
                <a:rPr lang="en-US" sz="2000" dirty="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lý</a:t>
              </a:r>
              <a:r>
                <a:rPr lang="en-US" sz="2000" dirty="0" smtClean="0">
                  <a:solidFill>
                    <a:schemeClr val="bg2">
                      <a:lumMod val="10000"/>
                    </a:schemeClr>
                  </a:solidFill>
                  <a:latin typeface="Arial" panose="020B0604020202020204" pitchFamily="34" charset="0"/>
                  <a:cs typeface="Arial" panose="020B0604020202020204" pitchFamily="34" charset="0"/>
                </a:rPr>
                <a:t> </a:t>
              </a:r>
              <a:r>
                <a:rPr lang="en-US" sz="2000" dirty="0" err="1" smtClean="0">
                  <a:solidFill>
                    <a:schemeClr val="bg2">
                      <a:lumMod val="10000"/>
                    </a:schemeClr>
                  </a:solidFill>
                  <a:latin typeface="Arial" panose="020B0604020202020204" pitchFamily="34" charset="0"/>
                  <a:cs typeface="Arial" panose="020B0604020202020204" pitchFamily="34" charset="0"/>
                </a:rPr>
                <a:t>của</a:t>
              </a:r>
              <a:r>
                <a:rPr lang="en-US" sz="2000" dirty="0" smtClean="0">
                  <a:solidFill>
                    <a:schemeClr val="bg2">
                      <a:lumMod val="10000"/>
                    </a:schemeClr>
                  </a:solidFill>
                  <a:latin typeface="Arial" panose="020B0604020202020204" pitchFamily="34" charset="0"/>
                  <a:cs typeface="Arial" panose="020B0604020202020204" pitchFamily="34" charset="0"/>
                </a:rPr>
                <a:t> Admin </a:t>
              </a:r>
              <a:endParaRPr lang="en-US" sz="2000" dirty="0">
                <a:solidFill>
                  <a:schemeClr val="bg2">
                    <a:lumMod val="10000"/>
                  </a:schemeClr>
                </a:solidFill>
                <a:latin typeface="Arial" panose="020B0604020202020204" pitchFamily="34" charset="0"/>
                <a:cs typeface="Arial" panose="020B0604020202020204" pitchFamily="34" charset="0"/>
              </a:endParaRPr>
            </a:p>
          </p:txBody>
        </p:sp>
      </p:grpSp>
      <p:cxnSp>
        <p:nvCxnSpPr>
          <p:cNvPr id="41" name="Curved Connector 40"/>
          <p:cNvCxnSpPr>
            <a:stCxn id="19" idx="3"/>
            <a:endCxn id="31" idx="2"/>
          </p:cNvCxnSpPr>
          <p:nvPr/>
        </p:nvCxnSpPr>
        <p:spPr>
          <a:xfrm flipV="1">
            <a:off x="3936470" y="1808625"/>
            <a:ext cx="1397536" cy="1062293"/>
          </a:xfrm>
          <a:prstGeom prst="curvedConnector3">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urved Connector 42"/>
          <p:cNvCxnSpPr>
            <a:stCxn id="19" idx="3"/>
            <a:endCxn id="33" idx="1"/>
          </p:cNvCxnSpPr>
          <p:nvPr/>
        </p:nvCxnSpPr>
        <p:spPr>
          <a:xfrm flipV="1">
            <a:off x="3936470" y="2342128"/>
            <a:ext cx="1397534" cy="528790"/>
          </a:xfrm>
          <a:prstGeom prst="curvedConnector3">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urved Connector 44"/>
          <p:cNvCxnSpPr>
            <a:stCxn id="19" idx="3"/>
            <a:endCxn id="34" idx="1"/>
          </p:cNvCxnSpPr>
          <p:nvPr/>
        </p:nvCxnSpPr>
        <p:spPr>
          <a:xfrm>
            <a:off x="3936470" y="2870918"/>
            <a:ext cx="1397534" cy="4713"/>
          </a:xfrm>
          <a:prstGeom prst="curvedConnector3">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urved Connector 46"/>
          <p:cNvCxnSpPr>
            <a:stCxn id="19" idx="3"/>
            <a:endCxn id="35" idx="1"/>
          </p:cNvCxnSpPr>
          <p:nvPr/>
        </p:nvCxnSpPr>
        <p:spPr>
          <a:xfrm>
            <a:off x="3936470" y="2870918"/>
            <a:ext cx="1397533" cy="528791"/>
          </a:xfrm>
          <a:prstGeom prst="curvedConnector3">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p:cNvCxnSpPr>
            <a:stCxn id="19" idx="3"/>
            <a:endCxn id="32" idx="0"/>
          </p:cNvCxnSpPr>
          <p:nvPr/>
        </p:nvCxnSpPr>
        <p:spPr>
          <a:xfrm>
            <a:off x="3936470" y="2870918"/>
            <a:ext cx="1397531" cy="1062289"/>
          </a:xfrm>
          <a:prstGeom prst="curvedConnector3">
            <a:avLst/>
          </a:prstGeom>
          <a:ln w="190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583670" y="2057505"/>
            <a:ext cx="3352800" cy="1626825"/>
            <a:chOff x="609600" y="1886335"/>
            <a:chExt cx="3352800" cy="1626825"/>
          </a:xfrm>
        </p:grpSpPr>
        <p:sp>
          <p:nvSpPr>
            <p:cNvPr id="19" name="Rounded Rectangle 18"/>
            <p:cNvSpPr/>
            <p:nvPr/>
          </p:nvSpPr>
          <p:spPr>
            <a:xfrm>
              <a:off x="609600" y="1886335"/>
              <a:ext cx="3352800" cy="1626825"/>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09600" y="2284248"/>
              <a:ext cx="3352800" cy="830997"/>
            </a:xfrm>
            <a:prstGeom prst="rect">
              <a:avLst/>
            </a:prstGeom>
          </p:spPr>
          <p:txBody>
            <a:bodyPr wrap="square">
              <a:spAutoFit/>
            </a:bodyPr>
            <a:lstStyle/>
            <a:p>
              <a:pPr algn="ctr"/>
              <a:r>
                <a:rPr lang="vi-VN" sz="2400" dirty="0">
                  <a:solidFill>
                    <a:srgbClr val="002060"/>
                  </a:solidFill>
                </a:rPr>
                <a:t>Website </a:t>
              </a:r>
              <a:r>
                <a:rPr lang="vi-VN" sz="2400" dirty="0" smtClean="0">
                  <a:solidFill>
                    <a:srgbClr val="002060"/>
                  </a:solidFill>
                </a:rPr>
                <a:t>bán laptop</a:t>
              </a:r>
              <a:endParaRPr lang="en-US" sz="2400" dirty="0" smtClean="0">
                <a:solidFill>
                  <a:srgbClr val="002060"/>
                </a:solidFill>
              </a:endParaRPr>
            </a:p>
            <a:p>
              <a:pPr algn="ctr"/>
              <a:r>
                <a:rPr lang="vi-VN" sz="2400" dirty="0" smtClean="0">
                  <a:solidFill>
                    <a:srgbClr val="002060"/>
                  </a:solidFill>
                </a:rPr>
                <a:t>đã </a:t>
              </a:r>
              <a:r>
                <a:rPr lang="vi-VN" sz="2400" dirty="0">
                  <a:solidFill>
                    <a:srgbClr val="002060"/>
                  </a:solidFill>
                </a:rPr>
                <a:t>qua sử dụng</a:t>
              </a:r>
              <a:endParaRPr lang="en-US" sz="2400" dirty="0">
                <a:solidFill>
                  <a:srgbClr val="002060"/>
                </a:solidFill>
              </a:endParaRPr>
            </a:p>
          </p:txBody>
        </p:sp>
      </p:grpSp>
      <p:grpSp>
        <p:nvGrpSpPr>
          <p:cNvPr id="52" name="Group 51"/>
          <p:cNvGrpSpPr/>
          <p:nvPr/>
        </p:nvGrpSpPr>
        <p:grpSpPr>
          <a:xfrm>
            <a:off x="1094800" y="5326743"/>
            <a:ext cx="7259187" cy="616857"/>
            <a:chOff x="1094800" y="5326743"/>
            <a:chExt cx="7259187" cy="616857"/>
          </a:xfrm>
        </p:grpSpPr>
        <p:sp>
          <p:nvSpPr>
            <p:cNvPr id="25" name="Rounded Rectangle 24"/>
            <p:cNvSpPr/>
            <p:nvPr/>
          </p:nvSpPr>
          <p:spPr>
            <a:xfrm>
              <a:off x="1953188" y="5334000"/>
              <a:ext cx="1600200" cy="609600"/>
            </a:xfrm>
            <a:prstGeom prst="round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err="1" smtClean="0">
                  <a:solidFill>
                    <a:srgbClr val="00B0F0"/>
                  </a:solidFill>
                  <a:latin typeface="Arial" panose="020B0604020202020204" pitchFamily="34" charset="0"/>
                  <a:cs typeface="Arial" panose="020B0604020202020204" pitchFamily="34" charset="0"/>
                </a:rPr>
                <a:t>Uy</a:t>
              </a:r>
              <a:r>
                <a:rPr lang="en-US" sz="2200" b="1" dirty="0" smtClean="0">
                  <a:solidFill>
                    <a:srgbClr val="00B0F0"/>
                  </a:solidFill>
                  <a:latin typeface="Arial" panose="020B0604020202020204" pitchFamily="34" charset="0"/>
                  <a:cs typeface="Arial" panose="020B0604020202020204" pitchFamily="34" charset="0"/>
                </a:rPr>
                <a:t> </a:t>
              </a:r>
              <a:r>
                <a:rPr lang="en-US" sz="2200" b="1" dirty="0" err="1" smtClean="0">
                  <a:solidFill>
                    <a:srgbClr val="00B0F0"/>
                  </a:solidFill>
                  <a:latin typeface="Arial" panose="020B0604020202020204" pitchFamily="34" charset="0"/>
                  <a:cs typeface="Arial" panose="020B0604020202020204" pitchFamily="34" charset="0"/>
                </a:rPr>
                <a:t>tín</a:t>
              </a:r>
              <a:endParaRPr lang="en-US" sz="2200" b="1" dirty="0">
                <a:solidFill>
                  <a:srgbClr val="00B0F0"/>
                </a:solidFill>
                <a:latin typeface="Arial" panose="020B0604020202020204" pitchFamily="34" charset="0"/>
                <a:cs typeface="Arial" panose="020B0604020202020204" pitchFamily="34" charset="0"/>
              </a:endParaRPr>
            </a:p>
          </p:txBody>
        </p:sp>
        <p:sp>
          <p:nvSpPr>
            <p:cNvPr id="26" name="Rounded Rectangle 25"/>
            <p:cNvSpPr/>
            <p:nvPr/>
          </p:nvSpPr>
          <p:spPr>
            <a:xfrm>
              <a:off x="4162708" y="5334000"/>
              <a:ext cx="1600200" cy="609600"/>
            </a:xfrm>
            <a:prstGeom prst="round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smtClean="0">
                  <a:solidFill>
                    <a:srgbClr val="00B0F0"/>
                  </a:solidFill>
                  <a:latin typeface="Arial" panose="020B0604020202020204" pitchFamily="34" charset="0"/>
                  <a:cs typeface="Arial" panose="020B0604020202020204" pitchFamily="34" charset="0"/>
                </a:rPr>
                <a:t>An </a:t>
              </a:r>
              <a:r>
                <a:rPr lang="en-US" sz="2200" b="1" dirty="0" err="1" smtClean="0">
                  <a:solidFill>
                    <a:srgbClr val="00B0F0"/>
                  </a:solidFill>
                  <a:latin typeface="Arial" panose="020B0604020202020204" pitchFamily="34" charset="0"/>
                  <a:cs typeface="Arial" panose="020B0604020202020204" pitchFamily="34" charset="0"/>
                </a:rPr>
                <a:t>toàn</a:t>
              </a:r>
              <a:endParaRPr lang="en-US" sz="2200" b="1" dirty="0">
                <a:solidFill>
                  <a:srgbClr val="00B0F0"/>
                </a:solidFill>
                <a:latin typeface="Arial" panose="020B0604020202020204" pitchFamily="34" charset="0"/>
                <a:cs typeface="Arial" panose="020B0604020202020204" pitchFamily="34" charset="0"/>
              </a:endParaRPr>
            </a:p>
          </p:txBody>
        </p:sp>
        <p:sp>
          <p:nvSpPr>
            <p:cNvPr id="27" name="Rounded Rectangle 26"/>
            <p:cNvSpPr/>
            <p:nvPr/>
          </p:nvSpPr>
          <p:spPr>
            <a:xfrm>
              <a:off x="6372228" y="5334000"/>
              <a:ext cx="1981759" cy="609600"/>
            </a:xfrm>
            <a:prstGeom prst="round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err="1" smtClean="0">
                  <a:solidFill>
                    <a:srgbClr val="00B0F0"/>
                  </a:solidFill>
                  <a:latin typeface="Arial" panose="020B0604020202020204" pitchFamily="34" charset="0"/>
                  <a:cs typeface="Arial" panose="020B0604020202020204" pitchFamily="34" charset="0"/>
                </a:rPr>
                <a:t>Dễ</a:t>
              </a:r>
              <a:r>
                <a:rPr lang="en-US" sz="2200" b="1" dirty="0" smtClean="0">
                  <a:solidFill>
                    <a:srgbClr val="00B0F0"/>
                  </a:solidFill>
                  <a:latin typeface="Arial" panose="020B0604020202020204" pitchFamily="34" charset="0"/>
                  <a:cs typeface="Arial" panose="020B0604020202020204" pitchFamily="34" charset="0"/>
                </a:rPr>
                <a:t> </a:t>
              </a:r>
              <a:r>
                <a:rPr lang="en-US" sz="2200" b="1" dirty="0" err="1" smtClean="0">
                  <a:solidFill>
                    <a:srgbClr val="00B0F0"/>
                  </a:solidFill>
                  <a:latin typeface="Arial" panose="020B0604020202020204" pitchFamily="34" charset="0"/>
                  <a:cs typeface="Arial" panose="020B0604020202020204" pitchFamily="34" charset="0"/>
                </a:rPr>
                <a:t>sử</a:t>
              </a:r>
              <a:r>
                <a:rPr lang="en-US" sz="2200" b="1" dirty="0" smtClean="0">
                  <a:solidFill>
                    <a:srgbClr val="00B0F0"/>
                  </a:solidFill>
                  <a:latin typeface="Arial" panose="020B0604020202020204" pitchFamily="34" charset="0"/>
                  <a:cs typeface="Arial" panose="020B0604020202020204" pitchFamily="34" charset="0"/>
                </a:rPr>
                <a:t> </a:t>
              </a:r>
              <a:r>
                <a:rPr lang="en-US" sz="2200" b="1" dirty="0" err="1" smtClean="0">
                  <a:solidFill>
                    <a:srgbClr val="00B0F0"/>
                  </a:solidFill>
                  <a:latin typeface="Arial" panose="020B0604020202020204" pitchFamily="34" charset="0"/>
                  <a:cs typeface="Arial" panose="020B0604020202020204" pitchFamily="34" charset="0"/>
                </a:rPr>
                <a:t>dụng</a:t>
              </a:r>
              <a:endParaRPr lang="en-US" sz="2200" b="1" dirty="0">
                <a:solidFill>
                  <a:srgbClr val="00B0F0"/>
                </a:solidFill>
                <a:latin typeface="Arial" panose="020B0604020202020204" pitchFamily="34" charset="0"/>
                <a:cs typeface="Arial" panose="020B0604020202020204" pitchFamily="34" charset="0"/>
              </a:endParaRPr>
            </a:p>
          </p:txBody>
        </p:sp>
        <p:sp>
          <p:nvSpPr>
            <p:cNvPr id="38" name="Chevron 37"/>
            <p:cNvSpPr/>
            <p:nvPr/>
          </p:nvSpPr>
          <p:spPr>
            <a:xfrm>
              <a:off x="1094800" y="5326743"/>
              <a:ext cx="498135" cy="609600"/>
            </a:xfrm>
            <a:prstGeom prst="chevron">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hevron 49"/>
            <p:cNvSpPr/>
            <p:nvPr/>
          </p:nvSpPr>
          <p:spPr>
            <a:xfrm>
              <a:off x="3700388" y="5467627"/>
              <a:ext cx="315320" cy="327832"/>
            </a:xfrm>
            <a:prstGeom prst="chevron">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Chevron 50"/>
            <p:cNvSpPr/>
            <p:nvPr/>
          </p:nvSpPr>
          <p:spPr>
            <a:xfrm>
              <a:off x="5909908" y="5465536"/>
              <a:ext cx="315320" cy="327832"/>
            </a:xfrm>
            <a:prstGeom prst="chevron">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3" name="Group 8"/>
          <p:cNvGrpSpPr/>
          <p:nvPr/>
        </p:nvGrpSpPr>
        <p:grpSpPr>
          <a:xfrm>
            <a:off x="260201" y="6832240"/>
            <a:ext cx="9233200" cy="331402"/>
            <a:chOff x="0" y="-19049"/>
            <a:chExt cx="12310933" cy="441869"/>
          </a:xfrm>
        </p:grpSpPr>
        <p:grpSp>
          <p:nvGrpSpPr>
            <p:cNvPr id="54" name="Group 9"/>
            <p:cNvGrpSpPr>
              <a:grpSpLocks noChangeAspect="1"/>
            </p:cNvGrpSpPr>
            <p:nvPr/>
          </p:nvGrpSpPr>
          <p:grpSpPr>
            <a:xfrm>
              <a:off x="2682866" y="46656"/>
              <a:ext cx="9628067" cy="146307"/>
              <a:chOff x="90219" y="0"/>
              <a:chExt cx="12362509" cy="187859"/>
            </a:xfrm>
          </p:grpSpPr>
          <p:sp>
            <p:nvSpPr>
              <p:cNvPr id="57"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55"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56"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39034"/>
            <a:ext cx="4846320" cy="408766"/>
          </a:xfrm>
          <a:prstGeom prst="rect">
            <a:avLst/>
          </a:prstGeom>
        </p:spPr>
        <p:txBody>
          <a:bodyPr wrap="square" lIns="0" tIns="0" rIns="0" bIns="0" rtlCol="0" anchor="t">
            <a:spAutoFit/>
          </a:bodyPr>
          <a:lstStyle/>
          <a:p>
            <a:pPr algn="l">
              <a:lnSpc>
                <a:spcPts val="3360"/>
              </a:lnSpc>
            </a:pP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Yêu</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cầu</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chức</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năng</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6464130" cy="765139"/>
            <a:chOff x="0" y="0"/>
            <a:chExt cx="8618840" cy="1020185"/>
          </a:xfrm>
        </p:grpSpPr>
        <p:grpSp>
          <p:nvGrpSpPr>
            <p:cNvPr id="9" name="Group 9"/>
            <p:cNvGrpSpPr/>
            <p:nvPr/>
          </p:nvGrpSpPr>
          <p:grpSpPr>
            <a:xfrm>
              <a:off x="393157" y="11670"/>
              <a:ext cx="8225683" cy="970440"/>
              <a:chOff x="0" y="-19051"/>
              <a:chExt cx="8225683" cy="970440"/>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1"/>
                <a:ext cx="8225683" cy="970440"/>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3.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Hiện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thực</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hóa</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8411264"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23" name="Rectangle 22"/>
          <p:cNvSpPr/>
          <p:nvPr/>
        </p:nvSpPr>
        <p:spPr>
          <a:xfrm>
            <a:off x="383938" y="1740888"/>
            <a:ext cx="8912462" cy="3554819"/>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v"/>
            </a:pPr>
            <a:r>
              <a:rPr lang="en-US" altLang="en-US" sz="2500" b="1" dirty="0" err="1">
                <a:solidFill>
                  <a:srgbClr val="002060"/>
                </a:solidFill>
                <a:latin typeface="Arial" panose="020B0604020202020204" pitchFamily="34" charset="0"/>
              </a:rPr>
              <a:t>Khách</a:t>
            </a:r>
            <a:r>
              <a:rPr lang="en-US" altLang="en-US" sz="2500" b="1" dirty="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Xem</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tìm</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kiếm</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lọc</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xem</a:t>
            </a:r>
            <a:r>
              <a:rPr lang="en-US" altLang="en-US" sz="2500" dirty="0">
                <a:solidFill>
                  <a:srgbClr val="002060"/>
                </a:solidFill>
                <a:latin typeface="Arial" panose="020B0604020202020204" pitchFamily="34" charset="0"/>
              </a:rPr>
              <a:t> chi </a:t>
            </a:r>
            <a:r>
              <a:rPr lang="en-US" altLang="en-US" sz="2500" dirty="0" err="1">
                <a:solidFill>
                  <a:srgbClr val="002060"/>
                </a:solidFill>
                <a:latin typeface="Arial" panose="020B0604020202020204" pitchFamily="34" charset="0"/>
              </a:rPr>
              <a:t>tiết</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sản</a:t>
            </a:r>
            <a:r>
              <a:rPr lang="en-US" altLang="en-US" sz="2500" dirty="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phẩm</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thêm</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giỏ</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hàng</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mua</a:t>
            </a:r>
            <a:r>
              <a:rPr lang="en-US" altLang="en-US" sz="2500" dirty="0" smtClean="0">
                <a:solidFill>
                  <a:srgbClr val="002060"/>
                </a:solidFill>
                <a:latin typeface="Arial" panose="020B0604020202020204" pitchFamily="34" charset="0"/>
              </a:rPr>
              <a:t> hang, </a:t>
            </a:r>
            <a:r>
              <a:rPr lang="en-US" altLang="en-US" sz="2500" dirty="0" err="1" smtClean="0">
                <a:solidFill>
                  <a:srgbClr val="002060"/>
                </a:solidFill>
                <a:latin typeface="Arial" panose="020B0604020202020204" pitchFamily="34" charset="0"/>
              </a:rPr>
              <a:t>đánh</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giá</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xác</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thực</a:t>
            </a:r>
            <a:endParaRPr lang="en-US" altLang="en-US" sz="2500" dirty="0">
              <a:solidFill>
                <a:srgbClr val="002060"/>
              </a:solidFill>
              <a:latin typeface="Arial" panose="020B0604020202020204" pitchFamily="34" charset="0"/>
            </a:endParaRPr>
          </a:p>
          <a:p>
            <a:pPr marL="285750" lvl="0" indent="-285750" eaLnBrk="0" fontAlgn="base" hangingPunct="0">
              <a:lnSpc>
                <a:spcPct val="150000"/>
              </a:lnSpc>
              <a:spcBef>
                <a:spcPct val="0"/>
              </a:spcBef>
              <a:spcAft>
                <a:spcPct val="0"/>
              </a:spcAft>
              <a:buFont typeface="Wingdings" panose="05000000000000000000" pitchFamily="2" charset="2"/>
              <a:buChar char="v"/>
            </a:pPr>
            <a:r>
              <a:rPr lang="en-US" altLang="en-US" sz="2500" b="1" dirty="0" err="1">
                <a:solidFill>
                  <a:srgbClr val="002060"/>
                </a:solidFill>
                <a:latin typeface="Arial" panose="020B0604020202020204" pitchFamily="34" charset="0"/>
              </a:rPr>
              <a:t>Người</a:t>
            </a:r>
            <a:r>
              <a:rPr lang="en-US" altLang="en-US" sz="2500" b="1" dirty="0">
                <a:solidFill>
                  <a:srgbClr val="002060"/>
                </a:solidFill>
                <a:latin typeface="Arial" panose="020B0604020202020204" pitchFamily="34" charset="0"/>
              </a:rPr>
              <a:t> </a:t>
            </a:r>
            <a:r>
              <a:rPr lang="en-US" altLang="en-US" sz="2500" b="1" dirty="0" err="1">
                <a:solidFill>
                  <a:srgbClr val="002060"/>
                </a:solidFill>
                <a:latin typeface="Arial" panose="020B0604020202020204" pitchFamily="34" charset="0"/>
              </a:rPr>
              <a:t>dùng</a:t>
            </a:r>
            <a:r>
              <a:rPr lang="en-US" altLang="en-US" sz="2500" b="1" dirty="0">
                <a:solidFill>
                  <a:srgbClr val="002060"/>
                </a:solidFill>
                <a:latin typeface="Arial" panose="020B0604020202020204" pitchFamily="34" charset="0"/>
              </a:rPr>
              <a:t>: </a:t>
            </a:r>
            <a:endParaRPr lang="en-US" altLang="en-US" sz="2500" b="1" dirty="0" smtClean="0">
              <a:solidFill>
                <a:srgbClr val="002060"/>
              </a:solidFill>
              <a:latin typeface="Arial" panose="020B0604020202020204" pitchFamily="34" charset="0"/>
            </a:endParaRPr>
          </a:p>
          <a:p>
            <a:pPr marL="914400" lvl="1"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Đ</a:t>
            </a:r>
            <a:r>
              <a:rPr lang="en-US" altLang="en-US" sz="2500" dirty="0" err="1" smtClean="0">
                <a:solidFill>
                  <a:srgbClr val="002060"/>
                </a:solidFill>
                <a:latin typeface="Arial" panose="020B0604020202020204" pitchFamily="34" charset="0"/>
              </a:rPr>
              <a:t>ặt</a:t>
            </a:r>
            <a:r>
              <a:rPr lang="en-US" altLang="en-US" sz="2500" dirty="0" smtClean="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hàng</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lịch</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sử</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đơn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hàng</a:t>
            </a:r>
            <a:endParaRPr lang="en-US" altLang="en-US" sz="2500" dirty="0">
              <a:solidFill>
                <a:srgbClr val="002060"/>
              </a:solidFill>
              <a:latin typeface="Arial" panose="020B0604020202020204" pitchFamily="34" charset="0"/>
            </a:endParaRPr>
          </a:p>
          <a:p>
            <a:pPr marL="914400" lvl="1"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Wishlist</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đánh</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giá</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sản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phẩm</a:t>
            </a:r>
            <a:endParaRPr lang="en-US" altLang="en-US" sz="2500" dirty="0">
              <a:solidFill>
                <a:srgbClr val="002060"/>
              </a:solidFill>
              <a:latin typeface="Arial" panose="020B0604020202020204" pitchFamily="34" charset="0"/>
            </a:endParaRPr>
          </a:p>
          <a:p>
            <a:pPr marL="914400" lvl="1"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Xác</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thực</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sinh</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viên</a:t>
            </a:r>
            <a:r>
              <a:rPr lang="en-US" altLang="en-US" sz="2500" dirty="0">
                <a:solidFill>
                  <a:srgbClr val="002060"/>
                </a:solidFill>
                <a:latin typeface="Arial" panose="020B0604020202020204" pitchFamily="34" charset="0"/>
              </a:rPr>
              <a:t> (EDU) </a:t>
            </a:r>
            <a:r>
              <a:rPr lang="en-US" altLang="en-US" sz="2500" dirty="0" err="1">
                <a:solidFill>
                  <a:srgbClr val="002060"/>
                </a:solidFill>
                <a:latin typeface="Arial" panose="020B0604020202020204" pitchFamily="34" charset="0"/>
              </a:rPr>
              <a:t>nhận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ưu</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đãi</a:t>
            </a:r>
            <a:endParaRPr lang="en-US" altLang="en-US" sz="2500" dirty="0">
              <a:solidFill>
                <a:srgbClr val="002060"/>
              </a:solidFill>
              <a:latin typeface="Arial" panose="020B0604020202020204" pitchFamily="34" charset="0"/>
            </a:endParaRPr>
          </a:p>
        </p:txBody>
      </p:sp>
      <p:grpSp>
        <p:nvGrpSpPr>
          <p:cNvPr id="17" name="Group 8"/>
          <p:cNvGrpSpPr/>
          <p:nvPr/>
        </p:nvGrpSpPr>
        <p:grpSpPr>
          <a:xfrm>
            <a:off x="260201" y="6832240"/>
            <a:ext cx="9233200" cy="331402"/>
            <a:chOff x="0" y="-19049"/>
            <a:chExt cx="12310933" cy="441869"/>
          </a:xfrm>
        </p:grpSpPr>
        <p:grpSp>
          <p:nvGrpSpPr>
            <p:cNvPr id="18" name="Group 9"/>
            <p:cNvGrpSpPr>
              <a:grpSpLocks noChangeAspect="1"/>
            </p:cNvGrpSpPr>
            <p:nvPr/>
          </p:nvGrpSpPr>
          <p:grpSpPr>
            <a:xfrm>
              <a:off x="2682866" y="46656"/>
              <a:ext cx="9628067" cy="146307"/>
              <a:chOff x="90219" y="0"/>
              <a:chExt cx="12362509" cy="187859"/>
            </a:xfrm>
          </p:grpSpPr>
          <p:sp>
            <p:nvSpPr>
              <p:cNvPr id="21"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19"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0"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1810284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39034"/>
            <a:ext cx="4846320" cy="408766"/>
          </a:xfrm>
          <a:prstGeom prst="rect">
            <a:avLst/>
          </a:prstGeom>
        </p:spPr>
        <p:txBody>
          <a:bodyPr wrap="square" lIns="0" tIns="0" rIns="0" bIns="0" rtlCol="0" anchor="t">
            <a:spAutoFit/>
          </a:bodyPr>
          <a:lstStyle/>
          <a:p>
            <a:pPr algn="l">
              <a:lnSpc>
                <a:spcPts val="3360"/>
              </a:lnSpc>
            </a:pP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Yêu</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cầu</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chức</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năng</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6464130" cy="765139"/>
            <a:chOff x="0" y="0"/>
            <a:chExt cx="8618840" cy="1020185"/>
          </a:xfrm>
        </p:grpSpPr>
        <p:grpSp>
          <p:nvGrpSpPr>
            <p:cNvPr id="9" name="Group 9"/>
            <p:cNvGrpSpPr/>
            <p:nvPr/>
          </p:nvGrpSpPr>
          <p:grpSpPr>
            <a:xfrm>
              <a:off x="393157" y="11670"/>
              <a:ext cx="8225683" cy="970440"/>
              <a:chOff x="0" y="-19051"/>
              <a:chExt cx="8225683" cy="970440"/>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1"/>
                <a:ext cx="8225683" cy="970440"/>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3.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Hiện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thực</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hóa</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8411264"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23" name="Rectangle 22"/>
          <p:cNvSpPr/>
          <p:nvPr/>
        </p:nvSpPr>
        <p:spPr>
          <a:xfrm>
            <a:off x="383938" y="1740888"/>
            <a:ext cx="8912462" cy="4131900"/>
          </a:xfrm>
          <a:prstGeom prst="rect">
            <a:avLst/>
          </a:prstGeom>
        </p:spPr>
        <p:txBody>
          <a:bodyPr wrap="square">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v"/>
            </a:pPr>
            <a:r>
              <a:rPr lang="en-US" altLang="en-US" sz="2500" b="1" dirty="0" err="1" smtClean="0">
                <a:solidFill>
                  <a:srgbClr val="002060"/>
                </a:solidFill>
                <a:latin typeface="Arial" panose="020B0604020202020204" pitchFamily="34" charset="0"/>
              </a:rPr>
              <a:t>Quản</a:t>
            </a:r>
            <a:r>
              <a:rPr lang="en-US" altLang="en-US" sz="2500" b="1" dirty="0" smtClean="0">
                <a:solidFill>
                  <a:srgbClr val="002060"/>
                </a:solidFill>
                <a:latin typeface="Arial" panose="020B0604020202020204" pitchFamily="34" charset="0"/>
              </a:rPr>
              <a:t> </a:t>
            </a:r>
            <a:r>
              <a:rPr lang="en-US" altLang="en-US" sz="2500" b="1" dirty="0" err="1" smtClean="0">
                <a:solidFill>
                  <a:srgbClr val="002060"/>
                </a:solidFill>
                <a:latin typeface="Arial" panose="020B0604020202020204" pitchFamily="34" charset="0"/>
              </a:rPr>
              <a:t>trị</a:t>
            </a:r>
            <a:r>
              <a:rPr lang="en-US" altLang="en-US" sz="2500" b="1" dirty="0" smtClean="0">
                <a:solidFill>
                  <a:srgbClr val="002060"/>
                </a:solidFill>
                <a:latin typeface="Arial" panose="020B0604020202020204" pitchFamily="34" charset="0"/>
              </a:rPr>
              <a:t> </a:t>
            </a:r>
            <a:r>
              <a:rPr lang="en-US" altLang="en-US" sz="2500" b="1" dirty="0" err="1" smtClean="0">
                <a:solidFill>
                  <a:srgbClr val="002060"/>
                </a:solidFill>
                <a:latin typeface="Arial" panose="020B0604020202020204" pitchFamily="34" charset="0"/>
              </a:rPr>
              <a:t>viên</a:t>
            </a:r>
            <a:r>
              <a:rPr lang="en-US" altLang="en-US" sz="2500" b="1" dirty="0" smtClean="0">
                <a:solidFill>
                  <a:srgbClr val="002060"/>
                </a:solidFill>
                <a:latin typeface="Arial" panose="020B0604020202020204" pitchFamily="34" charset="0"/>
              </a:rPr>
              <a:t>: </a:t>
            </a:r>
          </a:p>
          <a:p>
            <a:pPr marL="914400" lvl="0"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Quản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lý</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sản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phẩm</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danh</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mục</a:t>
            </a:r>
            <a:r>
              <a:rPr lang="en-US" altLang="en-US" sz="2500" dirty="0">
                <a:solidFill>
                  <a:srgbClr val="002060"/>
                </a:solidFill>
                <a:latin typeface="Arial" panose="020B0604020202020204" pitchFamily="34" charset="0"/>
              </a:rPr>
              <a:t>, banner</a:t>
            </a:r>
          </a:p>
          <a:p>
            <a:pPr marL="914400" lvl="0"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Quản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lý</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đơn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hàng</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người</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dùng</a:t>
            </a:r>
            <a:endParaRPr lang="en-US" altLang="en-US" sz="2500" dirty="0">
              <a:solidFill>
                <a:srgbClr val="002060"/>
              </a:solidFill>
              <a:latin typeface="Arial" panose="020B0604020202020204" pitchFamily="34" charset="0"/>
            </a:endParaRPr>
          </a:p>
          <a:p>
            <a:pPr marL="914400" lvl="0"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Duyệt</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xác</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thực</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sinh</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viên</a:t>
            </a:r>
            <a:endParaRPr lang="en-US" altLang="en-US" sz="2500" dirty="0">
              <a:solidFill>
                <a:srgbClr val="002060"/>
              </a:solidFill>
              <a:latin typeface="Arial" panose="020B0604020202020204" pitchFamily="34" charset="0"/>
            </a:endParaRPr>
          </a:p>
          <a:p>
            <a:pPr marL="914400" lvl="0" indent="-457200" eaLnBrk="0" fontAlgn="base" hangingPunct="0">
              <a:lnSpc>
                <a:spcPct val="150000"/>
              </a:lnSpc>
              <a:spcBef>
                <a:spcPct val="0"/>
              </a:spcBef>
              <a:spcAft>
                <a:spcPct val="0"/>
              </a:spcAft>
              <a:buFont typeface="Wingdings" panose="05000000000000000000" pitchFamily="2" charset="2"/>
              <a:buChar char="q"/>
            </a:pPr>
            <a:r>
              <a:rPr lang="en-US" altLang="en-US" sz="2500" dirty="0">
                <a:solidFill>
                  <a:srgbClr val="002060"/>
                </a:solidFill>
                <a:latin typeface="Arial" panose="020B0604020202020204" pitchFamily="34" charset="0"/>
              </a:rPr>
              <a:t>Chat </a:t>
            </a:r>
            <a:r>
              <a:rPr lang="en-US" altLang="en-US" sz="2500" dirty="0" err="1" smtClean="0">
                <a:solidFill>
                  <a:srgbClr val="002060"/>
                </a:solidFill>
                <a:latin typeface="Arial" panose="020B0604020202020204" pitchFamily="34" charset="0"/>
              </a:rPr>
              <a:t>và</a:t>
            </a:r>
            <a:r>
              <a:rPr lang="en-US" altLang="en-US" sz="2500" dirty="0" smtClean="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xử</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lý</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liên</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hệ</a:t>
            </a:r>
            <a:endParaRPr lang="en-US" altLang="en-US" sz="2500" dirty="0">
              <a:solidFill>
                <a:srgbClr val="002060"/>
              </a:solidFill>
              <a:latin typeface="Arial" panose="020B0604020202020204" pitchFamily="34" charset="0"/>
            </a:endParaRPr>
          </a:p>
          <a:p>
            <a:pPr marL="914400" lvl="0" indent="-457200" eaLnBrk="0" fontAlgn="base" hangingPunct="0">
              <a:lnSpc>
                <a:spcPct val="150000"/>
              </a:lnSpc>
              <a:spcBef>
                <a:spcPct val="0"/>
              </a:spcBef>
              <a:spcAft>
                <a:spcPct val="0"/>
              </a:spcAft>
              <a:buFont typeface="Wingdings" panose="05000000000000000000" pitchFamily="2" charset="2"/>
              <a:buChar char="q"/>
            </a:pPr>
            <a:r>
              <a:rPr lang="en-US" altLang="en-US" sz="2500" dirty="0" err="1">
                <a:solidFill>
                  <a:srgbClr val="002060"/>
                </a:solidFill>
                <a:latin typeface="Arial" panose="020B0604020202020204" pitchFamily="34" charset="0"/>
              </a:rPr>
              <a:t>Xem</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thống</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kê</a:t>
            </a:r>
            <a:r>
              <a:rPr lang="en-US" altLang="en-US" sz="2500" dirty="0">
                <a:solidFill>
                  <a:srgbClr val="002060"/>
                </a:solidFill>
                <a:latin typeface="Arial" panose="020B0604020202020204" pitchFamily="34" charset="0"/>
              </a:rPr>
              <a:t> </a:t>
            </a:r>
            <a:r>
              <a:rPr lang="en-US" altLang="en-US" sz="2500" dirty="0" err="1">
                <a:solidFill>
                  <a:srgbClr val="002060"/>
                </a:solidFill>
                <a:latin typeface="Arial" panose="020B0604020202020204" pitchFamily="34" charset="0"/>
              </a:rPr>
              <a:t>hệ</a:t>
            </a:r>
            <a:r>
              <a:rPr lang="en-US" altLang="en-US" sz="2500" dirty="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thống</a:t>
            </a:r>
            <a:endParaRPr lang="en-US" altLang="en-US" sz="2500" dirty="0">
              <a:solidFill>
                <a:srgbClr val="002060"/>
              </a:solidFill>
              <a:latin typeface="Arial" panose="020B0604020202020204" pitchFamily="34" charset="0"/>
            </a:endParaRPr>
          </a:p>
          <a:p>
            <a:pPr marL="342900" lvl="0" indent="-342900" eaLnBrk="0" fontAlgn="base" hangingPunct="0">
              <a:lnSpc>
                <a:spcPct val="150000"/>
              </a:lnSpc>
              <a:spcBef>
                <a:spcPct val="0"/>
              </a:spcBef>
              <a:spcAft>
                <a:spcPct val="0"/>
              </a:spcAft>
              <a:buFont typeface="Wingdings" panose="05000000000000000000" pitchFamily="2" charset="2"/>
              <a:buChar char="v"/>
            </a:pPr>
            <a:r>
              <a:rPr lang="en-US" altLang="en-US" sz="2500" b="1" dirty="0" err="1" smtClean="0">
                <a:solidFill>
                  <a:srgbClr val="002060"/>
                </a:solidFill>
                <a:latin typeface="Arial" panose="020B0604020202020204" pitchFamily="34" charset="0"/>
              </a:rPr>
              <a:t>Nhân</a:t>
            </a:r>
            <a:r>
              <a:rPr lang="en-US" altLang="en-US" sz="2500" b="1" dirty="0" smtClean="0">
                <a:solidFill>
                  <a:srgbClr val="002060"/>
                </a:solidFill>
                <a:latin typeface="Arial" panose="020B0604020202020204" pitchFamily="34" charset="0"/>
              </a:rPr>
              <a:t> </a:t>
            </a:r>
            <a:r>
              <a:rPr lang="en-US" altLang="en-US" sz="2500" b="1" dirty="0" err="1" smtClean="0">
                <a:solidFill>
                  <a:srgbClr val="002060"/>
                </a:solidFill>
                <a:latin typeface="Arial" panose="020B0604020202020204" pitchFamily="34" charset="0"/>
              </a:rPr>
              <a:t>viên</a:t>
            </a:r>
            <a:r>
              <a:rPr lang="en-US" altLang="en-US" sz="2500" b="1"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Quyền</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giớ</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hạn</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không</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quản</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lý</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nhân</a:t>
            </a:r>
            <a:r>
              <a:rPr lang="en-US" altLang="en-US" sz="2500" dirty="0" smtClean="0">
                <a:solidFill>
                  <a:srgbClr val="002060"/>
                </a:solidFill>
                <a:latin typeface="Arial" panose="020B0604020202020204" pitchFamily="34" charset="0"/>
              </a:rPr>
              <a:t> </a:t>
            </a:r>
            <a:r>
              <a:rPr lang="en-US" altLang="en-US" sz="2500" dirty="0" err="1" smtClean="0">
                <a:solidFill>
                  <a:srgbClr val="002060"/>
                </a:solidFill>
                <a:latin typeface="Arial" panose="020B0604020202020204" pitchFamily="34" charset="0"/>
              </a:rPr>
              <a:t>sự</a:t>
            </a:r>
            <a:endParaRPr lang="en-US" altLang="en-US" sz="2500" dirty="0" smtClean="0">
              <a:solidFill>
                <a:srgbClr val="002060"/>
              </a:solidFill>
              <a:latin typeface="Arial" panose="020B0604020202020204" pitchFamily="34" charset="0"/>
            </a:endParaRPr>
          </a:p>
        </p:txBody>
      </p:sp>
      <p:grpSp>
        <p:nvGrpSpPr>
          <p:cNvPr id="18" name="Group 8"/>
          <p:cNvGrpSpPr/>
          <p:nvPr/>
        </p:nvGrpSpPr>
        <p:grpSpPr>
          <a:xfrm>
            <a:off x="260201" y="6832240"/>
            <a:ext cx="9233200" cy="331402"/>
            <a:chOff x="0" y="-19049"/>
            <a:chExt cx="12310933" cy="441869"/>
          </a:xfrm>
        </p:grpSpPr>
        <p:grpSp>
          <p:nvGrpSpPr>
            <p:cNvPr id="20" name="Group 9"/>
            <p:cNvGrpSpPr>
              <a:grpSpLocks noChangeAspect="1"/>
            </p:cNvGrpSpPr>
            <p:nvPr/>
          </p:nvGrpSpPr>
          <p:grpSpPr>
            <a:xfrm>
              <a:off x="2682866" y="46656"/>
              <a:ext cx="9628067" cy="146307"/>
              <a:chOff x="90219" y="0"/>
              <a:chExt cx="12362509" cy="187859"/>
            </a:xfrm>
          </p:grpSpPr>
          <p:sp>
            <p:nvSpPr>
              <p:cNvPr id="24"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2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21918494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11783"/>
            <a:ext cx="4846320" cy="436017"/>
          </a:xfrm>
          <a:prstGeom prst="rect">
            <a:avLst/>
          </a:prstGeom>
        </p:spPr>
        <p:txBody>
          <a:bodyPr wrap="square" lIns="0" tIns="0" rIns="0" bIns="0" rtlCol="0" anchor="t">
            <a:spAutoFit/>
          </a:bodyPr>
          <a:lstStyle/>
          <a:p>
            <a:pPr algn="l">
              <a:lnSpc>
                <a:spcPts val="3360"/>
              </a:lnSpc>
            </a:pP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Phân</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tích</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thiết</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kế</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hệ</a:t>
            </a:r>
            <a:r>
              <a:rPr 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thống</a:t>
            </a:r>
            <a:endParaRPr 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6464130" cy="765139"/>
            <a:chOff x="0" y="0"/>
            <a:chExt cx="8618840" cy="1020185"/>
          </a:xfrm>
        </p:grpSpPr>
        <p:grpSp>
          <p:nvGrpSpPr>
            <p:cNvPr id="9" name="Group 9"/>
            <p:cNvGrpSpPr/>
            <p:nvPr/>
          </p:nvGrpSpPr>
          <p:grpSpPr>
            <a:xfrm>
              <a:off x="393157" y="11670"/>
              <a:ext cx="8225683" cy="970440"/>
              <a:chOff x="0" y="-19051"/>
              <a:chExt cx="8225683" cy="970440"/>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1"/>
                <a:ext cx="8225683" cy="970440"/>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3.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Hiện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thực</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hóa</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smtClean="0">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8411264"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6035" y="1905000"/>
            <a:ext cx="6412765"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p:cNvSpPr txBox="1"/>
          <p:nvPr/>
        </p:nvSpPr>
        <p:spPr>
          <a:xfrm>
            <a:off x="248042" y="1657907"/>
            <a:ext cx="2571538" cy="4887813"/>
          </a:xfrm>
          <a:prstGeom prst="rect">
            <a:avLst/>
          </a:prstGeom>
          <a:noFill/>
        </p:spPr>
        <p:txBody>
          <a:bodyPr wrap="none" rtlCol="0">
            <a:spAutoFit/>
          </a:bodyPr>
          <a:lstStyle/>
          <a:p>
            <a:pPr marL="342900" indent="-342900">
              <a:lnSpc>
                <a:spcPct val="130000"/>
              </a:lnSpc>
              <a:buFont typeface="Wingdings" panose="05000000000000000000" pitchFamily="2" charset="2"/>
              <a:buChar char="q"/>
            </a:pPr>
            <a:r>
              <a:rPr lang="en-US" sz="2200" dirty="0" smtClean="0">
                <a:solidFill>
                  <a:srgbClr val="002060"/>
                </a:solidFill>
                <a:latin typeface="Arial" panose="020B0604020202020204"/>
              </a:rPr>
              <a:t>Users</a:t>
            </a:r>
          </a:p>
          <a:p>
            <a:pPr marL="342900" indent="-342900">
              <a:lnSpc>
                <a:spcPct val="130000"/>
              </a:lnSpc>
              <a:buFont typeface="Wingdings" panose="05000000000000000000" pitchFamily="2" charset="2"/>
              <a:buChar char="q"/>
            </a:pPr>
            <a:r>
              <a:rPr lang="en-US" sz="2200" dirty="0" err="1" smtClean="0">
                <a:solidFill>
                  <a:srgbClr val="002060"/>
                </a:solidFill>
                <a:latin typeface="Arial" panose="020B0604020202020204"/>
              </a:rPr>
              <a:t>Users_images</a:t>
            </a:r>
            <a:endParaRPr lang="en-US" sz="2200" dirty="0" smtClean="0">
              <a:solidFill>
                <a:srgbClr val="002060"/>
              </a:solidFill>
              <a:latin typeface="Arial" panose="020B0604020202020204"/>
            </a:endParaRPr>
          </a:p>
          <a:p>
            <a:pPr marL="342900" indent="-342900">
              <a:lnSpc>
                <a:spcPct val="130000"/>
              </a:lnSpc>
              <a:buFont typeface="Wingdings" panose="05000000000000000000" pitchFamily="2" charset="2"/>
              <a:buChar char="q"/>
            </a:pPr>
            <a:r>
              <a:rPr lang="en-US" sz="2200" dirty="0" smtClean="0">
                <a:solidFill>
                  <a:srgbClr val="002060"/>
                </a:solidFill>
                <a:latin typeface="Arial" panose="020B0604020202020204"/>
              </a:rPr>
              <a:t>Categories</a:t>
            </a:r>
          </a:p>
          <a:p>
            <a:pPr marL="342900" indent="-342900">
              <a:lnSpc>
                <a:spcPct val="130000"/>
              </a:lnSpc>
              <a:buFont typeface="Wingdings" panose="05000000000000000000" pitchFamily="2" charset="2"/>
              <a:buChar char="q"/>
            </a:pPr>
            <a:r>
              <a:rPr lang="en-US" sz="2200" dirty="0" smtClean="0">
                <a:solidFill>
                  <a:srgbClr val="002060"/>
                </a:solidFill>
                <a:latin typeface="Arial" panose="020B0604020202020204"/>
              </a:rPr>
              <a:t>Products</a:t>
            </a:r>
          </a:p>
          <a:p>
            <a:pPr marL="342900" indent="-342900">
              <a:lnSpc>
                <a:spcPct val="130000"/>
              </a:lnSpc>
              <a:buFont typeface="Wingdings" panose="05000000000000000000" pitchFamily="2" charset="2"/>
              <a:buChar char="q"/>
            </a:pPr>
            <a:r>
              <a:rPr lang="en-US" sz="2200" dirty="0" err="1" smtClean="0">
                <a:solidFill>
                  <a:srgbClr val="002060"/>
                </a:solidFill>
                <a:latin typeface="Arial" panose="020B0604020202020204"/>
              </a:rPr>
              <a:t>Product_images</a:t>
            </a:r>
            <a:endParaRPr lang="en-US" sz="2200" dirty="0" smtClean="0">
              <a:solidFill>
                <a:srgbClr val="002060"/>
              </a:solidFill>
              <a:latin typeface="Arial" panose="020B0604020202020204"/>
            </a:endParaRPr>
          </a:p>
          <a:p>
            <a:pPr marL="342900" indent="-342900">
              <a:lnSpc>
                <a:spcPct val="130000"/>
              </a:lnSpc>
              <a:buFont typeface="Wingdings" panose="05000000000000000000" pitchFamily="2" charset="2"/>
              <a:buChar char="q"/>
            </a:pPr>
            <a:r>
              <a:rPr lang="en-US" sz="2200" dirty="0" smtClean="0">
                <a:solidFill>
                  <a:srgbClr val="002060"/>
                </a:solidFill>
                <a:latin typeface="Arial" panose="020B0604020202020204"/>
              </a:rPr>
              <a:t>Orders</a:t>
            </a:r>
          </a:p>
          <a:p>
            <a:pPr marL="342900" indent="-342900">
              <a:lnSpc>
                <a:spcPct val="130000"/>
              </a:lnSpc>
              <a:buFont typeface="Wingdings" panose="05000000000000000000" pitchFamily="2" charset="2"/>
              <a:buChar char="q"/>
            </a:pPr>
            <a:r>
              <a:rPr lang="en-US" sz="2200" dirty="0" smtClean="0">
                <a:solidFill>
                  <a:srgbClr val="002060"/>
                </a:solidFill>
                <a:latin typeface="Arial" panose="020B0604020202020204"/>
              </a:rPr>
              <a:t>Banners</a:t>
            </a:r>
          </a:p>
          <a:p>
            <a:pPr marL="342900" indent="-342900">
              <a:lnSpc>
                <a:spcPct val="130000"/>
              </a:lnSpc>
              <a:buFont typeface="Wingdings" panose="05000000000000000000" pitchFamily="2" charset="2"/>
              <a:buChar char="q"/>
            </a:pPr>
            <a:r>
              <a:rPr lang="en-US" sz="2200" dirty="0" err="1" smtClean="0">
                <a:solidFill>
                  <a:srgbClr val="002060"/>
                </a:solidFill>
                <a:latin typeface="Arial" panose="020B0604020202020204"/>
              </a:rPr>
              <a:t>Chat_messages</a:t>
            </a:r>
            <a:endParaRPr lang="en-US" sz="2200" dirty="0" smtClean="0">
              <a:solidFill>
                <a:srgbClr val="002060"/>
              </a:solidFill>
              <a:latin typeface="Arial" panose="020B0604020202020204"/>
            </a:endParaRPr>
          </a:p>
          <a:p>
            <a:pPr marL="514350" lvl="1" indent="-285750">
              <a:lnSpc>
                <a:spcPct val="130000"/>
              </a:lnSpc>
              <a:buFont typeface="Wingdings" panose="05000000000000000000" pitchFamily="2" charset="2"/>
              <a:buChar char="§"/>
            </a:pPr>
            <a:r>
              <a:rPr lang="en-US" sz="2200" dirty="0" err="1" smtClean="0">
                <a:solidFill>
                  <a:srgbClr val="002060"/>
                </a:solidFill>
                <a:latin typeface="Arial" panose="020B0604020202020204"/>
              </a:rPr>
              <a:t>Order_items</a:t>
            </a:r>
            <a:endParaRPr lang="en-US" sz="2200" dirty="0" smtClean="0">
              <a:solidFill>
                <a:srgbClr val="002060"/>
              </a:solidFill>
              <a:latin typeface="Arial" panose="020B0604020202020204"/>
            </a:endParaRPr>
          </a:p>
          <a:p>
            <a:pPr marL="514350" lvl="1" indent="-285750">
              <a:lnSpc>
                <a:spcPct val="130000"/>
              </a:lnSpc>
              <a:buFont typeface="Wingdings" panose="05000000000000000000" pitchFamily="2" charset="2"/>
              <a:buChar char="§"/>
            </a:pPr>
            <a:r>
              <a:rPr lang="en-US" sz="2200" dirty="0" smtClean="0">
                <a:solidFill>
                  <a:srgbClr val="002060"/>
                </a:solidFill>
                <a:latin typeface="Arial" panose="020B0604020202020204"/>
              </a:rPr>
              <a:t>Reviews</a:t>
            </a:r>
            <a:endParaRPr lang="en-US" sz="2200" dirty="0">
              <a:solidFill>
                <a:srgbClr val="002060"/>
              </a:solidFill>
              <a:latin typeface="Arial" panose="020B0604020202020204"/>
            </a:endParaRPr>
          </a:p>
          <a:p>
            <a:pPr marL="514350" lvl="1" indent="-285750">
              <a:lnSpc>
                <a:spcPct val="130000"/>
              </a:lnSpc>
              <a:buFont typeface="Wingdings" panose="05000000000000000000" pitchFamily="2" charset="2"/>
              <a:buChar char="§"/>
            </a:pPr>
            <a:r>
              <a:rPr lang="en-US" sz="2200" dirty="0" err="1" smtClean="0">
                <a:solidFill>
                  <a:srgbClr val="002060"/>
                </a:solidFill>
                <a:latin typeface="Arial" panose="020B0604020202020204"/>
              </a:rPr>
              <a:t>Wishlists</a:t>
            </a:r>
            <a:endParaRPr lang="en-US" sz="2200" dirty="0">
              <a:solidFill>
                <a:srgbClr val="002060"/>
              </a:solidFill>
              <a:latin typeface="Arial" panose="020B0604020202020204"/>
            </a:endParaRPr>
          </a:p>
        </p:txBody>
      </p:sp>
      <p:sp>
        <p:nvSpPr>
          <p:cNvPr id="16" name="TextBox 15"/>
          <p:cNvSpPr txBox="1"/>
          <p:nvPr/>
        </p:nvSpPr>
        <p:spPr>
          <a:xfrm>
            <a:off x="4957450" y="6162539"/>
            <a:ext cx="2569934" cy="369332"/>
          </a:xfrm>
          <a:prstGeom prst="rect">
            <a:avLst/>
          </a:prstGeom>
          <a:noFill/>
        </p:spPr>
        <p:txBody>
          <a:bodyPr wrap="none" rtlCol="0">
            <a:spAutoFit/>
          </a:bodyPr>
          <a:lstStyle/>
          <a:p>
            <a:r>
              <a:rPr lang="en-US" dirty="0" err="1" smtClean="0">
                <a:solidFill>
                  <a:srgbClr val="002060"/>
                </a:solidFill>
                <a:latin typeface="Arial" panose="020B0604020202020204" pitchFamily="34" charset="0"/>
                <a:cs typeface="Arial" panose="020B0604020202020204" pitchFamily="34" charset="0"/>
              </a:rPr>
              <a:t>Hình</a:t>
            </a:r>
            <a:r>
              <a:rPr lang="en-US" dirty="0" smtClean="0">
                <a:solidFill>
                  <a:srgbClr val="002060"/>
                </a:solidFill>
                <a:latin typeface="Arial" panose="020B0604020202020204" pitchFamily="34" charset="0"/>
                <a:cs typeface="Arial" panose="020B0604020202020204" pitchFamily="34" charset="0"/>
              </a:rPr>
              <a:t> 3.1. </a:t>
            </a:r>
            <a:r>
              <a:rPr lang="en-US" dirty="0" err="1" smtClean="0">
                <a:solidFill>
                  <a:srgbClr val="002060"/>
                </a:solidFill>
                <a:latin typeface="Arial" panose="020B0604020202020204" pitchFamily="34" charset="0"/>
                <a:cs typeface="Arial" panose="020B0604020202020204" pitchFamily="34" charset="0"/>
              </a:rPr>
              <a:t>Mô</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hình</a:t>
            </a:r>
            <a:r>
              <a:rPr lang="en-US" dirty="0" smtClean="0">
                <a:solidFill>
                  <a:srgbClr val="002060"/>
                </a:solidFill>
                <a:latin typeface="Arial" panose="020B0604020202020204" pitchFamily="34" charset="0"/>
                <a:cs typeface="Arial" panose="020B0604020202020204" pitchFamily="34" charset="0"/>
              </a:rPr>
              <a:t> ERD</a:t>
            </a:r>
            <a:endParaRPr lang="en-US" dirty="0">
              <a:solidFill>
                <a:srgbClr val="002060"/>
              </a:solidFill>
              <a:latin typeface="Arial" panose="020B0604020202020204" pitchFamily="34" charset="0"/>
              <a:cs typeface="Arial" panose="020B0604020202020204" pitchFamily="34" charset="0"/>
            </a:endParaRPr>
          </a:p>
        </p:txBody>
      </p:sp>
      <p:grpSp>
        <p:nvGrpSpPr>
          <p:cNvPr id="19" name="Group 8"/>
          <p:cNvGrpSpPr/>
          <p:nvPr/>
        </p:nvGrpSpPr>
        <p:grpSpPr>
          <a:xfrm>
            <a:off x="260201" y="6832240"/>
            <a:ext cx="9233200" cy="331402"/>
            <a:chOff x="0" y="-19049"/>
            <a:chExt cx="12310933" cy="441869"/>
          </a:xfrm>
        </p:grpSpPr>
        <p:grpSp>
          <p:nvGrpSpPr>
            <p:cNvPr id="20" name="Group 9"/>
            <p:cNvGrpSpPr>
              <a:grpSpLocks noChangeAspect="1"/>
            </p:cNvGrpSpPr>
            <p:nvPr/>
          </p:nvGrpSpPr>
          <p:grpSpPr>
            <a:xfrm>
              <a:off x="2682866" y="46656"/>
              <a:ext cx="9628067" cy="146307"/>
              <a:chOff x="90219" y="0"/>
              <a:chExt cx="12362509" cy="187859"/>
            </a:xfrm>
          </p:grpSpPr>
          <p:sp>
            <p:nvSpPr>
              <p:cNvPr id="23"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4"/>
                <a:stretch>
                  <a:fillRect r="-22539" b="6"/>
                </a:stretch>
              </a:blipFill>
            </p:spPr>
          </p:sp>
        </p:grpSp>
        <p:sp>
          <p:nvSpPr>
            <p:cNvPr id="2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2929934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17270"/>
            <a:ext cx="4846320" cy="430530"/>
          </a:xfrm>
          <a:prstGeom prst="rect">
            <a:avLst/>
          </a:prstGeom>
        </p:spPr>
        <p:txBody>
          <a:bodyPr wrap="square" lIns="0" tIns="0" rIns="0" bIns="0" rtlCol="0" anchor="t">
            <a:spAutoFit/>
          </a:bodyPr>
          <a:lstStyle/>
          <a:p>
            <a:pPr algn="l">
              <a:lnSpc>
                <a:spcPts val="3360"/>
              </a:lnSpc>
            </a:pPr>
            <a:r>
              <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rPr>
              <a:t>Các kết quả chính</a:t>
            </a: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grpSp>
        <p:nvGrpSpPr>
          <p:cNvPr id="16" name="Group 15"/>
          <p:cNvGrpSpPr/>
          <p:nvPr/>
        </p:nvGrpSpPr>
        <p:grpSpPr>
          <a:xfrm>
            <a:off x="731520" y="1590856"/>
            <a:ext cx="8290560" cy="676910"/>
            <a:chOff x="731520" y="2165902"/>
            <a:chExt cx="8290560" cy="676910"/>
          </a:xfrm>
        </p:grpSpPr>
        <p:grpSp>
          <p:nvGrpSpPr>
            <p:cNvPr id="17" name="Group 17"/>
            <p:cNvGrpSpPr/>
            <p:nvPr/>
          </p:nvGrpSpPr>
          <p:grpSpPr>
            <a:xfrm>
              <a:off x="731520" y="2232577"/>
              <a:ext cx="285750" cy="285750"/>
              <a:chOff x="0" y="0"/>
              <a:chExt cx="125432" cy="125432"/>
            </a:xfrm>
          </p:grpSpPr>
          <p:sp>
            <p:nvSpPr>
              <p:cNvPr id="18"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19"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dirty="0">
                  <a:solidFill>
                    <a:srgbClr val="002060"/>
                  </a:solidFill>
                  <a:latin typeface="Arial" panose="020B0604020202020204" pitchFamily="34" charset="0"/>
                  <a:cs typeface="Arial" panose="020B0604020202020204" pitchFamily="34" charset="0"/>
                </a:endParaRPr>
              </a:p>
            </p:txBody>
          </p:sp>
        </p:grpSp>
        <p:sp>
          <p:nvSpPr>
            <p:cNvPr id="20" name="TextBox 20"/>
            <p:cNvSpPr txBox="1"/>
            <p:nvPr/>
          </p:nvSpPr>
          <p:spPr>
            <a:xfrm>
              <a:off x="1144816" y="2165902"/>
              <a:ext cx="7877264" cy="676910"/>
            </a:xfrm>
            <a:prstGeom prst="rect">
              <a:avLst/>
            </a:prstGeom>
          </p:spPr>
          <p:txBody>
            <a:bodyPr lIns="0" tIns="0" rIns="0" bIns="0" rtlCol="0" anchor="t">
              <a:spAutoFit/>
            </a:bodyPr>
            <a:lstStyle/>
            <a:p>
              <a:pPr lvl="0"/>
              <a:r>
                <a:rPr lang="en-US" altLang="en-US" sz="2200" dirty="0">
                  <a:solidFill>
                    <a:srgbClr val="002060"/>
                  </a:solidFill>
                  <a:latin typeface="Arial" panose="020B0604020202020204" pitchFamily="34" charset="0"/>
                  <a:cs typeface="Arial" panose="020B0604020202020204" pitchFamily="34" charset="0"/>
                </a:rPr>
                <a:t>Hoàn thành website mua bán laptop c</a:t>
              </a:r>
              <a:r>
                <a:rPr lang="" altLang="en-US" sz="2200" dirty="0">
                  <a:solidFill>
                    <a:srgbClr val="002060"/>
                  </a:solidFill>
                  <a:latin typeface="Arial" panose="020B0604020202020204" pitchFamily="34" charset="0"/>
                  <a:cs typeface="Arial" panose="020B0604020202020204" pitchFamily="34" charset="0"/>
                </a:rPr>
                <a:t>ũ</a:t>
              </a:r>
              <a:r>
                <a:rPr lang="en-US" altLang="en-US" sz="2200" dirty="0">
                  <a:solidFill>
                    <a:srgbClr val="002060"/>
                  </a:solidFill>
                  <a:latin typeface="Arial" panose="020B0604020202020204" pitchFamily="34" charset="0"/>
                  <a:cs typeface="Arial" panose="020B0604020202020204" pitchFamily="34" charset="0"/>
                </a:rPr>
                <a:t> theo kiến trúc 3 lớp (Frontend </a:t>
              </a:r>
              <a:r>
                <a:rPr lang="en-US" altLang="en-US" sz="2200" dirty="0" smtClean="0">
                  <a:solidFill>
                    <a:srgbClr val="002060"/>
                  </a:solidFill>
                  <a:latin typeface="Arial" panose="020B0604020202020204" pitchFamily="34" charset="0"/>
                  <a:cs typeface="Arial" panose="020B0604020202020204" pitchFamily="34" charset="0"/>
                </a:rPr>
                <a:t>- </a:t>
              </a:r>
              <a:r>
                <a:rPr lang="en-US" altLang="en-US" sz="2200" dirty="0">
                  <a:solidFill>
                    <a:srgbClr val="002060"/>
                  </a:solidFill>
                  <a:latin typeface="Arial" panose="020B0604020202020204" pitchFamily="34" charset="0"/>
                  <a:cs typeface="Arial" panose="020B0604020202020204" pitchFamily="34" charset="0"/>
                </a:rPr>
                <a:t>Backend </a:t>
              </a:r>
              <a:r>
                <a:rPr lang="en-US" altLang="en-US" sz="2200" dirty="0" smtClean="0">
                  <a:solidFill>
                    <a:srgbClr val="002060"/>
                  </a:solidFill>
                  <a:latin typeface="Arial" panose="020B0604020202020204" pitchFamily="34" charset="0"/>
                  <a:cs typeface="Arial" panose="020B0604020202020204" pitchFamily="34" charset="0"/>
                </a:rPr>
                <a:t>- </a:t>
              </a:r>
              <a:r>
                <a:rPr lang="en-US" altLang="en-US" sz="2200" dirty="0">
                  <a:solidFill>
                    <a:srgbClr val="002060"/>
                  </a:solidFill>
                  <a:latin typeface="Arial" panose="020B0604020202020204" pitchFamily="34" charset="0"/>
                  <a:cs typeface="Arial" panose="020B0604020202020204" pitchFamily="34" charset="0"/>
                </a:rPr>
                <a:t>Database)</a:t>
              </a:r>
            </a:p>
          </p:txBody>
        </p:sp>
      </p:grpSp>
      <p:grpSp>
        <p:nvGrpSpPr>
          <p:cNvPr id="29" name="Group 28"/>
          <p:cNvGrpSpPr/>
          <p:nvPr/>
        </p:nvGrpSpPr>
        <p:grpSpPr>
          <a:xfrm>
            <a:off x="731520" y="2425673"/>
            <a:ext cx="8290560" cy="676910"/>
            <a:chOff x="731520" y="3119715"/>
            <a:chExt cx="8290560" cy="676910"/>
          </a:xfrm>
        </p:grpSpPr>
        <p:grpSp>
          <p:nvGrpSpPr>
            <p:cNvPr id="21" name="Group 21"/>
            <p:cNvGrpSpPr/>
            <p:nvPr/>
          </p:nvGrpSpPr>
          <p:grpSpPr>
            <a:xfrm>
              <a:off x="731520" y="3186390"/>
              <a:ext cx="285750" cy="285750"/>
              <a:chOff x="0" y="0"/>
              <a:chExt cx="125432" cy="125432"/>
            </a:xfrm>
          </p:grpSpPr>
          <p:sp>
            <p:nvSpPr>
              <p:cNvPr id="22" name="Freeform 22"/>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23" name="TextBox 23"/>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a:solidFill>
                    <a:srgbClr val="002060"/>
                  </a:solidFill>
                  <a:latin typeface="Arial" panose="020B0604020202020204" pitchFamily="34" charset="0"/>
                  <a:cs typeface="Arial" panose="020B0604020202020204" pitchFamily="34" charset="0"/>
                </a:endParaRPr>
              </a:p>
            </p:txBody>
          </p:sp>
        </p:grpSp>
        <p:sp>
          <p:nvSpPr>
            <p:cNvPr id="24" name="TextBox 24"/>
            <p:cNvSpPr txBox="1"/>
            <p:nvPr/>
          </p:nvSpPr>
          <p:spPr>
            <a:xfrm>
              <a:off x="1144816" y="3119715"/>
              <a:ext cx="7877264" cy="676910"/>
            </a:xfrm>
            <a:prstGeom prst="rect">
              <a:avLst/>
            </a:prstGeom>
          </p:spPr>
          <p:txBody>
            <a:bodyPr lIns="0" tIns="0" rIns="0" bIns="0" rtlCol="0" anchor="t">
              <a:spAutoFit/>
            </a:bodyPr>
            <a:lstStyle/>
            <a:p>
              <a:pPr algn="l">
                <a:lnSpc>
                  <a:spcPts val="2640"/>
                </a:lnSpc>
              </a:pP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Triển</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khai</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ầy</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ủ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chức</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n</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ă</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ng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cho</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ng</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ư</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ời</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dùng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khách</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ng</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ư</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ời</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dùng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đă</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ng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nhập</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và</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quản</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trị</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viên</a:t>
              </a:r>
              <a:endPar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grpSp>
      <p:grpSp>
        <p:nvGrpSpPr>
          <p:cNvPr id="30" name="Group 29"/>
          <p:cNvGrpSpPr/>
          <p:nvPr/>
        </p:nvGrpSpPr>
        <p:grpSpPr>
          <a:xfrm>
            <a:off x="731520" y="3264658"/>
            <a:ext cx="8290560" cy="676910"/>
            <a:chOff x="731520" y="4073527"/>
            <a:chExt cx="8290560" cy="676910"/>
          </a:xfrm>
        </p:grpSpPr>
        <p:grpSp>
          <p:nvGrpSpPr>
            <p:cNvPr id="25" name="Group 25"/>
            <p:cNvGrpSpPr/>
            <p:nvPr/>
          </p:nvGrpSpPr>
          <p:grpSpPr>
            <a:xfrm>
              <a:off x="731520" y="4140202"/>
              <a:ext cx="285750" cy="285750"/>
              <a:chOff x="0" y="0"/>
              <a:chExt cx="125432" cy="125432"/>
            </a:xfrm>
          </p:grpSpPr>
          <p:sp>
            <p:nvSpPr>
              <p:cNvPr id="26" name="Freeform 26"/>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27" name="TextBox 27"/>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a:solidFill>
                    <a:srgbClr val="002060"/>
                  </a:solidFill>
                  <a:latin typeface="Arial" panose="020B0604020202020204" pitchFamily="34" charset="0"/>
                  <a:cs typeface="Arial" panose="020B0604020202020204" pitchFamily="34" charset="0"/>
                </a:endParaRPr>
              </a:p>
            </p:txBody>
          </p:sp>
        </p:grpSp>
        <p:sp>
          <p:nvSpPr>
            <p:cNvPr id="28" name="TextBox 28"/>
            <p:cNvSpPr txBox="1"/>
            <p:nvPr/>
          </p:nvSpPr>
          <p:spPr>
            <a:xfrm>
              <a:off x="1144816" y="4073527"/>
              <a:ext cx="7877264" cy="676910"/>
            </a:xfrm>
            <a:prstGeom prst="rect">
              <a:avLst/>
            </a:prstGeom>
          </p:spPr>
          <p:txBody>
            <a:bodyPr lIns="0" tIns="0" rIns="0" bIns="0" rtlCol="0" anchor="t">
              <a:spAutoFit/>
            </a:bodyPr>
            <a:lstStyle/>
            <a:p>
              <a:pPr algn="l">
                <a:lnSpc>
                  <a:spcPts val="2640"/>
                </a:lnSpc>
              </a:pPr>
              <a:r>
                <a:rPr lang="en-US"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Ng</a:t>
              </a:r>
              <a:r>
                <a:rPr lang=""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ư</a:t>
              </a:r>
              <a:r>
                <a:rPr lang="en-US" altLang="en-US" sz="2200" b="1"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ời</a:t>
              </a:r>
              <a:r>
                <a:rPr lang="en-US"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b="1"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dùng</a:t>
              </a:r>
              <a:r>
                <a:rPr lang="en-US"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X</a:t>
              </a:r>
              <a:r>
                <a:rPr lang="en-US" alt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em</a:t>
              </a:r>
              <a:r>
                <a:rPr lang="en-US" alt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a:t>
              </a:r>
              <a:r>
                <a:rPr lang="en-US" alt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tìm</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kiếm</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lọc</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sản</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phẩm</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giỏ</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hàng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ặt</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hàng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yêu</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thích</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đ</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ánh</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giá</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xác</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minh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sinh</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viên</a:t>
              </a:r>
              <a:r>
                <a:rPr lang="en-US" alt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a:t>
              </a:r>
              <a:endPar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grpSp>
      <p:grpSp>
        <p:nvGrpSpPr>
          <p:cNvPr id="31" name="Group 30"/>
          <p:cNvGrpSpPr/>
          <p:nvPr/>
        </p:nvGrpSpPr>
        <p:grpSpPr>
          <a:xfrm>
            <a:off x="726012" y="4102522"/>
            <a:ext cx="8290560" cy="676910"/>
            <a:chOff x="731520" y="2165902"/>
            <a:chExt cx="8290560" cy="676910"/>
          </a:xfrm>
        </p:grpSpPr>
        <p:grpSp>
          <p:nvGrpSpPr>
            <p:cNvPr id="32" name="Group 17"/>
            <p:cNvGrpSpPr/>
            <p:nvPr>
              <p:custDataLst>
                <p:tags r:id="rId7"/>
              </p:custDataLst>
            </p:nvPr>
          </p:nvGrpSpPr>
          <p:grpSpPr>
            <a:xfrm>
              <a:off x="731520" y="2223244"/>
              <a:ext cx="285750" cy="285750"/>
              <a:chOff x="0" y="-4097"/>
              <a:chExt cx="125432" cy="125432"/>
            </a:xfrm>
          </p:grpSpPr>
          <p:sp>
            <p:nvSpPr>
              <p:cNvPr id="34" name="Freeform 18"/>
              <p:cNvSpPr/>
              <p:nvPr>
                <p:custDataLst>
                  <p:tags r:id="rId9"/>
                </p:custDataLst>
              </p:nvPr>
            </p:nvSpPr>
            <p:spPr>
              <a:xfrm>
                <a:off x="0" y="-4097"/>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35"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a:solidFill>
                    <a:srgbClr val="002060"/>
                  </a:solidFill>
                  <a:latin typeface="Arial" panose="020B0604020202020204" pitchFamily="34" charset="0"/>
                  <a:cs typeface="Arial" panose="020B0604020202020204" pitchFamily="34" charset="0"/>
                </a:endParaRPr>
              </a:p>
            </p:txBody>
          </p:sp>
        </p:grpSp>
        <p:sp>
          <p:nvSpPr>
            <p:cNvPr id="33" name="TextBox 20"/>
            <p:cNvSpPr txBox="1"/>
            <p:nvPr>
              <p:custDataLst>
                <p:tags r:id="rId8"/>
              </p:custDataLst>
            </p:nvPr>
          </p:nvSpPr>
          <p:spPr>
            <a:xfrm>
              <a:off x="1144816" y="2165902"/>
              <a:ext cx="7877264" cy="676910"/>
            </a:xfrm>
            <a:prstGeom prst="rect">
              <a:avLst/>
            </a:prstGeom>
          </p:spPr>
          <p:txBody>
            <a:bodyPr lIns="0" tIns="0" rIns="0" bIns="0" rtlCol="0" anchor="t">
              <a:spAutoFit/>
            </a:bodyPr>
            <a:lstStyle/>
            <a:p>
              <a:pPr lvl="0"/>
              <a:r>
                <a:rPr lang="en-US" altLang="en-US" sz="2200" b="1" dirty="0">
                  <a:solidFill>
                    <a:srgbClr val="002060"/>
                  </a:solidFill>
                  <a:latin typeface="Arial" panose="020B0604020202020204" pitchFamily="34" charset="0"/>
                  <a:cs typeface="Arial" panose="020B0604020202020204" pitchFamily="34" charset="0"/>
                </a:rPr>
                <a:t>Quản trị:</a:t>
              </a:r>
              <a:r>
                <a:rPr lang="en-US" altLang="en-US" sz="2200" dirty="0">
                  <a:solidFill>
                    <a:srgbClr val="002060"/>
                  </a:solidFill>
                  <a:latin typeface="Arial" panose="020B0604020202020204" pitchFamily="34" charset="0"/>
                  <a:cs typeface="Arial" panose="020B0604020202020204" pitchFamily="34" charset="0"/>
                </a:rPr>
                <a:t> </a:t>
              </a:r>
              <a:r>
                <a:rPr lang="en-US" altLang="en-US" sz="2200" dirty="0" err="1" smtClean="0">
                  <a:solidFill>
                    <a:srgbClr val="002060"/>
                  </a:solidFill>
                  <a:latin typeface="Arial" panose="020B0604020202020204" pitchFamily="34" charset="0"/>
                  <a:cs typeface="Arial" panose="020B0604020202020204" pitchFamily="34" charset="0"/>
                </a:rPr>
                <a:t>Quản</a:t>
              </a:r>
              <a:r>
                <a:rPr lang="en-US" altLang="en-US" sz="2200" dirty="0" smtClean="0">
                  <a:solidFill>
                    <a:srgbClr val="002060"/>
                  </a:solidFill>
                  <a:latin typeface="Arial" panose="020B0604020202020204" pitchFamily="34" charset="0"/>
                  <a:cs typeface="Arial" panose="020B0604020202020204" pitchFamily="34" charset="0"/>
                </a:rPr>
                <a:t> </a:t>
              </a:r>
              <a:r>
                <a:rPr lang="en-US" altLang="en-US" sz="2200" dirty="0">
                  <a:solidFill>
                    <a:srgbClr val="002060"/>
                  </a:solidFill>
                  <a:latin typeface="Arial" panose="020B0604020202020204" pitchFamily="34" charset="0"/>
                  <a:cs typeface="Arial" panose="020B0604020202020204" pitchFamily="34" charset="0"/>
                </a:rPr>
                <a:t>l</a:t>
              </a:r>
              <a:r>
                <a:rPr lang="" altLang="en-US" sz="2200" dirty="0">
                  <a:solidFill>
                    <a:srgbClr val="002060"/>
                  </a:solidFill>
                  <a:latin typeface="Arial" panose="020B0604020202020204" pitchFamily="34" charset="0"/>
                  <a:cs typeface="Arial" panose="020B0604020202020204" pitchFamily="34" charset="0"/>
                </a:rPr>
                <a:t>ý</a:t>
              </a:r>
              <a:r>
                <a:rPr lang="en-US" altLang="en-US" sz="2200" dirty="0">
                  <a:solidFill>
                    <a:srgbClr val="002060"/>
                  </a:solidFill>
                  <a:latin typeface="Arial" panose="020B0604020202020204" pitchFamily="34" charset="0"/>
                  <a:cs typeface="Arial" panose="020B0604020202020204" pitchFamily="34" charset="0"/>
                </a:rPr>
                <a:t> sản phẩm, danh mục, banner, </a:t>
              </a:r>
              <a:r>
                <a:rPr lang="" altLang="en-US" sz="2200" dirty="0">
                  <a:solidFill>
                    <a:srgbClr val="002060"/>
                  </a:solidFill>
                  <a:latin typeface="Arial" panose="020B0604020202020204" pitchFamily="34" charset="0"/>
                  <a:cs typeface="Arial" panose="020B0604020202020204" pitchFamily="34" charset="0"/>
                </a:rPr>
                <a:t>đ</a:t>
              </a:r>
              <a:r>
                <a:rPr lang="en-US" altLang="en-US" sz="2200" dirty="0">
                  <a:solidFill>
                    <a:srgbClr val="002060"/>
                  </a:solidFill>
                  <a:latin typeface="Arial" panose="020B0604020202020204" pitchFamily="34" charset="0"/>
                  <a:cs typeface="Arial" panose="020B0604020202020204" pitchFamily="34" charset="0"/>
                </a:rPr>
                <a:t>ơn hàng, ng</a:t>
              </a:r>
              <a:r>
                <a:rPr lang="" altLang="en-US" sz="2200" dirty="0">
                  <a:solidFill>
                    <a:srgbClr val="002060"/>
                  </a:solidFill>
                  <a:latin typeface="Arial" panose="020B0604020202020204" pitchFamily="34" charset="0"/>
                  <a:cs typeface="Arial" panose="020B0604020202020204" pitchFamily="34" charset="0"/>
                </a:rPr>
                <a:t>ư</a:t>
              </a:r>
              <a:r>
                <a:rPr lang="en-US" altLang="en-US" sz="2200" dirty="0" err="1">
                  <a:solidFill>
                    <a:srgbClr val="002060"/>
                  </a:solidFill>
                  <a:latin typeface="Arial" panose="020B0604020202020204" pitchFamily="34" charset="0"/>
                  <a:cs typeface="Arial" panose="020B0604020202020204" pitchFamily="34" charset="0"/>
                </a:rPr>
                <a:t>ời</a:t>
              </a:r>
              <a:r>
                <a:rPr lang="en-US" altLang="en-US" sz="2200" dirty="0">
                  <a:solidFill>
                    <a:srgbClr val="002060"/>
                  </a:solidFill>
                  <a:latin typeface="Arial" panose="020B0604020202020204" pitchFamily="34" charset="0"/>
                  <a:cs typeface="Arial" panose="020B0604020202020204" pitchFamily="34" charset="0"/>
                </a:rPr>
                <a:t> </a:t>
              </a:r>
              <a:r>
                <a:rPr lang="en-US" altLang="en-US" sz="2200" dirty="0" err="1" smtClean="0">
                  <a:solidFill>
                    <a:srgbClr val="002060"/>
                  </a:solidFill>
                  <a:latin typeface="Arial" panose="020B0604020202020204" pitchFamily="34" charset="0"/>
                  <a:cs typeface="Arial" panose="020B0604020202020204" pitchFamily="34" charset="0"/>
                </a:rPr>
                <a:t>dùng</a:t>
              </a:r>
              <a:r>
                <a:rPr lang="en-US" altLang="en-US" sz="2200" dirty="0" smtClean="0">
                  <a:solidFill>
                    <a:srgbClr val="002060"/>
                  </a:solidFill>
                  <a:latin typeface="Arial" panose="020B0604020202020204" pitchFamily="34" charset="0"/>
                  <a:cs typeface="Arial" panose="020B0604020202020204" pitchFamily="34" charset="0"/>
                </a:rPr>
                <a:t>.</a:t>
              </a:r>
              <a:endParaRPr lang="en-US" altLang="en-US" sz="2200" dirty="0">
                <a:solidFill>
                  <a:srgbClr val="002060"/>
                </a:solidFill>
                <a:latin typeface="Arial" panose="020B0604020202020204" pitchFamily="34" charset="0"/>
                <a:cs typeface="Arial" panose="020B0604020202020204" pitchFamily="34" charset="0"/>
              </a:endParaRPr>
            </a:p>
          </p:txBody>
        </p:sp>
      </p:grpSp>
      <p:grpSp>
        <p:nvGrpSpPr>
          <p:cNvPr id="36" name="Group 35"/>
          <p:cNvGrpSpPr/>
          <p:nvPr/>
        </p:nvGrpSpPr>
        <p:grpSpPr>
          <a:xfrm>
            <a:off x="735582" y="4946858"/>
            <a:ext cx="8280990" cy="338455"/>
            <a:chOff x="741090" y="3119715"/>
            <a:chExt cx="8280990" cy="338455"/>
          </a:xfrm>
        </p:grpSpPr>
        <p:grpSp>
          <p:nvGrpSpPr>
            <p:cNvPr id="37" name="Group 21"/>
            <p:cNvGrpSpPr/>
            <p:nvPr>
              <p:custDataLst>
                <p:tags r:id="rId4"/>
              </p:custDataLst>
            </p:nvPr>
          </p:nvGrpSpPr>
          <p:grpSpPr>
            <a:xfrm>
              <a:off x="741090" y="3143796"/>
              <a:ext cx="285750" cy="301556"/>
              <a:chOff x="4201" y="-18697"/>
              <a:chExt cx="125432" cy="132370"/>
            </a:xfrm>
          </p:grpSpPr>
          <p:sp>
            <p:nvSpPr>
              <p:cNvPr id="39" name="Freeform 22"/>
              <p:cNvSpPr/>
              <p:nvPr>
                <p:custDataLst>
                  <p:tags r:id="rId6"/>
                </p:custDataLst>
              </p:nvPr>
            </p:nvSpPr>
            <p:spPr>
              <a:xfrm>
                <a:off x="4201" y="-18697"/>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40" name="TextBox 23"/>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a:solidFill>
                    <a:srgbClr val="002060"/>
                  </a:solidFill>
                  <a:latin typeface="Arial" panose="020B0604020202020204" pitchFamily="34" charset="0"/>
                  <a:cs typeface="Arial" panose="020B0604020202020204" pitchFamily="34" charset="0"/>
                </a:endParaRPr>
              </a:p>
            </p:txBody>
          </p:sp>
        </p:grpSp>
        <p:sp>
          <p:nvSpPr>
            <p:cNvPr id="38" name="TextBox 24"/>
            <p:cNvSpPr txBox="1"/>
            <p:nvPr>
              <p:custDataLst>
                <p:tags r:id="rId5"/>
              </p:custDataLst>
            </p:nvPr>
          </p:nvSpPr>
          <p:spPr>
            <a:xfrm>
              <a:off x="1144816" y="3119715"/>
              <a:ext cx="7877264" cy="338455"/>
            </a:xfrm>
            <a:prstGeom prst="rect">
              <a:avLst/>
            </a:prstGeom>
          </p:spPr>
          <p:txBody>
            <a:bodyPr lIns="0" tIns="0" rIns="0" bIns="0" rtlCol="0" anchor="t">
              <a:spAutoFit/>
            </a:bodyPr>
            <a:lstStyle/>
            <a:p>
              <a:pPr algn="l">
                <a:lnSpc>
                  <a:spcPts val="2640"/>
                </a:lnSpc>
              </a:pPr>
              <a:r>
                <a:rPr lang="en-US" altLang="en-US" sz="2200" b="1"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Bảo</a:t>
              </a:r>
              <a:r>
                <a:rPr lang="en-US"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b="1"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mật</a:t>
              </a:r>
              <a:r>
                <a:rPr lang="en-US"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JWT,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bcrypt</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phân</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quyền</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theo</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vai</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trò</a:t>
              </a:r>
              <a:endPar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endParaRPr>
            </a:p>
          </p:txBody>
        </p:sp>
      </p:grpSp>
      <p:grpSp>
        <p:nvGrpSpPr>
          <p:cNvPr id="41" name="Group 40"/>
          <p:cNvGrpSpPr/>
          <p:nvPr/>
        </p:nvGrpSpPr>
        <p:grpSpPr>
          <a:xfrm>
            <a:off x="735582" y="5551756"/>
            <a:ext cx="8280990" cy="676910"/>
            <a:chOff x="741090" y="4157778"/>
            <a:chExt cx="8280990" cy="676910"/>
          </a:xfrm>
        </p:grpSpPr>
        <p:grpSp>
          <p:nvGrpSpPr>
            <p:cNvPr id="42" name="Group 25"/>
            <p:cNvGrpSpPr/>
            <p:nvPr>
              <p:custDataLst>
                <p:tags r:id="rId1"/>
              </p:custDataLst>
            </p:nvPr>
          </p:nvGrpSpPr>
          <p:grpSpPr>
            <a:xfrm>
              <a:off x="741090" y="4166990"/>
              <a:ext cx="285750" cy="321054"/>
              <a:chOff x="4201" y="11759"/>
              <a:chExt cx="125432" cy="140929"/>
            </a:xfrm>
          </p:grpSpPr>
          <p:sp>
            <p:nvSpPr>
              <p:cNvPr id="44" name="Freeform 26"/>
              <p:cNvSpPr/>
              <p:nvPr>
                <p:custDataLst>
                  <p:tags r:id="rId3"/>
                </p:custDataLst>
              </p:nvPr>
            </p:nvSpPr>
            <p:spPr>
              <a:xfrm>
                <a:off x="4201" y="27256"/>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45" name="TextBox 27"/>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200">
                  <a:solidFill>
                    <a:srgbClr val="002060"/>
                  </a:solidFill>
                  <a:latin typeface="Arial" panose="020B0604020202020204" pitchFamily="34" charset="0"/>
                  <a:cs typeface="Arial" panose="020B0604020202020204" pitchFamily="34" charset="0"/>
                </a:endParaRPr>
              </a:p>
            </p:txBody>
          </p:sp>
        </p:grpSp>
        <p:sp>
          <p:nvSpPr>
            <p:cNvPr id="43" name="TextBox 28"/>
            <p:cNvSpPr txBox="1"/>
            <p:nvPr>
              <p:custDataLst>
                <p:tags r:id="rId2"/>
              </p:custDataLst>
            </p:nvPr>
          </p:nvSpPr>
          <p:spPr>
            <a:xfrm>
              <a:off x="1144816" y="4157778"/>
              <a:ext cx="7877264" cy="676910"/>
            </a:xfrm>
            <a:prstGeom prst="rect">
              <a:avLst/>
            </a:prstGeom>
          </p:spPr>
          <p:txBody>
            <a:bodyPr lIns="0" tIns="0" rIns="0" bIns="0" rtlCol="0" anchor="t">
              <a:spAutoFit/>
            </a:bodyPr>
            <a:lstStyle/>
            <a:p>
              <a:pPr algn="l">
                <a:lnSpc>
                  <a:spcPts val="2640"/>
                </a:lnSpc>
              </a:pPr>
              <a:r>
                <a:rPr lang="vi-VN" altLang="en-US" sz="2200" b="1"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Hiệu năng và tối ưu</a:t>
              </a:r>
              <a:r>
                <a:rPr lang="vi-VN"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Tối</a:t>
              </a:r>
              <a:r>
                <a:rPr lang="en-US" altLang="en-US" sz="2200" dirty="0" smtClean="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ư</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u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hệ</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thống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bằng</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lazy loading, </a:t>
              </a:r>
              <a:r>
                <a:rPr lang="en-US" altLang="en-US" sz="2200" dirty="0" err="1">
                  <a:solidFill>
                    <a:srgbClr val="002060"/>
                  </a:solidFill>
                  <a:latin typeface="Arial" panose="020B0604020202020204" pitchFamily="34" charset="0"/>
                  <a:ea typeface="Arial" panose="020B0604020202020204"/>
                  <a:cs typeface="Arial" panose="020B0604020202020204" pitchFamily="34" charset="0"/>
                  <a:sym typeface="Arial" panose="020B0604020202020204"/>
                </a:rPr>
                <a:t>tối</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 </a:t>
              </a:r>
              <a:r>
                <a:rPr lang=""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ư</a:t>
              </a:r>
              <a:r>
                <a:rPr lang="en-US" altLang="en-US" sz="2200" dirty="0">
                  <a:solidFill>
                    <a:srgbClr val="002060"/>
                  </a:solidFill>
                  <a:latin typeface="Arial" panose="020B0604020202020204" pitchFamily="34" charset="0"/>
                  <a:ea typeface="Arial" panose="020B0604020202020204"/>
                  <a:cs typeface="Arial" panose="020B0604020202020204" pitchFamily="34" charset="0"/>
                  <a:sym typeface="Arial" panose="020B0604020202020204"/>
                </a:rPr>
                <a:t>u DB, Docker</a:t>
              </a:r>
            </a:p>
          </p:txBody>
        </p:sp>
      </p:grpSp>
      <p:grpSp>
        <p:nvGrpSpPr>
          <p:cNvPr id="46" name="Group 8"/>
          <p:cNvGrpSpPr/>
          <p:nvPr/>
        </p:nvGrpSpPr>
        <p:grpSpPr>
          <a:xfrm>
            <a:off x="260201" y="6832240"/>
            <a:ext cx="9233200" cy="331402"/>
            <a:chOff x="0" y="-19049"/>
            <a:chExt cx="12310933" cy="441869"/>
          </a:xfrm>
        </p:grpSpPr>
        <p:grpSp>
          <p:nvGrpSpPr>
            <p:cNvPr id="47" name="Group 9"/>
            <p:cNvGrpSpPr>
              <a:grpSpLocks noChangeAspect="1"/>
            </p:cNvGrpSpPr>
            <p:nvPr/>
          </p:nvGrpSpPr>
          <p:grpSpPr>
            <a:xfrm>
              <a:off x="2682866" y="46656"/>
              <a:ext cx="9628067" cy="146307"/>
              <a:chOff x="90219" y="0"/>
              <a:chExt cx="12362509" cy="187859"/>
            </a:xfrm>
          </p:grpSpPr>
          <p:sp>
            <p:nvSpPr>
              <p:cNvPr id="50"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12"/>
                <a:stretch>
                  <a:fillRect r="-22539" b="6"/>
                </a:stretch>
              </a:blipFill>
            </p:spPr>
          </p:sp>
        </p:grpSp>
        <p:sp>
          <p:nvSpPr>
            <p:cNvPr id="48"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49"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792480" y="1011783"/>
            <a:ext cx="3322320" cy="436017"/>
          </a:xfrm>
          <a:prstGeom prst="rect">
            <a:avLst/>
          </a:prstGeom>
        </p:spPr>
        <p:txBody>
          <a:bodyPr wrap="square" lIns="0" tIns="0" rIns="0" bIns="0" rtlCol="0" anchor="t">
            <a:spAutoFit/>
          </a:bodyPr>
          <a:lstStyle/>
          <a:p>
            <a:pPr algn="l">
              <a:lnSpc>
                <a:spcPts val="3360"/>
              </a:lnSpc>
            </a:pPr>
            <a:r>
              <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rPr>
              <a:t>Hiệu năng tải trang</a:t>
            </a: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66" name="AutoShape 11"/>
          <p:cNvSpPr/>
          <p:nvPr/>
        </p:nvSpPr>
        <p:spPr>
          <a:xfrm>
            <a:off x="4751188" y="949913"/>
            <a:ext cx="0" cy="4231687"/>
          </a:xfrm>
          <a:prstGeom prst="line">
            <a:avLst/>
          </a:prstGeom>
          <a:ln w="38100" cap="flat">
            <a:solidFill>
              <a:srgbClr val="5B9BD5"/>
            </a:solidFill>
            <a:prstDash val="solid"/>
            <a:headEnd type="none" w="sm" len="sm"/>
            <a:tailEnd type="none" w="sm" len="sm"/>
          </a:ln>
        </p:spPr>
      </p:sp>
      <p:sp>
        <p:nvSpPr>
          <p:cNvPr id="30" name="TextBox 7"/>
          <p:cNvSpPr txBox="1"/>
          <p:nvPr/>
        </p:nvSpPr>
        <p:spPr>
          <a:xfrm>
            <a:off x="6018530" y="1011783"/>
            <a:ext cx="2515870" cy="436017"/>
          </a:xfrm>
          <a:prstGeom prst="rect">
            <a:avLst/>
          </a:prstGeom>
        </p:spPr>
        <p:txBody>
          <a:bodyPr wrap="square" lIns="0" tIns="0" rIns="0" bIns="0" rtlCol="0" anchor="t">
            <a:spAutoFit/>
          </a:bodyPr>
          <a:lstStyle/>
          <a:p>
            <a:pPr algn="l">
              <a:lnSpc>
                <a:spcPts val="3360"/>
              </a:lnSpc>
            </a:pPr>
            <a:r>
              <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rPr>
              <a:t>Hiệu năng API</a:t>
            </a:r>
          </a:p>
        </p:txBody>
      </p:sp>
      <p:sp>
        <p:nvSpPr>
          <p:cNvPr id="69" name="AutoShape 42"/>
          <p:cNvSpPr/>
          <p:nvPr/>
        </p:nvSpPr>
        <p:spPr>
          <a:xfrm>
            <a:off x="714146" y="1524000"/>
            <a:ext cx="3316224" cy="0"/>
          </a:xfrm>
          <a:prstGeom prst="line">
            <a:avLst/>
          </a:prstGeom>
          <a:ln w="38100" cap="flat">
            <a:solidFill>
              <a:srgbClr val="5B9BD5"/>
            </a:solidFill>
            <a:prstDash val="solid"/>
            <a:headEnd type="none" w="sm" len="sm"/>
            <a:tailEnd type="none" w="sm" len="sm"/>
          </a:ln>
        </p:spPr>
      </p:sp>
      <p:grpSp>
        <p:nvGrpSpPr>
          <p:cNvPr id="31" name="Group 30"/>
          <p:cNvGrpSpPr/>
          <p:nvPr/>
        </p:nvGrpSpPr>
        <p:grpSpPr>
          <a:xfrm>
            <a:off x="231626" y="1693050"/>
            <a:ext cx="4492774" cy="369332"/>
            <a:chOff x="231626" y="1693050"/>
            <a:chExt cx="4492774" cy="369332"/>
          </a:xfrm>
        </p:grpSpPr>
        <p:grpSp>
          <p:nvGrpSpPr>
            <p:cNvPr id="97" name="Group 17"/>
            <p:cNvGrpSpPr/>
            <p:nvPr/>
          </p:nvGrpSpPr>
          <p:grpSpPr>
            <a:xfrm>
              <a:off x="231626" y="1759725"/>
              <a:ext cx="285750" cy="285750"/>
              <a:chOff x="0" y="0"/>
              <a:chExt cx="125432" cy="125432"/>
            </a:xfrm>
          </p:grpSpPr>
          <p:sp>
            <p:nvSpPr>
              <p:cNvPr id="100"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106"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108" name="TextBox 20"/>
            <p:cNvSpPr txBox="1"/>
            <p:nvPr/>
          </p:nvSpPr>
          <p:spPr>
            <a:xfrm>
              <a:off x="644922" y="1693050"/>
              <a:ext cx="4079478" cy="369332"/>
            </a:xfrm>
            <a:prstGeom prst="rect">
              <a:avLst/>
            </a:prstGeom>
          </p:spPr>
          <p:txBody>
            <a:bodyPr wrap="square" lIns="0" tIns="0" rIns="0" bIns="0" rtlCol="0" anchor="t">
              <a:spAutoFit/>
            </a:bodyPr>
            <a:lstStyle/>
            <a:p>
              <a:pPr lvl="0"/>
              <a:r>
                <a:rPr lang="en-US" altLang="en-US" sz="2400" dirty="0">
                  <a:solidFill>
                    <a:srgbClr val="002060"/>
                  </a:solidFill>
                  <a:latin typeface="Arial" panose="020B0604020202020204" pitchFamily="34" charset="0"/>
                  <a:cs typeface="Arial" panose="020B0604020202020204" pitchFamily="34" charset="0"/>
                </a:rPr>
                <a:t>Trang chủ: </a:t>
              </a:r>
              <a:r>
                <a:rPr lang="en-US" altLang="en-US" sz="2400" dirty="0" smtClean="0">
                  <a:solidFill>
                    <a:srgbClr val="002060"/>
                  </a:solidFill>
                  <a:latin typeface="Arial" panose="020B0604020202020204" pitchFamily="34" charset="0"/>
                  <a:cs typeface="Arial" panose="020B0604020202020204" pitchFamily="34" charset="0"/>
                </a:rPr>
                <a:t>5–12s</a:t>
              </a:r>
              <a:endParaRPr lang="en-US" altLang="en-US" sz="2400" dirty="0">
                <a:solidFill>
                  <a:srgbClr val="002060"/>
                </a:solidFill>
                <a:latin typeface="Arial" panose="020B0604020202020204" pitchFamily="34" charset="0"/>
                <a:cs typeface="Arial" panose="020B0604020202020204" pitchFamily="34" charset="0"/>
              </a:endParaRPr>
            </a:p>
          </p:txBody>
        </p:sp>
      </p:grpSp>
      <p:grpSp>
        <p:nvGrpSpPr>
          <p:cNvPr id="109" name="Group 108"/>
          <p:cNvGrpSpPr/>
          <p:nvPr/>
        </p:nvGrpSpPr>
        <p:grpSpPr>
          <a:xfrm>
            <a:off x="231626" y="2737247"/>
            <a:ext cx="4492774" cy="369332"/>
            <a:chOff x="231626" y="1693050"/>
            <a:chExt cx="4492774" cy="369332"/>
          </a:xfrm>
        </p:grpSpPr>
        <p:grpSp>
          <p:nvGrpSpPr>
            <p:cNvPr id="110" name="Group 17"/>
            <p:cNvGrpSpPr/>
            <p:nvPr/>
          </p:nvGrpSpPr>
          <p:grpSpPr>
            <a:xfrm>
              <a:off x="231626" y="1759725"/>
              <a:ext cx="285750" cy="285750"/>
              <a:chOff x="0" y="0"/>
              <a:chExt cx="125432" cy="125432"/>
            </a:xfrm>
          </p:grpSpPr>
          <p:sp>
            <p:nvSpPr>
              <p:cNvPr id="112"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114"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111" name="TextBox 20"/>
            <p:cNvSpPr txBox="1"/>
            <p:nvPr/>
          </p:nvSpPr>
          <p:spPr>
            <a:xfrm>
              <a:off x="644922" y="1693050"/>
              <a:ext cx="4079478" cy="369332"/>
            </a:xfrm>
            <a:prstGeom prst="rect">
              <a:avLst/>
            </a:prstGeom>
          </p:spPr>
          <p:txBody>
            <a:bodyPr wrap="square" lIns="0" tIns="0" rIns="0" bIns="0" rtlCol="0" anchor="t">
              <a:spAutoFit/>
            </a:bodyPr>
            <a:lstStyle/>
            <a:p>
              <a:pPr lvl="0"/>
              <a:r>
                <a:rPr lang="en-US" altLang="en-US" sz="2400" dirty="0">
                  <a:solidFill>
                    <a:srgbClr val="002060"/>
                  </a:solidFill>
                  <a:latin typeface="Arial" panose="020B0604020202020204" pitchFamily="34" charset="0"/>
                  <a:cs typeface="Arial" panose="020B0604020202020204" pitchFamily="34" charset="0"/>
                </a:rPr>
                <a:t>Trang chi tiết sản phẩm: &lt; 3s</a:t>
              </a:r>
            </a:p>
          </p:txBody>
        </p:sp>
      </p:grpSp>
      <p:grpSp>
        <p:nvGrpSpPr>
          <p:cNvPr id="117" name="Group 116"/>
          <p:cNvGrpSpPr/>
          <p:nvPr/>
        </p:nvGrpSpPr>
        <p:grpSpPr>
          <a:xfrm>
            <a:off x="258414" y="3777172"/>
            <a:ext cx="4492774" cy="738664"/>
            <a:chOff x="231626" y="1693050"/>
            <a:chExt cx="4492774" cy="738664"/>
          </a:xfrm>
        </p:grpSpPr>
        <p:grpSp>
          <p:nvGrpSpPr>
            <p:cNvPr id="118" name="Group 17"/>
            <p:cNvGrpSpPr/>
            <p:nvPr/>
          </p:nvGrpSpPr>
          <p:grpSpPr>
            <a:xfrm>
              <a:off x="231626" y="1759725"/>
              <a:ext cx="285750" cy="285750"/>
              <a:chOff x="0" y="0"/>
              <a:chExt cx="125432" cy="125432"/>
            </a:xfrm>
          </p:grpSpPr>
          <p:sp>
            <p:nvSpPr>
              <p:cNvPr id="120"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121"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119" name="TextBox 20"/>
            <p:cNvSpPr txBox="1"/>
            <p:nvPr/>
          </p:nvSpPr>
          <p:spPr>
            <a:xfrm>
              <a:off x="644922" y="1693050"/>
              <a:ext cx="4079478" cy="738664"/>
            </a:xfrm>
            <a:prstGeom prst="rect">
              <a:avLst/>
            </a:prstGeom>
          </p:spPr>
          <p:txBody>
            <a:bodyPr wrap="square" lIns="0" tIns="0" rIns="0" bIns="0" rtlCol="0" anchor="t">
              <a:spAutoFit/>
            </a:bodyPr>
            <a:lstStyle/>
            <a:p>
              <a:pPr lvl="0"/>
              <a:r>
                <a:rPr lang="" altLang="en-US" sz="2400" dirty="0">
                  <a:solidFill>
                    <a:srgbClr val="002060"/>
                  </a:solidFill>
                  <a:latin typeface="Arial" panose="020B0604020202020204" pitchFamily="34" charset="0"/>
                  <a:cs typeface="Arial" panose="020B0604020202020204" pitchFamily="34" charset="0"/>
                </a:rPr>
                <a:t>Á</a:t>
              </a:r>
              <a:r>
                <a:rPr lang="en-US" altLang="en-US" sz="2400" dirty="0">
                  <a:solidFill>
                    <a:srgbClr val="002060"/>
                  </a:solidFill>
                  <a:latin typeface="Arial" panose="020B0604020202020204" pitchFamily="34" charset="0"/>
                  <a:cs typeface="Arial" panose="020B0604020202020204" pitchFamily="34" charset="0"/>
                </a:rPr>
                <a:t>p dụng lazy loading </a:t>
              </a:r>
              <a:r>
                <a:rPr lang="" altLang="en-US" sz="2400" dirty="0">
                  <a:solidFill>
                    <a:srgbClr val="002060"/>
                  </a:solidFill>
                  <a:latin typeface="Arial" panose="020B0604020202020204" pitchFamily="34" charset="0"/>
                  <a:cs typeface="Arial" panose="020B0604020202020204" pitchFamily="34" charset="0"/>
                </a:rPr>
                <a:t>đ</a:t>
              </a:r>
              <a:r>
                <a:rPr lang="en-US" altLang="en-US" sz="2400" dirty="0">
                  <a:solidFill>
                    <a:srgbClr val="002060"/>
                  </a:solidFill>
                  <a:latin typeface="Arial" panose="020B0604020202020204" pitchFamily="34" charset="0"/>
                  <a:cs typeface="Arial" panose="020B0604020202020204" pitchFamily="34" charset="0"/>
                </a:rPr>
                <a:t>ể giảm dữ liệu tải ban </a:t>
              </a:r>
              <a:r>
                <a:rPr lang="" altLang="en-US" sz="2400" dirty="0">
                  <a:solidFill>
                    <a:srgbClr val="002060"/>
                  </a:solidFill>
                  <a:latin typeface="Arial" panose="020B0604020202020204" pitchFamily="34" charset="0"/>
                  <a:cs typeface="Arial" panose="020B0604020202020204" pitchFamily="34" charset="0"/>
                </a:rPr>
                <a:t>đ</a:t>
              </a:r>
              <a:r>
                <a:rPr lang="en-US" altLang="en-US" sz="2400" dirty="0">
                  <a:solidFill>
                    <a:srgbClr val="002060"/>
                  </a:solidFill>
                  <a:latin typeface="Arial" panose="020B0604020202020204" pitchFamily="34" charset="0"/>
                  <a:cs typeface="Arial" panose="020B0604020202020204" pitchFamily="34" charset="0"/>
                </a:rPr>
                <a:t>ầu</a:t>
              </a:r>
            </a:p>
          </p:txBody>
        </p:sp>
      </p:grpSp>
      <p:sp>
        <p:nvSpPr>
          <p:cNvPr id="32" name="AutoShape 42"/>
          <p:cNvSpPr/>
          <p:nvPr/>
        </p:nvSpPr>
        <p:spPr>
          <a:xfrm>
            <a:off x="5641746" y="1524000"/>
            <a:ext cx="3316224" cy="0"/>
          </a:xfrm>
          <a:prstGeom prst="line">
            <a:avLst/>
          </a:prstGeom>
          <a:ln w="38100" cap="flat">
            <a:solidFill>
              <a:srgbClr val="5B9BD5"/>
            </a:solidFill>
            <a:prstDash val="solid"/>
            <a:headEnd type="none" w="sm" len="sm"/>
            <a:tailEnd type="none" w="sm" len="sm"/>
          </a:ln>
        </p:spPr>
      </p:sp>
      <p:grpSp>
        <p:nvGrpSpPr>
          <p:cNvPr id="33" name="Group 32"/>
          <p:cNvGrpSpPr/>
          <p:nvPr/>
        </p:nvGrpSpPr>
        <p:grpSpPr>
          <a:xfrm>
            <a:off x="5032226" y="1721134"/>
            <a:ext cx="4492774" cy="738664"/>
            <a:chOff x="231626" y="1693050"/>
            <a:chExt cx="4492774" cy="738664"/>
          </a:xfrm>
        </p:grpSpPr>
        <p:grpSp>
          <p:nvGrpSpPr>
            <p:cNvPr id="34" name="Group 17"/>
            <p:cNvGrpSpPr/>
            <p:nvPr/>
          </p:nvGrpSpPr>
          <p:grpSpPr>
            <a:xfrm>
              <a:off x="231626" y="1759725"/>
              <a:ext cx="285750" cy="285750"/>
              <a:chOff x="0" y="0"/>
              <a:chExt cx="125432" cy="125432"/>
            </a:xfrm>
          </p:grpSpPr>
          <p:sp>
            <p:nvSpPr>
              <p:cNvPr id="35"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36"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37" name="TextBox 20"/>
            <p:cNvSpPr txBox="1"/>
            <p:nvPr/>
          </p:nvSpPr>
          <p:spPr>
            <a:xfrm>
              <a:off x="644922" y="1693050"/>
              <a:ext cx="4079478" cy="738664"/>
            </a:xfrm>
            <a:prstGeom prst="rect">
              <a:avLst/>
            </a:prstGeom>
          </p:spPr>
          <p:txBody>
            <a:bodyPr wrap="square" lIns="0" tIns="0" rIns="0" bIns="0" rtlCol="0" anchor="t">
              <a:spAutoFit/>
            </a:bodyPr>
            <a:lstStyle/>
            <a:p>
              <a:pPr lvl="0"/>
              <a:r>
                <a:rPr lang="en-US" altLang="en-US" sz="2400" dirty="0" smtClean="0">
                  <a:solidFill>
                    <a:srgbClr val="002060"/>
                  </a:solidFill>
                  <a:latin typeface="Arial" panose="020B0604020202020204" pitchFamily="34" charset="0"/>
                  <a:cs typeface="Arial" panose="020B0604020202020204" pitchFamily="34" charset="0"/>
                </a:rPr>
                <a:t>Danh sách sản phẩm: ~190ms</a:t>
              </a:r>
              <a:r>
                <a:rPr lang="en-US" sz="2400" dirty="0" smtClean="0">
                  <a:solidFill>
                    <a:srgbClr val="002060"/>
                  </a:solidFill>
                  <a:latin typeface="Arial" panose="020B0604020202020204" pitchFamily="34" charset="0"/>
                  <a:cs typeface="Arial" panose="020B0604020202020204" pitchFamily="34" charset="0"/>
                </a:rPr>
                <a:t>.</a:t>
              </a:r>
              <a:endParaRPr lang="en-US" sz="2400" dirty="0">
                <a:solidFill>
                  <a:srgbClr val="002060"/>
                </a:solidFill>
                <a:latin typeface="Arial" panose="020B0604020202020204" pitchFamily="34" charset="0"/>
                <a:cs typeface="Arial" panose="020B0604020202020204" pitchFamily="34" charset="0"/>
              </a:endParaRPr>
            </a:p>
          </p:txBody>
        </p:sp>
      </p:grpSp>
      <p:grpSp>
        <p:nvGrpSpPr>
          <p:cNvPr id="38" name="Group 37"/>
          <p:cNvGrpSpPr/>
          <p:nvPr/>
        </p:nvGrpSpPr>
        <p:grpSpPr>
          <a:xfrm>
            <a:off x="5032226" y="2737247"/>
            <a:ext cx="4492774" cy="369332"/>
            <a:chOff x="231626" y="1693050"/>
            <a:chExt cx="4492774" cy="369332"/>
          </a:xfrm>
        </p:grpSpPr>
        <p:grpSp>
          <p:nvGrpSpPr>
            <p:cNvPr id="39" name="Group 17"/>
            <p:cNvGrpSpPr/>
            <p:nvPr/>
          </p:nvGrpSpPr>
          <p:grpSpPr>
            <a:xfrm>
              <a:off x="231626" y="1759725"/>
              <a:ext cx="285750" cy="285750"/>
              <a:chOff x="0" y="0"/>
              <a:chExt cx="125432" cy="125432"/>
            </a:xfrm>
          </p:grpSpPr>
          <p:sp>
            <p:nvSpPr>
              <p:cNvPr id="40"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41"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42" name="TextBox 20"/>
            <p:cNvSpPr txBox="1"/>
            <p:nvPr/>
          </p:nvSpPr>
          <p:spPr>
            <a:xfrm>
              <a:off x="644922" y="1693050"/>
              <a:ext cx="4079478" cy="369332"/>
            </a:xfrm>
            <a:prstGeom prst="rect">
              <a:avLst/>
            </a:prstGeom>
          </p:spPr>
          <p:txBody>
            <a:bodyPr wrap="square" lIns="0" tIns="0" rIns="0" bIns="0" rtlCol="0" anchor="t">
              <a:spAutoFit/>
            </a:bodyPr>
            <a:lstStyle/>
            <a:p>
              <a:pPr lvl="0"/>
              <a:r>
                <a:rPr lang="en-US" altLang="en-US" sz="2400" dirty="0">
                  <a:solidFill>
                    <a:srgbClr val="002060"/>
                  </a:solidFill>
                  <a:latin typeface="Arial" panose="020B0604020202020204" pitchFamily="34" charset="0"/>
                  <a:cs typeface="Arial" panose="020B0604020202020204" pitchFamily="34" charset="0"/>
                </a:rPr>
                <a:t>Chi tiết sản phẩm: ~106ms</a:t>
              </a:r>
            </a:p>
          </p:txBody>
        </p:sp>
      </p:grpSp>
      <p:grpSp>
        <p:nvGrpSpPr>
          <p:cNvPr id="43" name="Group 42"/>
          <p:cNvGrpSpPr/>
          <p:nvPr/>
        </p:nvGrpSpPr>
        <p:grpSpPr>
          <a:xfrm>
            <a:off x="5053471" y="3724580"/>
            <a:ext cx="4492774" cy="369332"/>
            <a:chOff x="231626" y="1693050"/>
            <a:chExt cx="4492774" cy="369332"/>
          </a:xfrm>
        </p:grpSpPr>
        <p:grpSp>
          <p:nvGrpSpPr>
            <p:cNvPr id="44" name="Group 17"/>
            <p:cNvGrpSpPr/>
            <p:nvPr/>
          </p:nvGrpSpPr>
          <p:grpSpPr>
            <a:xfrm>
              <a:off x="231626" y="1759725"/>
              <a:ext cx="285750" cy="285750"/>
              <a:chOff x="0" y="0"/>
              <a:chExt cx="125432" cy="125432"/>
            </a:xfrm>
          </p:grpSpPr>
          <p:sp>
            <p:nvSpPr>
              <p:cNvPr id="45"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46"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47" name="TextBox 20"/>
            <p:cNvSpPr txBox="1"/>
            <p:nvPr/>
          </p:nvSpPr>
          <p:spPr>
            <a:xfrm>
              <a:off x="644922" y="1693050"/>
              <a:ext cx="4079478" cy="369332"/>
            </a:xfrm>
            <a:prstGeom prst="rect">
              <a:avLst/>
            </a:prstGeom>
          </p:spPr>
          <p:txBody>
            <a:bodyPr wrap="square" lIns="0" tIns="0" rIns="0" bIns="0" rtlCol="0" anchor="t">
              <a:spAutoFit/>
            </a:bodyPr>
            <a:lstStyle/>
            <a:p>
              <a:pPr lvl="0"/>
              <a:r>
                <a:rPr lang="" altLang="en-US" sz="2400" dirty="0">
                  <a:solidFill>
                    <a:srgbClr val="002060"/>
                  </a:solidFill>
                  <a:latin typeface="Arial" panose="020B0604020202020204" pitchFamily="34" charset="0"/>
                  <a:cs typeface="Arial" panose="020B0604020202020204" pitchFamily="34" charset="0"/>
                </a:rPr>
                <a:t>Đ</a:t>
              </a:r>
              <a:r>
                <a:rPr lang="en-US" altLang="en-US" sz="2400" dirty="0">
                  <a:solidFill>
                    <a:srgbClr val="002060"/>
                  </a:solidFill>
                  <a:latin typeface="Arial" panose="020B0604020202020204" pitchFamily="34" charset="0"/>
                  <a:cs typeface="Arial" panose="020B0604020202020204" pitchFamily="34" charset="0"/>
                </a:rPr>
                <a:t>ánh giá: ~110ms</a:t>
              </a:r>
            </a:p>
          </p:txBody>
        </p:sp>
      </p:grpSp>
      <p:grpSp>
        <p:nvGrpSpPr>
          <p:cNvPr id="48" name="Group 47"/>
          <p:cNvGrpSpPr/>
          <p:nvPr/>
        </p:nvGrpSpPr>
        <p:grpSpPr>
          <a:xfrm>
            <a:off x="5058692" y="4709889"/>
            <a:ext cx="4492774" cy="378857"/>
            <a:chOff x="231626" y="1759725"/>
            <a:chExt cx="4492774" cy="378857"/>
          </a:xfrm>
        </p:grpSpPr>
        <p:grpSp>
          <p:nvGrpSpPr>
            <p:cNvPr id="49" name="Group 17"/>
            <p:cNvGrpSpPr/>
            <p:nvPr/>
          </p:nvGrpSpPr>
          <p:grpSpPr>
            <a:xfrm>
              <a:off x="231626" y="1759725"/>
              <a:ext cx="285750" cy="285750"/>
              <a:chOff x="0" y="0"/>
              <a:chExt cx="125432" cy="125432"/>
            </a:xfrm>
          </p:grpSpPr>
          <p:sp>
            <p:nvSpPr>
              <p:cNvPr id="50" name="Freeform 18"/>
              <p:cNvSpPr/>
              <p:nvPr/>
            </p:nvSpPr>
            <p:spPr>
              <a:xfrm>
                <a:off x="0" y="0"/>
                <a:ext cx="125432" cy="125432"/>
              </a:xfrm>
              <a:custGeom>
                <a:avLst/>
                <a:gdLst/>
                <a:ahLst/>
                <a:cxnLst/>
                <a:rect l="l" t="t" r="r" b="b"/>
                <a:pathLst>
                  <a:path w="125432" h="125432">
                    <a:moveTo>
                      <a:pt x="62716" y="0"/>
                    </a:moveTo>
                    <a:cubicBezTo>
                      <a:pt x="28079" y="0"/>
                      <a:pt x="0" y="28079"/>
                      <a:pt x="0" y="62716"/>
                    </a:cubicBezTo>
                    <a:cubicBezTo>
                      <a:pt x="0" y="97353"/>
                      <a:pt x="28079" y="125432"/>
                      <a:pt x="62716" y="125432"/>
                    </a:cubicBezTo>
                    <a:cubicBezTo>
                      <a:pt x="97353" y="125432"/>
                      <a:pt x="125432" y="97353"/>
                      <a:pt x="125432" y="62716"/>
                    </a:cubicBezTo>
                    <a:cubicBezTo>
                      <a:pt x="125432" y="28079"/>
                      <a:pt x="97353" y="0"/>
                      <a:pt x="62716" y="0"/>
                    </a:cubicBezTo>
                    <a:close/>
                  </a:path>
                </a:pathLst>
              </a:custGeom>
              <a:solidFill>
                <a:srgbClr val="7FD7F7"/>
              </a:solidFill>
            </p:spPr>
          </p:sp>
          <p:sp>
            <p:nvSpPr>
              <p:cNvPr id="51" name="TextBox 19"/>
              <p:cNvSpPr txBox="1"/>
              <p:nvPr/>
            </p:nvSpPr>
            <p:spPr>
              <a:xfrm>
                <a:off x="11759" y="11759"/>
                <a:ext cx="10191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52" name="TextBox 20"/>
            <p:cNvSpPr txBox="1"/>
            <p:nvPr/>
          </p:nvSpPr>
          <p:spPr>
            <a:xfrm>
              <a:off x="644922" y="1769250"/>
              <a:ext cx="4079478" cy="369332"/>
            </a:xfrm>
            <a:prstGeom prst="rect">
              <a:avLst/>
            </a:prstGeom>
          </p:spPr>
          <p:txBody>
            <a:bodyPr wrap="square" lIns="0" tIns="0" rIns="0" bIns="0" rtlCol="0" anchor="t">
              <a:spAutoFit/>
            </a:bodyPr>
            <a:lstStyle/>
            <a:p>
              <a:pPr lvl="0"/>
              <a:r>
                <a:rPr lang="en-US" altLang="en-US" sz="2400" dirty="0">
                  <a:solidFill>
                    <a:srgbClr val="002060"/>
                  </a:solidFill>
                  <a:latin typeface="Arial" panose="020B0604020202020204" pitchFamily="34" charset="0"/>
                  <a:cs typeface="Arial" panose="020B0604020202020204" pitchFamily="34" charset="0"/>
                </a:rPr>
                <a:t>Tạo </a:t>
              </a:r>
              <a:r>
                <a:rPr lang="" altLang="en-US" sz="2400" dirty="0">
                  <a:solidFill>
                    <a:srgbClr val="002060"/>
                  </a:solidFill>
                  <a:latin typeface="Arial" panose="020B0604020202020204" pitchFamily="34" charset="0"/>
                  <a:cs typeface="Arial" panose="020B0604020202020204" pitchFamily="34" charset="0"/>
                </a:rPr>
                <a:t>đ</a:t>
              </a:r>
              <a:r>
                <a:rPr lang="en-US" altLang="en-US" sz="2400" dirty="0">
                  <a:solidFill>
                    <a:srgbClr val="002060"/>
                  </a:solidFill>
                  <a:latin typeface="Arial" panose="020B0604020202020204" pitchFamily="34" charset="0"/>
                  <a:cs typeface="Arial" panose="020B0604020202020204" pitchFamily="34" charset="0"/>
                </a:rPr>
                <a:t>ơn hàng: ~263ms</a:t>
              </a:r>
            </a:p>
          </p:txBody>
        </p:sp>
      </p:grpSp>
      <p:grpSp>
        <p:nvGrpSpPr>
          <p:cNvPr id="16" name="Group 15"/>
          <p:cNvGrpSpPr/>
          <p:nvPr/>
        </p:nvGrpSpPr>
        <p:grpSpPr>
          <a:xfrm>
            <a:off x="544164" y="5677235"/>
            <a:ext cx="8494122" cy="738664"/>
            <a:chOff x="374500" y="5677235"/>
            <a:chExt cx="8494122" cy="738664"/>
          </a:xfrm>
        </p:grpSpPr>
        <p:sp>
          <p:nvSpPr>
            <p:cNvPr id="54" name="TextBox 20"/>
            <p:cNvSpPr txBox="1"/>
            <p:nvPr/>
          </p:nvSpPr>
          <p:spPr>
            <a:xfrm>
              <a:off x="1141062" y="5677235"/>
              <a:ext cx="7727560" cy="738664"/>
            </a:xfrm>
            <a:prstGeom prst="rect">
              <a:avLst/>
            </a:prstGeom>
          </p:spPr>
          <p:txBody>
            <a:bodyPr wrap="square" lIns="0" tIns="0" rIns="0" bIns="0" rtlCol="0" anchor="t">
              <a:spAutoFit/>
            </a:bodyPr>
            <a:lstStyle/>
            <a:p>
              <a:pPr lvl="0"/>
              <a:r>
                <a:rPr lang="en-US" altLang="en-US" sz="2400" dirty="0" err="1">
                  <a:solidFill>
                    <a:srgbClr val="002060"/>
                  </a:solidFill>
                  <a:latin typeface="Arial" panose="020B0604020202020204" pitchFamily="34" charset="0"/>
                  <a:cs typeface="Arial" panose="020B0604020202020204" pitchFamily="34" charset="0"/>
                </a:rPr>
                <a:t>Ổ</a:t>
              </a:r>
              <a:r>
                <a:rPr lang="en-US" altLang="en-US" sz="2400" dirty="0" err="1" smtClean="0">
                  <a:solidFill>
                    <a:srgbClr val="002060"/>
                  </a:solidFill>
                  <a:latin typeface="Arial" panose="020B0604020202020204" pitchFamily="34" charset="0"/>
                  <a:cs typeface="Arial" panose="020B0604020202020204" pitchFamily="34" charset="0"/>
                </a:rPr>
                <a:t>n</a:t>
              </a:r>
              <a:r>
                <a:rPr lang="en-US" altLang="en-US" sz="2400" dirty="0" smtClean="0">
                  <a:solidFill>
                    <a:srgbClr val="002060"/>
                  </a:solidFill>
                  <a:latin typeface="Arial" panose="020B0604020202020204" pitchFamily="34" charset="0"/>
                  <a:cs typeface="Arial" panose="020B0604020202020204" pitchFamily="34" charset="0"/>
                </a:rPr>
                <a:t> </a:t>
              </a:r>
              <a:r>
                <a:rPr lang="" altLang="en-US" sz="2400" dirty="0">
                  <a:solidFill>
                    <a:srgbClr val="002060"/>
                  </a:solidFill>
                  <a:latin typeface="Arial" panose="020B0604020202020204" pitchFamily="34" charset="0"/>
                  <a:cs typeface="Arial" panose="020B0604020202020204" pitchFamily="34" charset="0"/>
                </a:rPr>
                <a:t>đ</a:t>
              </a:r>
              <a:r>
                <a:rPr lang="en-US" altLang="en-US" sz="2400" dirty="0">
                  <a:solidFill>
                    <a:srgbClr val="002060"/>
                  </a:solidFill>
                  <a:latin typeface="Arial" panose="020B0604020202020204" pitchFamily="34" charset="0"/>
                  <a:cs typeface="Arial" panose="020B0604020202020204" pitchFamily="34" charset="0"/>
                </a:rPr>
                <a:t>ịnh, chậm trang chủ chủ yếu do frontend </a:t>
              </a:r>
              <a:r>
                <a:rPr lang="en-US" altLang="en-US" sz="2400" dirty="0" err="1">
                  <a:solidFill>
                    <a:srgbClr val="002060"/>
                  </a:solidFill>
                  <a:latin typeface="Arial" panose="020B0604020202020204" pitchFamily="34" charset="0"/>
                  <a:cs typeface="Arial" panose="020B0604020202020204" pitchFamily="34" charset="0"/>
                </a:rPr>
                <a:t>tải</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nhiều</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sản</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phẩm</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smtClean="0">
                  <a:solidFill>
                    <a:srgbClr val="002060"/>
                  </a:solidFill>
                  <a:latin typeface="Arial" panose="020B0604020202020204" pitchFamily="34" charset="0"/>
                  <a:cs typeface="Arial" panose="020B0604020202020204" pitchFamily="34" charset="0"/>
                </a:rPr>
                <a:t>và</a:t>
              </a:r>
              <a:r>
                <a:rPr lang="en-US" altLang="en-US" sz="2400" dirty="0" smtClean="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hình</a:t>
              </a:r>
              <a:r>
                <a:rPr lang="en-US" altLang="en-US" sz="2400" dirty="0">
                  <a:solidFill>
                    <a:srgbClr val="002060"/>
                  </a:solidFill>
                  <a:latin typeface="Arial" panose="020B0604020202020204" pitchFamily="34" charset="0"/>
                  <a:cs typeface="Arial" panose="020B0604020202020204" pitchFamily="34" charset="0"/>
                </a:rPr>
                <a:t> </a:t>
              </a:r>
              <a:r>
                <a:rPr lang="en-US" altLang="en-US" sz="2400" dirty="0" err="1">
                  <a:solidFill>
                    <a:srgbClr val="002060"/>
                  </a:solidFill>
                  <a:latin typeface="Arial" panose="020B0604020202020204" pitchFamily="34" charset="0"/>
                  <a:cs typeface="Arial" panose="020B0604020202020204" pitchFamily="34" charset="0"/>
                </a:rPr>
                <a:t>ảnh</a:t>
              </a:r>
              <a:endParaRPr lang="en-US" altLang="en-US" sz="2400" dirty="0">
                <a:solidFill>
                  <a:srgbClr val="002060"/>
                </a:solidFill>
                <a:latin typeface="Arial" panose="020B0604020202020204" pitchFamily="34" charset="0"/>
                <a:cs typeface="Arial" panose="020B0604020202020204" pitchFamily="34" charset="0"/>
              </a:endParaRPr>
            </a:p>
          </p:txBody>
        </p:sp>
        <p:sp>
          <p:nvSpPr>
            <p:cNvPr id="57" name="Chevron 56"/>
            <p:cNvSpPr/>
            <p:nvPr/>
          </p:nvSpPr>
          <p:spPr>
            <a:xfrm>
              <a:off x="374500" y="5742759"/>
              <a:ext cx="498135" cy="571449"/>
            </a:xfrm>
            <a:prstGeom prst="chevron">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9" name="Group 8"/>
          <p:cNvGrpSpPr/>
          <p:nvPr/>
        </p:nvGrpSpPr>
        <p:grpSpPr>
          <a:xfrm>
            <a:off x="260201" y="6832240"/>
            <a:ext cx="9233200" cy="331402"/>
            <a:chOff x="0" y="-19049"/>
            <a:chExt cx="12310933" cy="441869"/>
          </a:xfrm>
        </p:grpSpPr>
        <p:grpSp>
          <p:nvGrpSpPr>
            <p:cNvPr id="60" name="Group 9"/>
            <p:cNvGrpSpPr>
              <a:grpSpLocks noChangeAspect="1"/>
            </p:cNvGrpSpPr>
            <p:nvPr/>
          </p:nvGrpSpPr>
          <p:grpSpPr>
            <a:xfrm>
              <a:off x="2682866" y="46656"/>
              <a:ext cx="9628067" cy="146307"/>
              <a:chOff x="90219" y="0"/>
              <a:chExt cx="12362509" cy="187859"/>
            </a:xfrm>
          </p:grpSpPr>
          <p:sp>
            <p:nvSpPr>
              <p:cNvPr id="63"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6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62"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17270"/>
            <a:ext cx="4541520" cy="430530"/>
          </a:xfrm>
          <a:prstGeom prst="rect">
            <a:avLst/>
          </a:prstGeom>
        </p:spPr>
        <p:txBody>
          <a:bodyPr wrap="square" lIns="0" tIns="0" rIns="0" bIns="0" rtlCol="0" anchor="t">
            <a:spAutoFit/>
          </a:bodyPr>
          <a:lstStyle/>
          <a:p>
            <a:pPr algn="l">
              <a:lnSpc>
                <a:spcPts val="3360"/>
              </a:lnSpc>
            </a:pPr>
            <a:r>
              <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rPr>
              <a:t>Trải nghiệm người dùng</a:t>
            </a: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grpSp>
        <p:nvGrpSpPr>
          <p:cNvPr id="43" name="Group 43"/>
          <p:cNvGrpSpPr/>
          <p:nvPr/>
        </p:nvGrpSpPr>
        <p:grpSpPr>
          <a:xfrm>
            <a:off x="838200" y="1828800"/>
            <a:ext cx="7936989" cy="338455"/>
            <a:chOff x="0" y="5503"/>
            <a:chExt cx="10582651" cy="451273"/>
          </a:xfrm>
        </p:grpSpPr>
        <p:grpSp>
          <p:nvGrpSpPr>
            <p:cNvPr id="44" name="Group 44"/>
            <p:cNvGrpSpPr/>
            <p:nvPr/>
          </p:nvGrpSpPr>
          <p:grpSpPr>
            <a:xfrm>
              <a:off x="0" y="25400"/>
              <a:ext cx="368253" cy="381000"/>
              <a:chOff x="0" y="0"/>
              <a:chExt cx="121236" cy="125432"/>
            </a:xfrm>
          </p:grpSpPr>
          <p:sp>
            <p:nvSpPr>
              <p:cNvPr id="45" name="Freeform 45"/>
              <p:cNvSpPr/>
              <p:nvPr/>
            </p:nvSpPr>
            <p:spPr>
              <a:xfrm>
                <a:off x="0" y="0"/>
                <a:ext cx="121236" cy="125432"/>
              </a:xfrm>
              <a:custGeom>
                <a:avLst/>
                <a:gdLst/>
                <a:ahLst/>
                <a:cxnLst/>
                <a:rect l="l" t="t" r="r" b="b"/>
                <a:pathLst>
                  <a:path w="121236" h="125432">
                    <a:moveTo>
                      <a:pt x="60618" y="0"/>
                    </a:moveTo>
                    <a:cubicBezTo>
                      <a:pt x="27140" y="0"/>
                      <a:pt x="0" y="28079"/>
                      <a:pt x="0" y="62716"/>
                    </a:cubicBezTo>
                    <a:cubicBezTo>
                      <a:pt x="0" y="97353"/>
                      <a:pt x="27140" y="125432"/>
                      <a:pt x="60618" y="125432"/>
                    </a:cubicBezTo>
                    <a:cubicBezTo>
                      <a:pt x="94096" y="125432"/>
                      <a:pt x="121236" y="97353"/>
                      <a:pt x="121236" y="62716"/>
                    </a:cubicBezTo>
                    <a:cubicBezTo>
                      <a:pt x="121236" y="28079"/>
                      <a:pt x="94096" y="0"/>
                      <a:pt x="60618" y="0"/>
                    </a:cubicBezTo>
                    <a:close/>
                  </a:path>
                </a:pathLst>
              </a:custGeom>
              <a:solidFill>
                <a:srgbClr val="7FD7F7"/>
              </a:solidFill>
            </p:spPr>
          </p:sp>
          <p:sp>
            <p:nvSpPr>
              <p:cNvPr id="46" name="TextBox 46"/>
              <p:cNvSpPr txBox="1"/>
              <p:nvPr/>
            </p:nvSpPr>
            <p:spPr>
              <a:xfrm>
                <a:off x="11366" y="11759"/>
                <a:ext cx="9850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47" name="TextBox 47"/>
            <p:cNvSpPr txBox="1"/>
            <p:nvPr/>
          </p:nvSpPr>
          <p:spPr>
            <a:xfrm>
              <a:off x="532625" y="5503"/>
              <a:ext cx="10050026" cy="451273"/>
            </a:xfrm>
            <a:prstGeom prst="rect">
              <a:avLst/>
            </a:prstGeom>
          </p:spPr>
          <p:txBody>
            <a:bodyPr wrap="square" lIns="0" tIns="0" rIns="0" bIns="0" rtlCol="0" anchor="t">
              <a:spAutoFit/>
            </a:bodyPr>
            <a:lstStyle/>
            <a:p>
              <a:pPr algn="l">
                <a:lnSpc>
                  <a:spcPts val="2640"/>
                </a:lnSpc>
              </a:pPr>
              <a:r>
                <a:rPr sz="2400" dirty="0" err="1">
                  <a:solidFill>
                    <a:srgbClr val="002060"/>
                  </a:solidFill>
                  <a:latin typeface="Arial" panose="020B0604020202020204" pitchFamily="34" charset="0"/>
                  <a:ea typeface="SegoeuiPc"/>
                  <a:cs typeface="Arial" panose="020B0604020202020204" pitchFamily="34" charset="0"/>
                  <a:sym typeface="+mn-ea"/>
                </a:rPr>
                <a:t>Giao</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diện</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đơn</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giản</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dễ</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sử</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dụng</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thao</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tác</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rõ</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ràng</a:t>
              </a:r>
              <a:r>
                <a:rPr sz="2400" dirty="0">
                  <a:solidFill>
                    <a:srgbClr val="002060"/>
                  </a:solidFill>
                  <a:latin typeface="Arial" panose="020B0604020202020204" pitchFamily="34" charset="0"/>
                  <a:ea typeface="SegoeuiPc"/>
                  <a:cs typeface="Arial" panose="020B0604020202020204" pitchFamily="34" charset="0"/>
                  <a:sym typeface="+mn-ea"/>
                </a:rPr>
                <a:t> </a:t>
              </a:r>
              <a:endParaRPr lang="en-US" sz="2400" dirty="0">
                <a:solidFill>
                  <a:srgbClr val="002060"/>
                </a:solidFill>
                <a:latin typeface="Arial" panose="020B0604020202020204" pitchFamily="34" charset="0"/>
                <a:ea typeface="SegoeuiPc"/>
                <a:cs typeface="Arial" panose="020B0604020202020204" pitchFamily="34" charset="0"/>
                <a:sym typeface="+mn-ea"/>
              </a:endParaRPr>
            </a:p>
          </p:txBody>
        </p:sp>
      </p:grpSp>
      <p:grpSp>
        <p:nvGrpSpPr>
          <p:cNvPr id="48" name="Group 48"/>
          <p:cNvGrpSpPr/>
          <p:nvPr/>
        </p:nvGrpSpPr>
        <p:grpSpPr>
          <a:xfrm>
            <a:off x="838200" y="2554925"/>
            <a:ext cx="8013189" cy="338455"/>
            <a:chOff x="0" y="-19050"/>
            <a:chExt cx="10684251" cy="451273"/>
          </a:xfrm>
        </p:grpSpPr>
        <p:grpSp>
          <p:nvGrpSpPr>
            <p:cNvPr id="49" name="Group 49"/>
            <p:cNvGrpSpPr/>
            <p:nvPr/>
          </p:nvGrpSpPr>
          <p:grpSpPr>
            <a:xfrm>
              <a:off x="0" y="25400"/>
              <a:ext cx="368253" cy="381000"/>
              <a:chOff x="0" y="0"/>
              <a:chExt cx="121236" cy="125432"/>
            </a:xfrm>
          </p:grpSpPr>
          <p:sp>
            <p:nvSpPr>
              <p:cNvPr id="50" name="Freeform 50"/>
              <p:cNvSpPr/>
              <p:nvPr/>
            </p:nvSpPr>
            <p:spPr>
              <a:xfrm>
                <a:off x="0" y="0"/>
                <a:ext cx="121236" cy="125432"/>
              </a:xfrm>
              <a:custGeom>
                <a:avLst/>
                <a:gdLst/>
                <a:ahLst/>
                <a:cxnLst/>
                <a:rect l="l" t="t" r="r" b="b"/>
                <a:pathLst>
                  <a:path w="121236" h="125432">
                    <a:moveTo>
                      <a:pt x="60618" y="0"/>
                    </a:moveTo>
                    <a:cubicBezTo>
                      <a:pt x="27140" y="0"/>
                      <a:pt x="0" y="28079"/>
                      <a:pt x="0" y="62716"/>
                    </a:cubicBezTo>
                    <a:cubicBezTo>
                      <a:pt x="0" y="97353"/>
                      <a:pt x="27140" y="125432"/>
                      <a:pt x="60618" y="125432"/>
                    </a:cubicBezTo>
                    <a:cubicBezTo>
                      <a:pt x="94096" y="125432"/>
                      <a:pt x="121236" y="97353"/>
                      <a:pt x="121236" y="62716"/>
                    </a:cubicBezTo>
                    <a:cubicBezTo>
                      <a:pt x="121236" y="28079"/>
                      <a:pt x="94096" y="0"/>
                      <a:pt x="60618" y="0"/>
                    </a:cubicBezTo>
                    <a:close/>
                  </a:path>
                </a:pathLst>
              </a:custGeom>
              <a:solidFill>
                <a:srgbClr val="7FD7F7"/>
              </a:solidFill>
            </p:spPr>
          </p:sp>
          <p:sp>
            <p:nvSpPr>
              <p:cNvPr id="51" name="TextBox 51"/>
              <p:cNvSpPr txBox="1"/>
              <p:nvPr/>
            </p:nvSpPr>
            <p:spPr>
              <a:xfrm>
                <a:off x="11366" y="11759"/>
                <a:ext cx="9850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52" name="TextBox 52"/>
            <p:cNvSpPr txBox="1"/>
            <p:nvPr/>
          </p:nvSpPr>
          <p:spPr>
            <a:xfrm>
              <a:off x="532625" y="-19050"/>
              <a:ext cx="10151626" cy="451273"/>
            </a:xfrm>
            <a:prstGeom prst="rect">
              <a:avLst/>
            </a:prstGeom>
          </p:spPr>
          <p:txBody>
            <a:bodyPr lIns="0" tIns="0" rIns="0" bIns="0" rtlCol="0" anchor="t">
              <a:spAutoFit/>
            </a:bodyPr>
            <a:lstStyle/>
            <a:p>
              <a:pPr algn="l">
                <a:lnSpc>
                  <a:spcPts val="2640"/>
                </a:lnSpc>
              </a:pPr>
              <a:r>
                <a:rPr sz="2400" dirty="0" err="1">
                  <a:solidFill>
                    <a:srgbClr val="002060"/>
                  </a:solidFill>
                  <a:latin typeface="Arial" panose="020B0604020202020204" pitchFamily="34" charset="0"/>
                  <a:ea typeface="SegoeuiPc"/>
                  <a:cs typeface="Arial" panose="020B0604020202020204" pitchFamily="34" charset="0"/>
                  <a:sym typeface="+mn-ea"/>
                </a:rPr>
                <a:t>Thông</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báo</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tức</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thì</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bằng</a:t>
              </a:r>
              <a:r>
                <a:rPr sz="2400" dirty="0">
                  <a:solidFill>
                    <a:srgbClr val="002060"/>
                  </a:solidFill>
                  <a:latin typeface="Arial" panose="020B0604020202020204" pitchFamily="34" charset="0"/>
                  <a:ea typeface="SegoeuiPc"/>
                  <a:cs typeface="Arial" panose="020B0604020202020204" pitchFamily="34" charset="0"/>
                  <a:sym typeface="+mn-ea"/>
                </a:rPr>
                <a:t> toast notification </a:t>
              </a:r>
              <a:endParaRPr lang="en-US" sz="2400" b="1" dirty="0">
                <a:solidFill>
                  <a:srgbClr val="002060"/>
                </a:solidFill>
                <a:latin typeface="Arial" panose="020B0604020202020204" pitchFamily="34" charset="0"/>
                <a:ea typeface="SegoeuiPc"/>
                <a:cs typeface="Arial" panose="020B0604020202020204" pitchFamily="34" charset="0"/>
                <a:sym typeface="+mn-ea"/>
              </a:endParaRPr>
            </a:p>
          </p:txBody>
        </p:sp>
      </p:grpSp>
      <p:grpSp>
        <p:nvGrpSpPr>
          <p:cNvPr id="53" name="Group 53"/>
          <p:cNvGrpSpPr/>
          <p:nvPr/>
        </p:nvGrpSpPr>
        <p:grpSpPr>
          <a:xfrm>
            <a:off x="838200" y="3315206"/>
            <a:ext cx="8013189" cy="338455"/>
            <a:chOff x="0" y="-19050"/>
            <a:chExt cx="10684251" cy="451273"/>
          </a:xfrm>
        </p:grpSpPr>
        <p:grpSp>
          <p:nvGrpSpPr>
            <p:cNvPr id="54" name="Group 54"/>
            <p:cNvGrpSpPr/>
            <p:nvPr/>
          </p:nvGrpSpPr>
          <p:grpSpPr>
            <a:xfrm>
              <a:off x="0" y="25400"/>
              <a:ext cx="368253" cy="381000"/>
              <a:chOff x="0" y="0"/>
              <a:chExt cx="121236" cy="125432"/>
            </a:xfrm>
          </p:grpSpPr>
          <p:sp>
            <p:nvSpPr>
              <p:cNvPr id="55" name="Freeform 55"/>
              <p:cNvSpPr/>
              <p:nvPr/>
            </p:nvSpPr>
            <p:spPr>
              <a:xfrm>
                <a:off x="0" y="0"/>
                <a:ext cx="121236" cy="125432"/>
              </a:xfrm>
              <a:custGeom>
                <a:avLst/>
                <a:gdLst/>
                <a:ahLst/>
                <a:cxnLst/>
                <a:rect l="l" t="t" r="r" b="b"/>
                <a:pathLst>
                  <a:path w="121236" h="125432">
                    <a:moveTo>
                      <a:pt x="60618" y="0"/>
                    </a:moveTo>
                    <a:cubicBezTo>
                      <a:pt x="27140" y="0"/>
                      <a:pt x="0" y="28079"/>
                      <a:pt x="0" y="62716"/>
                    </a:cubicBezTo>
                    <a:cubicBezTo>
                      <a:pt x="0" y="97353"/>
                      <a:pt x="27140" y="125432"/>
                      <a:pt x="60618" y="125432"/>
                    </a:cubicBezTo>
                    <a:cubicBezTo>
                      <a:pt x="94096" y="125432"/>
                      <a:pt x="121236" y="97353"/>
                      <a:pt x="121236" y="62716"/>
                    </a:cubicBezTo>
                    <a:cubicBezTo>
                      <a:pt x="121236" y="28079"/>
                      <a:pt x="94096" y="0"/>
                      <a:pt x="60618" y="0"/>
                    </a:cubicBezTo>
                    <a:close/>
                  </a:path>
                </a:pathLst>
              </a:custGeom>
              <a:solidFill>
                <a:srgbClr val="7FD7F7"/>
              </a:solidFill>
            </p:spPr>
          </p:sp>
          <p:sp>
            <p:nvSpPr>
              <p:cNvPr id="56" name="TextBox 56"/>
              <p:cNvSpPr txBox="1"/>
              <p:nvPr/>
            </p:nvSpPr>
            <p:spPr>
              <a:xfrm>
                <a:off x="11366" y="11759"/>
                <a:ext cx="9850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57" name="TextBox 57"/>
            <p:cNvSpPr txBox="1"/>
            <p:nvPr/>
          </p:nvSpPr>
          <p:spPr>
            <a:xfrm>
              <a:off x="532625" y="-19050"/>
              <a:ext cx="10151626" cy="451273"/>
            </a:xfrm>
            <a:prstGeom prst="rect">
              <a:avLst/>
            </a:prstGeom>
          </p:spPr>
          <p:txBody>
            <a:bodyPr lIns="0" tIns="0" rIns="0" bIns="0" rtlCol="0" anchor="t">
              <a:spAutoFit/>
            </a:bodyPr>
            <a:lstStyle/>
            <a:p>
              <a:pPr algn="l">
                <a:lnSpc>
                  <a:spcPts val="2640"/>
                </a:lnSpc>
              </a:pPr>
              <a:r>
                <a:rPr sz="2400" dirty="0" err="1">
                  <a:solidFill>
                    <a:srgbClr val="002060"/>
                  </a:solidFill>
                  <a:latin typeface="Arial" panose="020B0604020202020204" pitchFamily="34" charset="0"/>
                  <a:ea typeface="SegoeuiPc"/>
                  <a:cs typeface="Arial" panose="020B0604020202020204" pitchFamily="34" charset="0"/>
                  <a:sym typeface="+mn-ea"/>
                </a:rPr>
                <a:t>Có</a:t>
              </a:r>
              <a:r>
                <a:rPr sz="2400" dirty="0">
                  <a:solidFill>
                    <a:srgbClr val="002060"/>
                  </a:solidFill>
                  <a:latin typeface="Arial" panose="020B0604020202020204" pitchFamily="34" charset="0"/>
                  <a:ea typeface="SegoeuiPc"/>
                  <a:cs typeface="Arial" panose="020B0604020202020204" pitchFamily="34" charset="0"/>
                  <a:sym typeface="+mn-ea"/>
                </a:rPr>
                <a:t> loading, skeleton screen, </a:t>
              </a:r>
              <a:r>
                <a:rPr sz="2400" dirty="0" err="1">
                  <a:solidFill>
                    <a:srgbClr val="002060"/>
                  </a:solidFill>
                  <a:latin typeface="Arial" panose="020B0604020202020204" pitchFamily="34" charset="0"/>
                  <a:ea typeface="SegoeuiPc"/>
                  <a:cs typeface="Arial" panose="020B0604020202020204" pitchFamily="34" charset="0"/>
                  <a:sym typeface="+mn-ea"/>
                </a:rPr>
                <a:t>tránh</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thao</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tác</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lặp</a:t>
              </a:r>
              <a:r>
                <a:rPr sz="2400" dirty="0">
                  <a:solidFill>
                    <a:srgbClr val="002060"/>
                  </a:solidFill>
                  <a:latin typeface="Arial" panose="020B0604020202020204" pitchFamily="34" charset="0"/>
                  <a:ea typeface="SegoeuiPc"/>
                  <a:cs typeface="Arial" panose="020B0604020202020204" pitchFamily="34" charset="0"/>
                  <a:sym typeface="+mn-ea"/>
                </a:rPr>
                <a:t> </a:t>
              </a:r>
              <a:endParaRPr lang="en-US" sz="2400" b="1" dirty="0">
                <a:solidFill>
                  <a:srgbClr val="002060"/>
                </a:solidFill>
                <a:latin typeface="Arial" panose="020B0604020202020204" pitchFamily="34" charset="0"/>
                <a:ea typeface="SegoeuiPc"/>
                <a:cs typeface="Arial" panose="020B0604020202020204" pitchFamily="34" charset="0"/>
                <a:sym typeface="+mn-ea"/>
              </a:endParaRPr>
            </a:p>
          </p:txBody>
        </p:sp>
      </p:grpSp>
      <p:grpSp>
        <p:nvGrpSpPr>
          <p:cNvPr id="58" name="Group 58"/>
          <p:cNvGrpSpPr/>
          <p:nvPr/>
        </p:nvGrpSpPr>
        <p:grpSpPr>
          <a:xfrm>
            <a:off x="838200" y="4000054"/>
            <a:ext cx="8013189" cy="338455"/>
            <a:chOff x="0" y="-19050"/>
            <a:chExt cx="10684251" cy="451273"/>
          </a:xfrm>
        </p:grpSpPr>
        <p:grpSp>
          <p:nvGrpSpPr>
            <p:cNvPr id="59" name="Group 59"/>
            <p:cNvGrpSpPr/>
            <p:nvPr/>
          </p:nvGrpSpPr>
          <p:grpSpPr>
            <a:xfrm>
              <a:off x="0" y="25400"/>
              <a:ext cx="368253" cy="381000"/>
              <a:chOff x="0" y="0"/>
              <a:chExt cx="121236" cy="125432"/>
            </a:xfrm>
          </p:grpSpPr>
          <p:sp>
            <p:nvSpPr>
              <p:cNvPr id="60" name="Freeform 60"/>
              <p:cNvSpPr/>
              <p:nvPr/>
            </p:nvSpPr>
            <p:spPr>
              <a:xfrm>
                <a:off x="0" y="0"/>
                <a:ext cx="121236" cy="125432"/>
              </a:xfrm>
              <a:custGeom>
                <a:avLst/>
                <a:gdLst/>
                <a:ahLst/>
                <a:cxnLst/>
                <a:rect l="l" t="t" r="r" b="b"/>
                <a:pathLst>
                  <a:path w="121236" h="125432">
                    <a:moveTo>
                      <a:pt x="60618" y="0"/>
                    </a:moveTo>
                    <a:cubicBezTo>
                      <a:pt x="27140" y="0"/>
                      <a:pt x="0" y="28079"/>
                      <a:pt x="0" y="62716"/>
                    </a:cubicBezTo>
                    <a:cubicBezTo>
                      <a:pt x="0" y="97353"/>
                      <a:pt x="27140" y="125432"/>
                      <a:pt x="60618" y="125432"/>
                    </a:cubicBezTo>
                    <a:cubicBezTo>
                      <a:pt x="94096" y="125432"/>
                      <a:pt x="121236" y="97353"/>
                      <a:pt x="121236" y="62716"/>
                    </a:cubicBezTo>
                    <a:cubicBezTo>
                      <a:pt x="121236" y="28079"/>
                      <a:pt x="94096" y="0"/>
                      <a:pt x="60618" y="0"/>
                    </a:cubicBezTo>
                    <a:close/>
                  </a:path>
                </a:pathLst>
              </a:custGeom>
              <a:solidFill>
                <a:srgbClr val="7FD7F7"/>
              </a:solidFill>
            </p:spPr>
          </p:sp>
          <p:sp>
            <p:nvSpPr>
              <p:cNvPr id="61" name="TextBox 61"/>
              <p:cNvSpPr txBox="1"/>
              <p:nvPr/>
            </p:nvSpPr>
            <p:spPr>
              <a:xfrm>
                <a:off x="11366" y="11759"/>
                <a:ext cx="9850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62" name="TextBox 62"/>
            <p:cNvSpPr txBox="1"/>
            <p:nvPr/>
          </p:nvSpPr>
          <p:spPr>
            <a:xfrm>
              <a:off x="532625" y="-19050"/>
              <a:ext cx="10151626" cy="451273"/>
            </a:xfrm>
            <a:prstGeom prst="rect">
              <a:avLst/>
            </a:prstGeom>
          </p:spPr>
          <p:txBody>
            <a:bodyPr wrap="square" lIns="0" tIns="0" rIns="0" bIns="0" rtlCol="0" anchor="t">
              <a:spAutoFit/>
            </a:bodyPr>
            <a:lstStyle/>
            <a:p>
              <a:pPr algn="l">
                <a:lnSpc>
                  <a:spcPts val="2640"/>
                </a:lnSpc>
              </a:pPr>
              <a:r>
                <a:rPr sz="2400" dirty="0" err="1" smtClean="0">
                  <a:solidFill>
                    <a:srgbClr val="002060"/>
                  </a:solidFill>
                  <a:latin typeface="Arial" panose="020B0604020202020204" pitchFamily="34" charset="0"/>
                  <a:ea typeface="SegoeuiPc"/>
                  <a:cs typeface="Arial" panose="020B0604020202020204" pitchFamily="34" charset="0"/>
                  <a:sym typeface="+mn-ea"/>
                </a:rPr>
                <a:t>Phản</a:t>
              </a:r>
              <a:r>
                <a:rPr sz="2400" dirty="0" smtClean="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hồi</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nhanh</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chuyển</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trang</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mượt</a:t>
              </a:r>
              <a:r>
                <a:rPr sz="2400" dirty="0">
                  <a:solidFill>
                    <a:srgbClr val="002060"/>
                  </a:solidFill>
                  <a:latin typeface="Arial" panose="020B0604020202020204" pitchFamily="34" charset="0"/>
                  <a:ea typeface="SegoeuiPc"/>
                  <a:cs typeface="Arial" panose="020B0604020202020204" pitchFamily="34" charset="0"/>
                  <a:sym typeface="+mn-ea"/>
                </a:rPr>
                <a:t> </a:t>
              </a:r>
              <a:endParaRPr lang="en-US" sz="2400" b="1" dirty="0">
                <a:solidFill>
                  <a:srgbClr val="002060"/>
                </a:solidFill>
                <a:latin typeface="Arial" panose="020B0604020202020204" pitchFamily="34" charset="0"/>
                <a:ea typeface="SegoeuiPc"/>
                <a:cs typeface="Arial" panose="020B0604020202020204" pitchFamily="34" charset="0"/>
                <a:sym typeface="+mn-ea"/>
              </a:endParaRPr>
            </a:p>
          </p:txBody>
        </p:sp>
      </p:grpSp>
      <p:grpSp>
        <p:nvGrpSpPr>
          <p:cNvPr id="17" name="Group 43"/>
          <p:cNvGrpSpPr/>
          <p:nvPr/>
        </p:nvGrpSpPr>
        <p:grpSpPr>
          <a:xfrm>
            <a:off x="838200" y="4725227"/>
            <a:ext cx="7936989" cy="338455"/>
            <a:chOff x="0" y="5503"/>
            <a:chExt cx="10582651" cy="451273"/>
          </a:xfrm>
        </p:grpSpPr>
        <p:grpSp>
          <p:nvGrpSpPr>
            <p:cNvPr id="18" name="Group 44"/>
            <p:cNvGrpSpPr/>
            <p:nvPr/>
          </p:nvGrpSpPr>
          <p:grpSpPr>
            <a:xfrm>
              <a:off x="0" y="25400"/>
              <a:ext cx="368253" cy="381000"/>
              <a:chOff x="0" y="0"/>
              <a:chExt cx="121236" cy="125432"/>
            </a:xfrm>
          </p:grpSpPr>
          <p:sp>
            <p:nvSpPr>
              <p:cNvPr id="19" name="Freeform 45"/>
              <p:cNvSpPr/>
              <p:nvPr/>
            </p:nvSpPr>
            <p:spPr>
              <a:xfrm>
                <a:off x="0" y="0"/>
                <a:ext cx="121236" cy="125432"/>
              </a:xfrm>
              <a:custGeom>
                <a:avLst/>
                <a:gdLst/>
                <a:ahLst/>
                <a:cxnLst/>
                <a:rect l="l" t="t" r="r" b="b"/>
                <a:pathLst>
                  <a:path w="121236" h="125432">
                    <a:moveTo>
                      <a:pt x="60618" y="0"/>
                    </a:moveTo>
                    <a:cubicBezTo>
                      <a:pt x="27140" y="0"/>
                      <a:pt x="0" y="28079"/>
                      <a:pt x="0" y="62716"/>
                    </a:cubicBezTo>
                    <a:cubicBezTo>
                      <a:pt x="0" y="97353"/>
                      <a:pt x="27140" y="125432"/>
                      <a:pt x="60618" y="125432"/>
                    </a:cubicBezTo>
                    <a:cubicBezTo>
                      <a:pt x="94096" y="125432"/>
                      <a:pt x="121236" y="97353"/>
                      <a:pt x="121236" y="62716"/>
                    </a:cubicBezTo>
                    <a:cubicBezTo>
                      <a:pt x="121236" y="28079"/>
                      <a:pt x="94096" y="0"/>
                      <a:pt x="60618" y="0"/>
                    </a:cubicBezTo>
                    <a:close/>
                  </a:path>
                </a:pathLst>
              </a:custGeom>
              <a:solidFill>
                <a:srgbClr val="7FD7F7"/>
              </a:solidFill>
            </p:spPr>
          </p:sp>
          <p:sp>
            <p:nvSpPr>
              <p:cNvPr id="20" name="TextBox 46"/>
              <p:cNvSpPr txBox="1"/>
              <p:nvPr/>
            </p:nvSpPr>
            <p:spPr>
              <a:xfrm>
                <a:off x="11366" y="11759"/>
                <a:ext cx="98504" cy="101914"/>
              </a:xfrm>
              <a:prstGeom prst="rect">
                <a:avLst/>
              </a:prstGeom>
            </p:spPr>
            <p:txBody>
              <a:bodyPr lIns="50800" tIns="50800" rIns="50800" bIns="50800" rtlCol="0" anchor="ctr"/>
              <a:lstStyle/>
              <a:p>
                <a:pPr algn="ctr">
                  <a:lnSpc>
                    <a:spcPts val="1680"/>
                  </a:lnSpc>
                </a:pPr>
                <a:endParaRPr sz="2400">
                  <a:solidFill>
                    <a:srgbClr val="002060"/>
                  </a:solidFill>
                  <a:latin typeface="Arial" panose="020B0604020202020204" pitchFamily="34" charset="0"/>
                  <a:cs typeface="Arial" panose="020B0604020202020204" pitchFamily="34" charset="0"/>
                </a:endParaRPr>
              </a:p>
            </p:txBody>
          </p:sp>
        </p:grpSp>
        <p:sp>
          <p:nvSpPr>
            <p:cNvPr id="21" name="TextBox 47"/>
            <p:cNvSpPr txBox="1"/>
            <p:nvPr/>
          </p:nvSpPr>
          <p:spPr>
            <a:xfrm>
              <a:off x="532625" y="5503"/>
              <a:ext cx="10050026" cy="451273"/>
            </a:xfrm>
            <a:prstGeom prst="rect">
              <a:avLst/>
            </a:prstGeom>
          </p:spPr>
          <p:txBody>
            <a:bodyPr wrap="square" lIns="0" tIns="0" rIns="0" bIns="0" rtlCol="0" anchor="t">
              <a:spAutoFit/>
            </a:bodyPr>
            <a:lstStyle/>
            <a:p>
              <a:pPr algn="l">
                <a:lnSpc>
                  <a:spcPts val="2640"/>
                </a:lnSpc>
              </a:pPr>
              <a:r>
                <a:rPr sz="2400" dirty="0" err="1" smtClean="0">
                  <a:solidFill>
                    <a:srgbClr val="002060"/>
                  </a:solidFill>
                  <a:latin typeface="Arial" panose="020B0604020202020204" pitchFamily="34" charset="0"/>
                  <a:ea typeface="SegoeuiPc"/>
                  <a:cs typeface="Arial" panose="020B0604020202020204" pitchFamily="34" charset="0"/>
                  <a:sym typeface="+mn-ea"/>
                </a:rPr>
                <a:t>Hỗ</a:t>
              </a:r>
              <a:r>
                <a:rPr sz="2400" dirty="0" smtClean="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trợ</a:t>
              </a:r>
              <a:r>
                <a:rPr sz="2400" dirty="0">
                  <a:solidFill>
                    <a:srgbClr val="002060"/>
                  </a:solidFill>
                  <a:latin typeface="Arial" panose="020B0604020202020204" pitchFamily="34" charset="0"/>
                  <a:ea typeface="SegoeuiPc"/>
                  <a:cs typeface="Arial" panose="020B0604020202020204" pitchFamily="34" charset="0"/>
                  <a:sym typeface="+mn-ea"/>
                </a:rPr>
                <a:t> keyboard, screen reader, </a:t>
              </a:r>
              <a:r>
                <a:rPr sz="2400" dirty="0" err="1">
                  <a:solidFill>
                    <a:srgbClr val="002060"/>
                  </a:solidFill>
                  <a:latin typeface="Arial" panose="020B0604020202020204" pitchFamily="34" charset="0"/>
                  <a:ea typeface="SegoeuiPc"/>
                  <a:cs typeface="Arial" panose="020B0604020202020204" pitchFamily="34" charset="0"/>
                  <a:sym typeface="+mn-ea"/>
                </a:rPr>
                <a:t>độ</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tương</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phản</a:t>
              </a:r>
              <a:r>
                <a:rPr sz="2400" dirty="0">
                  <a:solidFill>
                    <a:srgbClr val="002060"/>
                  </a:solidFill>
                  <a:latin typeface="Arial" panose="020B0604020202020204" pitchFamily="34" charset="0"/>
                  <a:ea typeface="SegoeuiPc"/>
                  <a:cs typeface="Arial" panose="020B0604020202020204" pitchFamily="34" charset="0"/>
                  <a:sym typeface="+mn-ea"/>
                </a:rPr>
                <a:t> </a:t>
              </a:r>
              <a:r>
                <a:rPr sz="2400" dirty="0" err="1">
                  <a:solidFill>
                    <a:srgbClr val="002060"/>
                  </a:solidFill>
                  <a:latin typeface="Arial" panose="020B0604020202020204" pitchFamily="34" charset="0"/>
                  <a:ea typeface="SegoeuiPc"/>
                  <a:cs typeface="Arial" panose="020B0604020202020204" pitchFamily="34" charset="0"/>
                  <a:sym typeface="+mn-ea"/>
                </a:rPr>
                <a:t>tốt</a:t>
              </a:r>
              <a:endParaRPr lang="en-US" sz="2400" dirty="0">
                <a:solidFill>
                  <a:srgbClr val="002060"/>
                </a:solidFill>
                <a:latin typeface="Arial" panose="020B0604020202020204" pitchFamily="34" charset="0"/>
                <a:ea typeface="SegoeuiPc"/>
                <a:cs typeface="Arial" panose="020B0604020202020204" pitchFamily="34" charset="0"/>
                <a:sym typeface="+mn-ea"/>
              </a:endParaRPr>
            </a:p>
          </p:txBody>
        </p:sp>
      </p:grpSp>
      <p:grpSp>
        <p:nvGrpSpPr>
          <p:cNvPr id="41" name="Group 8"/>
          <p:cNvGrpSpPr/>
          <p:nvPr/>
        </p:nvGrpSpPr>
        <p:grpSpPr>
          <a:xfrm>
            <a:off x="260201" y="6832240"/>
            <a:ext cx="9233200" cy="331402"/>
            <a:chOff x="0" y="-19049"/>
            <a:chExt cx="12310933" cy="441869"/>
          </a:xfrm>
        </p:grpSpPr>
        <p:grpSp>
          <p:nvGrpSpPr>
            <p:cNvPr id="42" name="Group 9"/>
            <p:cNvGrpSpPr>
              <a:grpSpLocks noChangeAspect="1"/>
            </p:cNvGrpSpPr>
            <p:nvPr/>
          </p:nvGrpSpPr>
          <p:grpSpPr>
            <a:xfrm>
              <a:off x="2682866" y="46656"/>
              <a:ext cx="9628067" cy="146307"/>
              <a:chOff x="90219" y="0"/>
              <a:chExt cx="12362509" cy="187859"/>
            </a:xfrm>
          </p:grpSpPr>
          <p:sp>
            <p:nvSpPr>
              <p:cNvPr id="65"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63"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64"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17270"/>
            <a:ext cx="4541520" cy="408766"/>
          </a:xfrm>
          <a:prstGeom prst="rect">
            <a:avLst/>
          </a:prstGeom>
        </p:spPr>
        <p:txBody>
          <a:bodyPr wrap="square" lIns="0" tIns="0" rIns="0" bIns="0" rtlCol="0" anchor="t">
            <a:spAutoFit/>
          </a:bodyPr>
          <a:lstStyle/>
          <a:p>
            <a:pPr algn="l">
              <a:lnSpc>
                <a:spcPts val="3360"/>
              </a:lnSpc>
            </a:pP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Các</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trang</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giao</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diện</a:t>
            </a:r>
            <a:endPar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pic>
        <p:nvPicPr>
          <p:cNvPr id="3074" name="Picture 2" descr="53cb954fd1745e2a076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474" y="1637123"/>
            <a:ext cx="3655771" cy="457283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75" name="Picture 3" descr="chitieto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47596" y="974130"/>
            <a:ext cx="3393727" cy="522762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6" name="Rectangle 15"/>
          <p:cNvSpPr/>
          <p:nvPr/>
        </p:nvSpPr>
        <p:spPr>
          <a:xfrm>
            <a:off x="1062205" y="6322864"/>
            <a:ext cx="3198311" cy="369332"/>
          </a:xfrm>
          <a:prstGeom prst="rect">
            <a:avLst/>
          </a:prstGeom>
        </p:spPr>
        <p:txBody>
          <a:bodyPr wrap="none">
            <a:spAutoFit/>
          </a:bodyPr>
          <a:lstStyle/>
          <a:p>
            <a:r>
              <a:rPr lang="en-US" dirty="0" err="1">
                <a:solidFill>
                  <a:srgbClr val="002060"/>
                </a:solidFill>
                <a:latin typeface="Arial" panose="020B0604020202020204" pitchFamily="34" charset="0"/>
                <a:cs typeface="Arial" panose="020B0604020202020204" pitchFamily="34" charset="0"/>
              </a:rPr>
              <a:t>Hình</a:t>
            </a:r>
            <a:r>
              <a:rPr lang="en-US" dirty="0">
                <a:solidFill>
                  <a:srgbClr val="002060"/>
                </a:solidFill>
                <a:latin typeface="Arial" panose="020B0604020202020204" pitchFamily="34" charset="0"/>
                <a:cs typeface="Arial" panose="020B0604020202020204" pitchFamily="34" charset="0"/>
              </a:rPr>
              <a:t> </a:t>
            </a:r>
            <a:r>
              <a:rPr lang="en-US" dirty="0" smtClean="0">
                <a:solidFill>
                  <a:srgbClr val="002060"/>
                </a:solidFill>
                <a:latin typeface="Arial" panose="020B0604020202020204" pitchFamily="34" charset="0"/>
                <a:cs typeface="Arial" panose="020B0604020202020204" pitchFamily="34" charset="0"/>
              </a:rPr>
              <a:t>4.1</a:t>
            </a:r>
            <a:r>
              <a:rPr lang="en-US" dirty="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Giao</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diện</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trang</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chủ</a:t>
            </a:r>
            <a:endParaRPr lang="en-US" dirty="0">
              <a:solidFill>
                <a:srgbClr val="002060"/>
              </a:solidFill>
              <a:latin typeface="Arial" panose="020B0604020202020204" pitchFamily="34" charset="0"/>
              <a:cs typeface="Arial" panose="020B0604020202020204" pitchFamily="34" charset="0"/>
            </a:endParaRPr>
          </a:p>
        </p:txBody>
      </p:sp>
      <p:sp>
        <p:nvSpPr>
          <p:cNvPr id="19" name="Rectangle 18"/>
          <p:cNvSpPr/>
          <p:nvPr/>
        </p:nvSpPr>
        <p:spPr>
          <a:xfrm>
            <a:off x="5154172" y="6322864"/>
            <a:ext cx="3980577" cy="369332"/>
          </a:xfrm>
          <a:prstGeom prst="rect">
            <a:avLst/>
          </a:prstGeom>
        </p:spPr>
        <p:txBody>
          <a:bodyPr wrap="none">
            <a:spAutoFit/>
          </a:bodyPr>
          <a:lstStyle/>
          <a:p>
            <a:r>
              <a:rPr lang="en-US" dirty="0" err="1">
                <a:solidFill>
                  <a:srgbClr val="002060"/>
                </a:solidFill>
                <a:latin typeface="Arial" panose="020B0604020202020204" pitchFamily="34" charset="0"/>
                <a:cs typeface="Arial" panose="020B0604020202020204" pitchFamily="34" charset="0"/>
              </a:rPr>
              <a:t>Hình</a:t>
            </a:r>
            <a:r>
              <a:rPr lang="en-US" dirty="0">
                <a:solidFill>
                  <a:srgbClr val="002060"/>
                </a:solidFill>
                <a:latin typeface="Arial" panose="020B0604020202020204" pitchFamily="34" charset="0"/>
                <a:cs typeface="Arial" panose="020B0604020202020204" pitchFamily="34" charset="0"/>
              </a:rPr>
              <a:t> </a:t>
            </a:r>
            <a:r>
              <a:rPr lang="en-US" dirty="0" smtClean="0">
                <a:solidFill>
                  <a:srgbClr val="002060"/>
                </a:solidFill>
                <a:latin typeface="Arial" panose="020B0604020202020204" pitchFamily="34" charset="0"/>
                <a:cs typeface="Arial" panose="020B0604020202020204" pitchFamily="34" charset="0"/>
              </a:rPr>
              <a:t>4.2. </a:t>
            </a:r>
            <a:r>
              <a:rPr lang="en-US" dirty="0" err="1" smtClean="0">
                <a:solidFill>
                  <a:srgbClr val="002060"/>
                </a:solidFill>
                <a:latin typeface="Arial" panose="020B0604020202020204" pitchFamily="34" charset="0"/>
                <a:cs typeface="Arial" panose="020B0604020202020204" pitchFamily="34" charset="0"/>
              </a:rPr>
              <a:t>Giao</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diện</a:t>
            </a:r>
            <a:r>
              <a:rPr lang="en-US" dirty="0" smtClean="0">
                <a:solidFill>
                  <a:srgbClr val="002060"/>
                </a:solidFill>
                <a:latin typeface="Arial" panose="020B0604020202020204" pitchFamily="34" charset="0"/>
                <a:cs typeface="Arial" panose="020B0604020202020204" pitchFamily="34" charset="0"/>
              </a:rPr>
              <a:t> chi </a:t>
            </a:r>
            <a:r>
              <a:rPr lang="en-US" dirty="0" err="1" smtClean="0">
                <a:solidFill>
                  <a:srgbClr val="002060"/>
                </a:solidFill>
                <a:latin typeface="Arial" panose="020B0604020202020204" pitchFamily="34" charset="0"/>
                <a:cs typeface="Arial" panose="020B0604020202020204" pitchFamily="34" charset="0"/>
              </a:rPr>
              <a:t>tiết</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sản</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phẩm</a:t>
            </a:r>
            <a:endParaRPr lang="en-US" dirty="0">
              <a:solidFill>
                <a:srgbClr val="002060"/>
              </a:solidFill>
              <a:latin typeface="Arial" panose="020B0604020202020204" pitchFamily="34" charset="0"/>
              <a:cs typeface="Arial" panose="020B0604020202020204" pitchFamily="34" charset="0"/>
            </a:endParaRPr>
          </a:p>
        </p:txBody>
      </p:sp>
      <p:grpSp>
        <p:nvGrpSpPr>
          <p:cNvPr id="20" name="Group 8"/>
          <p:cNvGrpSpPr/>
          <p:nvPr/>
        </p:nvGrpSpPr>
        <p:grpSpPr>
          <a:xfrm>
            <a:off x="260201" y="6832240"/>
            <a:ext cx="9233200" cy="331402"/>
            <a:chOff x="0" y="-19049"/>
            <a:chExt cx="12310933" cy="441869"/>
          </a:xfrm>
        </p:grpSpPr>
        <p:grpSp>
          <p:nvGrpSpPr>
            <p:cNvPr id="21" name="Group 9"/>
            <p:cNvGrpSpPr>
              <a:grpSpLocks noChangeAspect="1"/>
            </p:cNvGrpSpPr>
            <p:nvPr/>
          </p:nvGrpSpPr>
          <p:grpSpPr>
            <a:xfrm>
              <a:off x="2682866" y="46656"/>
              <a:ext cx="9628067" cy="146307"/>
              <a:chOff x="90219" y="0"/>
              <a:chExt cx="12362509" cy="187859"/>
            </a:xfrm>
          </p:grpSpPr>
          <p:sp>
            <p:nvSpPr>
              <p:cNvPr id="24"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5"/>
                <a:stretch>
                  <a:fillRect r="-22539" b="6"/>
                </a:stretch>
              </a:blipFill>
            </p:spPr>
          </p:sp>
        </p:grpSp>
        <p:sp>
          <p:nvSpPr>
            <p:cNvPr id="22"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3"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1350634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39034"/>
            <a:ext cx="4541520" cy="408766"/>
          </a:xfrm>
          <a:prstGeom prst="rect">
            <a:avLst/>
          </a:prstGeom>
        </p:spPr>
        <p:txBody>
          <a:bodyPr wrap="square" lIns="0" tIns="0" rIns="0" bIns="0" rtlCol="0" anchor="t">
            <a:spAutoFit/>
          </a:bodyPr>
          <a:lstStyle/>
          <a:p>
            <a:pPr algn="l">
              <a:lnSpc>
                <a:spcPts val="3360"/>
              </a:lnSpc>
            </a:pP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Kiểm</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thử</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Posman</a:t>
            </a:r>
            <a:endPar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16" name="Rectangle 15"/>
          <p:cNvSpPr/>
          <p:nvPr/>
        </p:nvSpPr>
        <p:spPr>
          <a:xfrm>
            <a:off x="5562600" y="1198812"/>
            <a:ext cx="4003858" cy="2277547"/>
          </a:xfrm>
          <a:prstGeom prst="rect">
            <a:avLst/>
          </a:prstGeom>
          <a:ln>
            <a:solidFill>
              <a:schemeClr val="tx1"/>
            </a:solidFill>
            <a:prstDash val="lgDash"/>
          </a:ln>
        </p:spPr>
        <p:txBody>
          <a:bodyPr wrap="square">
            <a:spAutoFit/>
          </a:bodyPr>
          <a:lstStyle/>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a:t>
            </a:r>
          </a:p>
          <a:p>
            <a:pPr algn="just">
              <a:spcBef>
                <a:spcPts val="600"/>
              </a:spcBef>
              <a:tabLst>
                <a:tab pos="685800" algn="l"/>
              </a:tabLst>
            </a:pPr>
            <a:r>
              <a:rPr lang="en-US" sz="1600" dirty="0" smtClean="0">
                <a:latin typeface="Consolas" panose="020B0609020204030204" pitchFamily="49" charset="0"/>
                <a:ea typeface="Times New Roman" panose="02020603050405020304" pitchFamily="18" charset="0"/>
              </a:rPr>
              <a:t> </a:t>
            </a:r>
            <a:r>
              <a:rPr lang="en-US" sz="1600" dirty="0">
                <a:latin typeface="Consolas" panose="020B0609020204030204" pitchFamily="49" charset="0"/>
                <a:ea typeface="Times New Roman" panose="02020603050405020304" pitchFamily="18" charset="0"/>
              </a:rPr>
              <a:t>"email": "testuser@example.com",</a:t>
            </a:r>
          </a:p>
          <a:p>
            <a:pPr algn="just">
              <a:spcBef>
                <a:spcPts val="600"/>
              </a:spcBef>
              <a:tabLst>
                <a:tab pos="685800" algn="l"/>
              </a:tabLst>
            </a:pPr>
            <a:r>
              <a:rPr lang="en-US" sz="1600" dirty="0" smtClean="0">
                <a:latin typeface="Consolas" panose="020B0609020204030204" pitchFamily="49" charset="0"/>
                <a:ea typeface="Times New Roman" panose="02020603050405020304" pitchFamily="18" charset="0"/>
              </a:rPr>
              <a:t> </a:t>
            </a:r>
            <a:r>
              <a:rPr lang="en-US" sz="1600" dirty="0">
                <a:latin typeface="Consolas" panose="020B0609020204030204" pitchFamily="49" charset="0"/>
                <a:ea typeface="Times New Roman" panose="02020603050405020304" pitchFamily="18" charset="0"/>
              </a:rPr>
              <a:t>"password": "password123</a:t>
            </a:r>
            <a:r>
              <a:rPr lang="en-US" sz="1600" dirty="0" smtClean="0">
                <a:latin typeface="Consolas" panose="020B0609020204030204" pitchFamily="49" charset="0"/>
                <a:ea typeface="Times New Roman" panose="02020603050405020304" pitchFamily="18" charset="0"/>
              </a:rPr>
              <a:t>",  </a:t>
            </a:r>
          </a:p>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 </a:t>
            </a:r>
            <a:r>
              <a:rPr lang="en-US" sz="1600" dirty="0" smtClean="0">
                <a:latin typeface="Consolas" panose="020B0609020204030204" pitchFamily="49" charset="0"/>
                <a:ea typeface="Times New Roman" panose="02020603050405020304" pitchFamily="18" charset="0"/>
              </a:rPr>
              <a:t>"</a:t>
            </a:r>
            <a:r>
              <a:rPr lang="en-US" sz="1600" dirty="0">
                <a:latin typeface="Consolas" panose="020B0609020204030204" pitchFamily="49" charset="0"/>
                <a:ea typeface="Times New Roman" panose="02020603050405020304" pitchFamily="18" charset="0"/>
              </a:rPr>
              <a:t>name": "Test User",</a:t>
            </a:r>
          </a:p>
          <a:p>
            <a:pPr algn="just">
              <a:spcBef>
                <a:spcPts val="600"/>
              </a:spcBef>
              <a:tabLst>
                <a:tab pos="685800" algn="l"/>
              </a:tabLst>
            </a:pPr>
            <a:r>
              <a:rPr lang="en-US" sz="1600" dirty="0" smtClean="0">
                <a:latin typeface="Consolas" panose="020B0609020204030204" pitchFamily="49" charset="0"/>
                <a:ea typeface="Times New Roman" panose="02020603050405020304" pitchFamily="18" charset="0"/>
              </a:rPr>
              <a:t> </a:t>
            </a:r>
            <a:r>
              <a:rPr lang="en-US" sz="1600" dirty="0">
                <a:latin typeface="Consolas" panose="020B0609020204030204" pitchFamily="49" charset="0"/>
                <a:ea typeface="Times New Roman" panose="02020603050405020304" pitchFamily="18" charset="0"/>
              </a:rPr>
              <a:t>"phone": "0312456789",</a:t>
            </a:r>
          </a:p>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 </a:t>
            </a:r>
            <a:r>
              <a:rPr lang="en-US" sz="1600" dirty="0" smtClean="0">
                <a:latin typeface="Consolas" panose="020B0609020204030204" pitchFamily="49" charset="0"/>
                <a:ea typeface="Times New Roman" panose="02020603050405020304" pitchFamily="18" charset="0"/>
              </a:rPr>
              <a:t>"</a:t>
            </a:r>
            <a:r>
              <a:rPr lang="en-US" sz="1600" dirty="0">
                <a:latin typeface="Consolas" panose="020B0609020204030204" pitchFamily="49" charset="0"/>
                <a:ea typeface="Times New Roman" panose="02020603050405020304" pitchFamily="18" charset="0"/>
              </a:rPr>
              <a:t>address": "</a:t>
            </a:r>
            <a:r>
              <a:rPr lang="en-US" sz="1600" dirty="0" err="1">
                <a:latin typeface="Consolas" panose="020B0609020204030204" pitchFamily="49" charset="0"/>
                <a:ea typeface="Times New Roman" panose="02020603050405020304" pitchFamily="18" charset="0"/>
              </a:rPr>
              <a:t>phước</a:t>
            </a:r>
            <a:r>
              <a:rPr lang="en-US" sz="1600" dirty="0">
                <a:latin typeface="Consolas" panose="020B0609020204030204" pitchFamily="49" charset="0"/>
                <a:ea typeface="Times New Roman" panose="02020603050405020304" pitchFamily="18" charset="0"/>
              </a:rPr>
              <a:t> </a:t>
            </a:r>
            <a:r>
              <a:rPr lang="en-US" sz="1600" dirty="0" err="1">
                <a:latin typeface="Consolas" panose="020B0609020204030204" pitchFamily="49" charset="0"/>
                <a:ea typeface="Times New Roman" panose="02020603050405020304" pitchFamily="18" charset="0"/>
              </a:rPr>
              <a:t>hảo</a:t>
            </a:r>
            <a:r>
              <a:rPr lang="en-US" sz="1600" dirty="0">
                <a:latin typeface="Consolas" panose="020B0609020204030204" pitchFamily="49" charset="0"/>
                <a:ea typeface="Times New Roman" panose="02020603050405020304" pitchFamily="18" charset="0"/>
              </a:rPr>
              <a:t>"</a:t>
            </a:r>
          </a:p>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a:t>
            </a:r>
          </a:p>
        </p:txBody>
      </p:sp>
      <p:sp>
        <p:nvSpPr>
          <p:cNvPr id="17" name="Rectangle 16"/>
          <p:cNvSpPr/>
          <p:nvPr/>
        </p:nvSpPr>
        <p:spPr>
          <a:xfrm>
            <a:off x="335280" y="1487031"/>
            <a:ext cx="5608320" cy="2246769"/>
          </a:xfrm>
          <a:prstGeom prst="rect">
            <a:avLst/>
          </a:prstGeom>
        </p:spPr>
        <p:txBody>
          <a:bodyPr wrap="square">
            <a:spAutoFit/>
          </a:bodyPr>
          <a:lstStyle/>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Test </a:t>
            </a: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đăng</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ký</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Phương</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thức</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POST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Cổng</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i="1" dirty="0">
                <a:solidFill>
                  <a:srgbClr val="002060"/>
                </a:solidFill>
                <a:latin typeface="Arial" panose="020B0604020202020204" pitchFamily="34" charset="0"/>
                <a:ea typeface="Times New Roman" panose="02020603050405020304" pitchFamily="18" charset="0"/>
                <a:cs typeface="Arial" panose="020B0604020202020204" pitchFamily="34" charset="0"/>
              </a:rPr>
              <a:t>httpp://localhost:3000/api/auth/register</a:t>
            </a:r>
            <a:endPar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Request Body (JSON</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Response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thành</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công</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(201 Create):</a:t>
            </a:r>
            <a:endParaRPr lang="en-US" sz="2000" dirty="0">
              <a:solidFill>
                <a:srgbClr val="00206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4098" name="Picture 2" descr="136fe15b5b62d43c8d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733800"/>
            <a:ext cx="8233382" cy="268816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8" name="Right Arrow 17"/>
          <p:cNvSpPr/>
          <p:nvPr/>
        </p:nvSpPr>
        <p:spPr>
          <a:xfrm>
            <a:off x="3437970" y="2895600"/>
            <a:ext cx="1896030" cy="332084"/>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5400000">
            <a:off x="4835646" y="3423879"/>
            <a:ext cx="213516" cy="269845"/>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70394" y="6467075"/>
            <a:ext cx="4416594" cy="369332"/>
          </a:xfrm>
          <a:prstGeom prst="rect">
            <a:avLst/>
          </a:prstGeom>
        </p:spPr>
        <p:txBody>
          <a:bodyPr wrap="none">
            <a:spAutoFit/>
          </a:bodyPr>
          <a:lstStyle/>
          <a:p>
            <a:r>
              <a:rPr lang="en-US" dirty="0" err="1">
                <a:solidFill>
                  <a:srgbClr val="002060"/>
                </a:solidFill>
                <a:latin typeface="Arial" panose="020B0604020202020204" pitchFamily="34" charset="0"/>
                <a:cs typeface="Arial" panose="020B0604020202020204" pitchFamily="34" charset="0"/>
              </a:rPr>
              <a:t>Hình</a:t>
            </a:r>
            <a:r>
              <a:rPr lang="en-US" dirty="0">
                <a:solidFill>
                  <a:srgbClr val="002060"/>
                </a:solidFill>
                <a:latin typeface="Arial" panose="020B0604020202020204" pitchFamily="34" charset="0"/>
                <a:cs typeface="Arial" panose="020B0604020202020204" pitchFamily="34" charset="0"/>
              </a:rPr>
              <a:t> </a:t>
            </a:r>
            <a:r>
              <a:rPr lang="en-US" dirty="0" smtClean="0">
                <a:solidFill>
                  <a:srgbClr val="002060"/>
                </a:solidFill>
                <a:latin typeface="Arial" panose="020B0604020202020204" pitchFamily="34" charset="0"/>
                <a:cs typeface="Arial" panose="020B0604020202020204" pitchFamily="34" charset="0"/>
              </a:rPr>
              <a:t>4.3. </a:t>
            </a:r>
            <a:r>
              <a:rPr lang="en-US" dirty="0" err="1" smtClean="0">
                <a:solidFill>
                  <a:srgbClr val="002060"/>
                </a:solidFill>
                <a:latin typeface="Arial" panose="020B0604020202020204" pitchFamily="34" charset="0"/>
                <a:cs typeface="Arial" panose="020B0604020202020204" pitchFamily="34" charset="0"/>
              </a:rPr>
              <a:t>Kết</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quả</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khi</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đăng</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ký</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thành</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công</a:t>
            </a:r>
            <a:endParaRPr lang="en-US" dirty="0">
              <a:solidFill>
                <a:srgbClr val="002060"/>
              </a:solidFill>
              <a:latin typeface="Arial" panose="020B0604020202020204" pitchFamily="34" charset="0"/>
              <a:cs typeface="Arial" panose="020B0604020202020204" pitchFamily="34" charset="0"/>
            </a:endParaRPr>
          </a:p>
        </p:txBody>
      </p:sp>
      <p:grpSp>
        <p:nvGrpSpPr>
          <p:cNvPr id="23" name="Group 8"/>
          <p:cNvGrpSpPr/>
          <p:nvPr/>
        </p:nvGrpSpPr>
        <p:grpSpPr>
          <a:xfrm>
            <a:off x="260201" y="6832240"/>
            <a:ext cx="9233200" cy="331402"/>
            <a:chOff x="0" y="-19049"/>
            <a:chExt cx="12310933" cy="441869"/>
          </a:xfrm>
        </p:grpSpPr>
        <p:grpSp>
          <p:nvGrpSpPr>
            <p:cNvPr id="24" name="Group 9"/>
            <p:cNvGrpSpPr>
              <a:grpSpLocks noChangeAspect="1"/>
            </p:cNvGrpSpPr>
            <p:nvPr/>
          </p:nvGrpSpPr>
          <p:grpSpPr>
            <a:xfrm>
              <a:off x="2682866" y="46656"/>
              <a:ext cx="9628067" cy="146307"/>
              <a:chOff x="90219" y="0"/>
              <a:chExt cx="12362509" cy="187859"/>
            </a:xfrm>
          </p:grpSpPr>
          <p:sp>
            <p:nvSpPr>
              <p:cNvPr id="27"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4"/>
                <a:stretch>
                  <a:fillRect r="-22539" b="6"/>
                </a:stretch>
              </a:blipFill>
            </p:spPr>
          </p:sp>
        </p:grpSp>
        <p:sp>
          <p:nvSpPr>
            <p:cNvPr id="25"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6"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37500726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487680" y="1039034"/>
            <a:ext cx="4541520" cy="408766"/>
          </a:xfrm>
          <a:prstGeom prst="rect">
            <a:avLst/>
          </a:prstGeom>
        </p:spPr>
        <p:txBody>
          <a:bodyPr wrap="square" lIns="0" tIns="0" rIns="0" bIns="0" rtlCol="0" anchor="t">
            <a:spAutoFit/>
          </a:bodyPr>
          <a:lstStyle/>
          <a:p>
            <a:pPr algn="l">
              <a:lnSpc>
                <a:spcPts val="3360"/>
              </a:lnSpc>
            </a:pP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Kiểm</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thử</a:t>
            </a:r>
            <a:r>
              <a:rPr lang="en-US" altLang="en-US" sz="2800" b="1" dirty="0" smtClean="0">
                <a:solidFill>
                  <a:srgbClr val="3117D4"/>
                </a:solidFill>
                <a:latin typeface="Arial Bold" panose="020B0704020202020204"/>
                <a:ea typeface="Arial Bold" panose="020B0704020202020204"/>
                <a:cs typeface="Arial Bold" panose="020B0704020202020204"/>
                <a:sym typeface="Arial Bold" panose="020B0704020202020204"/>
              </a:rPr>
              <a:t> </a:t>
            </a:r>
            <a:r>
              <a:rPr lang="en-US" altLang="en-US" sz="2800" b="1" dirty="0" err="1" smtClean="0">
                <a:solidFill>
                  <a:srgbClr val="3117D4"/>
                </a:solidFill>
                <a:latin typeface="Arial Bold" panose="020B0704020202020204"/>
                <a:ea typeface="Arial Bold" panose="020B0704020202020204"/>
                <a:cs typeface="Arial Bold" panose="020B0704020202020204"/>
                <a:sym typeface="Arial Bold" panose="020B0704020202020204"/>
              </a:rPr>
              <a:t>Posman</a:t>
            </a:r>
            <a:endParaRPr lang="vi-VN" altLang="en-US" sz="2800" b="1" dirty="0">
              <a:solidFill>
                <a:srgbClr val="3117D4"/>
              </a:solidFill>
              <a:latin typeface="Arial Bold" panose="020B0704020202020204"/>
              <a:ea typeface="Arial Bold" panose="020B0704020202020204"/>
              <a:cs typeface="Arial Bold" panose="020B0704020202020204"/>
              <a:sym typeface="Arial Bold" panose="020B0704020202020204"/>
            </a:endParaRPr>
          </a:p>
        </p:txBody>
      </p:sp>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4</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quả</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nghiên</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cứu</a:t>
                </a:r>
                <a:endParaRPr lang="en-US" sz="3455" b="1" dirty="0">
                  <a:solidFill>
                    <a:srgbClr val="C00000"/>
                  </a:solidFill>
                  <a:latin typeface="Arial Bold" panose="020B0704020202020204"/>
                  <a:ea typeface="Arial Bold" panose="020B0704020202020204"/>
                  <a:cs typeface="Arial Bold" panose="020B0704020202020204"/>
                  <a:sym typeface="Arial Bold" panose="020B0704020202020204"/>
                </a:endParaRP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16" name="Rectangle 15"/>
          <p:cNvSpPr/>
          <p:nvPr/>
        </p:nvSpPr>
        <p:spPr>
          <a:xfrm>
            <a:off x="5642835" y="2150379"/>
            <a:ext cx="3850568" cy="1308050"/>
          </a:xfrm>
          <a:prstGeom prst="rect">
            <a:avLst/>
          </a:prstGeom>
          <a:ln>
            <a:solidFill>
              <a:schemeClr val="tx1"/>
            </a:solidFill>
            <a:prstDash val="lgDash"/>
          </a:ln>
        </p:spPr>
        <p:txBody>
          <a:bodyPr wrap="square">
            <a:spAutoFit/>
          </a:bodyPr>
          <a:lstStyle/>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a:t>
            </a:r>
          </a:p>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 </a:t>
            </a:r>
            <a:r>
              <a:rPr lang="en-US" sz="1600" dirty="0" smtClean="0">
                <a:latin typeface="Consolas" panose="020B0609020204030204" pitchFamily="49" charset="0"/>
                <a:ea typeface="Times New Roman" panose="02020603050405020304" pitchFamily="18" charset="0"/>
              </a:rPr>
              <a:t>"</a:t>
            </a:r>
            <a:r>
              <a:rPr lang="en-US" sz="1600" dirty="0" err="1">
                <a:latin typeface="Consolas" panose="020B0609020204030204" pitchFamily="49" charset="0"/>
                <a:ea typeface="Times New Roman" panose="02020603050405020304" pitchFamily="18" charset="0"/>
              </a:rPr>
              <a:t>email</a:t>
            </a:r>
            <a:r>
              <a:rPr lang="en-US" sz="1600" dirty="0" err="1" smtClean="0">
                <a:latin typeface="Consolas" panose="020B0609020204030204" pitchFamily="49" charset="0"/>
                <a:ea typeface="Times New Roman" panose="02020603050405020304" pitchFamily="18" charset="0"/>
              </a:rPr>
              <a:t>":"</a:t>
            </a:r>
            <a:r>
              <a:rPr lang="en-US" sz="1600" dirty="0" err="1">
                <a:latin typeface="Consolas" panose="020B0609020204030204" pitchFamily="49" charset="0"/>
                <a:ea typeface="Times New Roman" panose="02020603050405020304" pitchFamily="18" charset="0"/>
              </a:rPr>
              <a:t>testuser@example.com</a:t>
            </a:r>
            <a:r>
              <a:rPr lang="en-US" sz="1600" dirty="0">
                <a:latin typeface="Consolas" panose="020B0609020204030204" pitchFamily="49" charset="0"/>
                <a:ea typeface="Times New Roman" panose="02020603050405020304" pitchFamily="18" charset="0"/>
              </a:rPr>
              <a:t>",</a:t>
            </a:r>
          </a:p>
          <a:p>
            <a:pPr algn="just">
              <a:spcBef>
                <a:spcPts val="600"/>
              </a:spcBef>
              <a:tabLst>
                <a:tab pos="685800" algn="l"/>
              </a:tabLst>
            </a:pPr>
            <a:r>
              <a:rPr lang="en-US" sz="1600" dirty="0">
                <a:latin typeface="Consolas" panose="020B0609020204030204" pitchFamily="49" charset="0"/>
                <a:ea typeface="Times New Roman" panose="02020603050405020304" pitchFamily="18" charset="0"/>
              </a:rPr>
              <a:t> </a:t>
            </a:r>
            <a:r>
              <a:rPr lang="en-US" sz="1600" dirty="0" smtClean="0">
                <a:latin typeface="Consolas" panose="020B0609020204030204" pitchFamily="49" charset="0"/>
                <a:ea typeface="Times New Roman" panose="02020603050405020304" pitchFamily="18" charset="0"/>
              </a:rPr>
              <a:t>"</a:t>
            </a:r>
            <a:r>
              <a:rPr lang="en-US" sz="1600" dirty="0">
                <a:latin typeface="Consolas" panose="020B0609020204030204" pitchFamily="49" charset="0"/>
                <a:ea typeface="Times New Roman" panose="02020603050405020304" pitchFamily="18" charset="0"/>
              </a:rPr>
              <a:t>password": "password123"</a:t>
            </a:r>
          </a:p>
          <a:p>
            <a:pPr algn="just">
              <a:spcBef>
                <a:spcPts val="600"/>
              </a:spcBef>
              <a:tabLst>
                <a:tab pos="685800" algn="l"/>
              </a:tabLst>
            </a:pPr>
            <a:r>
              <a:rPr lang="en-US" sz="1600" dirty="0" smtClean="0">
                <a:latin typeface="Consolas" panose="020B0609020204030204" pitchFamily="49" charset="0"/>
                <a:ea typeface="Times New Roman" panose="02020603050405020304" pitchFamily="18" charset="0"/>
              </a:rPr>
              <a:t>}</a:t>
            </a:r>
            <a:endParaRPr lang="en-US" sz="1600" dirty="0">
              <a:latin typeface="Consolas" panose="020B0609020204030204" pitchFamily="49" charset="0"/>
              <a:ea typeface="Times New Roman" panose="02020603050405020304" pitchFamily="18" charset="0"/>
            </a:endParaRPr>
          </a:p>
        </p:txBody>
      </p:sp>
      <p:sp>
        <p:nvSpPr>
          <p:cNvPr id="17" name="Rectangle 16"/>
          <p:cNvSpPr/>
          <p:nvPr/>
        </p:nvSpPr>
        <p:spPr>
          <a:xfrm>
            <a:off x="335280" y="1487031"/>
            <a:ext cx="5379720" cy="2246769"/>
          </a:xfrm>
          <a:prstGeom prst="rect">
            <a:avLst/>
          </a:prstGeom>
        </p:spPr>
        <p:txBody>
          <a:bodyPr wrap="square">
            <a:spAutoFit/>
          </a:bodyPr>
          <a:lstStyle/>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Test </a:t>
            </a: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đăng</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nhập</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err="1" smtClean="0">
                <a:solidFill>
                  <a:srgbClr val="002060"/>
                </a:solidFill>
                <a:latin typeface="Arial" panose="020B0604020202020204" pitchFamily="34" charset="0"/>
                <a:ea typeface="Times New Roman" panose="02020603050405020304" pitchFamily="18" charset="0"/>
                <a:cs typeface="Arial" panose="020B0604020202020204" pitchFamily="34" charset="0"/>
              </a:rPr>
              <a:t>Phương</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thức</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POST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Cổng</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i="1" dirty="0">
                <a:solidFill>
                  <a:srgbClr val="002060"/>
                </a:solidFill>
                <a:latin typeface="Arial" panose="020B0604020202020204" pitchFamily="34" charset="0"/>
                <a:ea typeface="Times New Roman" panose="02020603050405020304" pitchFamily="18" charset="0"/>
                <a:cs typeface="Arial" panose="020B0604020202020204" pitchFamily="34" charset="0"/>
              </a:rPr>
              <a:t>httpp://</a:t>
            </a:r>
            <a:r>
              <a:rPr lang="en-US" i="1"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localhost:3000/api/auth/login</a:t>
            </a:r>
            <a:endPar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Request Body (JSON</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a:t>
            </a:r>
          </a:p>
          <a:p>
            <a:pPr marL="342900" marR="0" lvl="0" indent="-342900" algn="just">
              <a:spcBef>
                <a:spcPts val="600"/>
              </a:spcBef>
              <a:spcAft>
                <a:spcPts val="600"/>
              </a:spcAft>
              <a:buFont typeface="Wingdings" panose="05000000000000000000" pitchFamily="2" charset="2"/>
              <a:buChar char="Ø"/>
              <a:tabLst>
                <a:tab pos="685800" algn="l"/>
                <a:tab pos="971550" algn="l"/>
              </a:tabLst>
            </a:pP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Response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thành</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err="1">
                <a:solidFill>
                  <a:srgbClr val="002060"/>
                </a:solidFill>
                <a:latin typeface="Arial" panose="020B0604020202020204" pitchFamily="34" charset="0"/>
                <a:ea typeface="Times New Roman" panose="02020603050405020304" pitchFamily="18" charset="0"/>
                <a:cs typeface="Arial" panose="020B0604020202020204" pitchFamily="34" charset="0"/>
              </a:rPr>
              <a:t>công</a:t>
            </a:r>
            <a:r>
              <a:rPr lang="en-US"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r>
              <a:rPr lang="en-US" sz="2000" dirty="0" smtClean="0">
                <a:solidFill>
                  <a:srgbClr val="002060"/>
                </a:solidFill>
                <a:latin typeface="Arial" panose="020B0604020202020204" pitchFamily="34" charset="0"/>
                <a:ea typeface="Times New Roman" panose="02020603050405020304" pitchFamily="18" charset="0"/>
                <a:cs typeface="Arial" panose="020B0604020202020204" pitchFamily="34" charset="0"/>
              </a:rPr>
              <a:t>200 OK):</a:t>
            </a:r>
            <a:endParaRPr lang="en-US" sz="2000" dirty="0">
              <a:solidFill>
                <a:srgbClr val="00206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18" name="Right Arrow 17"/>
          <p:cNvSpPr/>
          <p:nvPr/>
        </p:nvSpPr>
        <p:spPr>
          <a:xfrm>
            <a:off x="3661635" y="2857777"/>
            <a:ext cx="1672365" cy="342623"/>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d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260" y="3733800"/>
            <a:ext cx="8364862" cy="270249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1" name="Rectangle 20"/>
          <p:cNvSpPr/>
          <p:nvPr/>
        </p:nvSpPr>
        <p:spPr>
          <a:xfrm>
            <a:off x="2670394" y="6467075"/>
            <a:ext cx="4416594" cy="369332"/>
          </a:xfrm>
          <a:prstGeom prst="rect">
            <a:avLst/>
          </a:prstGeom>
        </p:spPr>
        <p:txBody>
          <a:bodyPr wrap="none">
            <a:spAutoFit/>
          </a:bodyPr>
          <a:lstStyle/>
          <a:p>
            <a:r>
              <a:rPr lang="en-US" dirty="0" err="1">
                <a:solidFill>
                  <a:srgbClr val="002060"/>
                </a:solidFill>
                <a:latin typeface="Arial" panose="020B0604020202020204" pitchFamily="34" charset="0"/>
                <a:cs typeface="Arial" panose="020B0604020202020204" pitchFamily="34" charset="0"/>
              </a:rPr>
              <a:t>Hình</a:t>
            </a:r>
            <a:r>
              <a:rPr lang="en-US" dirty="0">
                <a:solidFill>
                  <a:srgbClr val="002060"/>
                </a:solidFill>
                <a:latin typeface="Arial" panose="020B0604020202020204" pitchFamily="34" charset="0"/>
                <a:cs typeface="Arial" panose="020B0604020202020204" pitchFamily="34" charset="0"/>
              </a:rPr>
              <a:t> </a:t>
            </a:r>
            <a:r>
              <a:rPr lang="en-US" dirty="0" smtClean="0">
                <a:solidFill>
                  <a:srgbClr val="002060"/>
                </a:solidFill>
                <a:latin typeface="Arial" panose="020B0604020202020204" pitchFamily="34" charset="0"/>
                <a:cs typeface="Arial" panose="020B0604020202020204" pitchFamily="34" charset="0"/>
              </a:rPr>
              <a:t>4.4. </a:t>
            </a:r>
            <a:r>
              <a:rPr lang="en-US" dirty="0" err="1" smtClean="0">
                <a:solidFill>
                  <a:srgbClr val="002060"/>
                </a:solidFill>
                <a:latin typeface="Arial" panose="020B0604020202020204" pitchFamily="34" charset="0"/>
                <a:cs typeface="Arial" panose="020B0604020202020204" pitchFamily="34" charset="0"/>
              </a:rPr>
              <a:t>Kết</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quả</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khi</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đăng</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ký</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thành</a:t>
            </a:r>
            <a:r>
              <a:rPr lang="en-US" dirty="0" smtClean="0">
                <a:solidFill>
                  <a:srgbClr val="002060"/>
                </a:solidFill>
                <a:latin typeface="Arial" panose="020B0604020202020204" pitchFamily="34" charset="0"/>
                <a:cs typeface="Arial" panose="020B0604020202020204" pitchFamily="34" charset="0"/>
              </a:rPr>
              <a:t> </a:t>
            </a:r>
            <a:r>
              <a:rPr lang="en-US" dirty="0" err="1" smtClean="0">
                <a:solidFill>
                  <a:srgbClr val="002060"/>
                </a:solidFill>
                <a:latin typeface="Arial" panose="020B0604020202020204" pitchFamily="34" charset="0"/>
                <a:cs typeface="Arial" panose="020B0604020202020204" pitchFamily="34" charset="0"/>
              </a:rPr>
              <a:t>công</a:t>
            </a:r>
            <a:endParaRPr lang="en-US" dirty="0">
              <a:solidFill>
                <a:srgbClr val="002060"/>
              </a:solidFill>
              <a:latin typeface="Arial" panose="020B0604020202020204" pitchFamily="34" charset="0"/>
              <a:cs typeface="Arial" panose="020B0604020202020204" pitchFamily="34" charset="0"/>
            </a:endParaRPr>
          </a:p>
        </p:txBody>
      </p:sp>
      <p:sp>
        <p:nvSpPr>
          <p:cNvPr id="23" name="Right Arrow 22"/>
          <p:cNvSpPr/>
          <p:nvPr/>
        </p:nvSpPr>
        <p:spPr>
          <a:xfrm rot="5400000">
            <a:off x="4771932" y="3423880"/>
            <a:ext cx="213516" cy="269845"/>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8"/>
          <p:cNvGrpSpPr/>
          <p:nvPr/>
        </p:nvGrpSpPr>
        <p:grpSpPr>
          <a:xfrm>
            <a:off x="260201" y="6832240"/>
            <a:ext cx="9233200" cy="331402"/>
            <a:chOff x="0" y="-19049"/>
            <a:chExt cx="12310933" cy="441869"/>
          </a:xfrm>
        </p:grpSpPr>
        <p:grpSp>
          <p:nvGrpSpPr>
            <p:cNvPr id="25" name="Group 9"/>
            <p:cNvGrpSpPr>
              <a:grpSpLocks noChangeAspect="1"/>
            </p:cNvGrpSpPr>
            <p:nvPr/>
          </p:nvGrpSpPr>
          <p:grpSpPr>
            <a:xfrm>
              <a:off x="2682866" y="46656"/>
              <a:ext cx="9628067" cy="146307"/>
              <a:chOff x="90219" y="0"/>
              <a:chExt cx="12362509" cy="187859"/>
            </a:xfrm>
          </p:grpSpPr>
          <p:sp>
            <p:nvSpPr>
              <p:cNvPr id="28"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4"/>
                <a:stretch>
                  <a:fillRect r="-22539" b="6"/>
                </a:stretch>
              </a:blipFill>
            </p:spPr>
          </p:sp>
        </p:grpSp>
        <p:sp>
          <p:nvSpPr>
            <p:cNvPr id="26"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7"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extLst>
      <p:ext uri="{BB962C8B-B14F-4D97-AF65-F5344CB8AC3E}">
        <p14:creationId xmlns:p14="http://schemas.microsoft.com/office/powerpoint/2010/main" val="27810478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89070" y="137149"/>
            <a:ext cx="5065102" cy="765139"/>
            <a:chOff x="0" y="0"/>
            <a:chExt cx="6753469" cy="1020185"/>
          </a:xfrm>
        </p:grpSpPr>
        <p:grpSp>
          <p:nvGrpSpPr>
            <p:cNvPr id="9" name="Group 9"/>
            <p:cNvGrpSpPr/>
            <p:nvPr/>
          </p:nvGrpSpPr>
          <p:grpSpPr>
            <a:xfrm>
              <a:off x="393157" y="30721"/>
              <a:ext cx="6360312" cy="951389"/>
              <a:chOff x="0" y="0"/>
              <a:chExt cx="6360312" cy="951389"/>
            </a:xfrm>
          </p:grpSpPr>
          <p:sp>
            <p:nvSpPr>
              <p:cNvPr id="10" name="Freeform 10"/>
              <p:cNvSpPr/>
              <p:nvPr/>
            </p:nvSpPr>
            <p:spPr>
              <a:xfrm>
                <a:off x="0" y="0"/>
                <a:ext cx="6360312" cy="951389"/>
              </a:xfrm>
              <a:custGeom>
                <a:avLst/>
                <a:gdLst/>
                <a:ahLst/>
                <a:cxnLst/>
                <a:rect l="l" t="t" r="r" b="b"/>
                <a:pathLst>
                  <a:path w="6360312" h="951389">
                    <a:moveTo>
                      <a:pt x="0" y="0"/>
                    </a:moveTo>
                    <a:lnTo>
                      <a:pt x="6360312" y="0"/>
                    </a:lnTo>
                    <a:lnTo>
                      <a:pt x="6360312" y="951389"/>
                    </a:lnTo>
                    <a:lnTo>
                      <a:pt x="0" y="951389"/>
                    </a:lnTo>
                    <a:close/>
                  </a:path>
                </a:pathLst>
              </a:custGeom>
              <a:solidFill>
                <a:srgbClr val="000000">
                  <a:alpha val="0"/>
                </a:srgbClr>
              </a:solidFill>
            </p:spPr>
          </p:sp>
          <p:sp>
            <p:nvSpPr>
              <p:cNvPr id="11" name="TextBox 11"/>
              <p:cNvSpPr txBox="1"/>
              <p:nvPr/>
            </p:nvSpPr>
            <p:spPr>
              <a:xfrm>
                <a:off x="0" y="-19050"/>
                <a:ext cx="6360312" cy="970439"/>
              </a:xfrm>
              <a:prstGeom prst="rect">
                <a:avLst/>
              </a:prstGeom>
            </p:spPr>
            <p:txBody>
              <a:bodyPr lIns="0" tIns="0" rIns="0" bIns="0" rtlCol="0" anchor="ctr"/>
              <a:lstStyle/>
              <a:p>
                <a:pPr algn="l">
                  <a:lnSpc>
                    <a:spcPts val="4145"/>
                  </a:lnSpc>
                </a:pP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5</a:t>
                </a:r>
                <a:r>
                  <a:rPr lang="en-US" sz="3455" b="1" dirty="0" smtClean="0">
                    <a:solidFill>
                      <a:srgbClr val="C00000"/>
                    </a:solidFill>
                    <a:latin typeface="Arial Bold" panose="020B0704020202020204"/>
                    <a:ea typeface="Arial Bold" panose="020B0704020202020204"/>
                    <a:cs typeface="Arial Bold" panose="020B0704020202020204"/>
                    <a:sym typeface="Arial Bold" panose="020B0704020202020204"/>
                  </a:rPr>
                  <a:t>. </a:t>
                </a:r>
                <a:r>
                  <a:rPr lang="en-US" sz="3455" b="1" dirty="0" err="1">
                    <a:solidFill>
                      <a:srgbClr val="C00000"/>
                    </a:solidFill>
                    <a:latin typeface="Arial Bold" panose="020B0704020202020204"/>
                    <a:ea typeface="Arial Bold" panose="020B0704020202020204"/>
                    <a:cs typeface="Arial Bold" panose="020B0704020202020204"/>
                    <a:sym typeface="Arial Bold" panose="020B0704020202020204"/>
                  </a:rPr>
                  <a:t>Kết</a:t>
                </a:r>
                <a:r>
                  <a:rPr lang="en-US" sz="3455" b="1" dirty="0">
                    <a:solidFill>
                      <a:srgbClr val="C00000"/>
                    </a:solidFill>
                    <a:latin typeface="Arial Bold" panose="020B0704020202020204"/>
                    <a:ea typeface="Arial Bold" panose="020B0704020202020204"/>
                    <a:cs typeface="Arial Bold" panose="020B0704020202020204"/>
                    <a:sym typeface="Arial Bold" panose="020B0704020202020204"/>
                  </a:rPr>
                  <a:t> </a:t>
                </a:r>
                <a:r>
                  <a:rPr lang="vi-VN" altLang="en-US" sz="3455" b="1" dirty="0">
                    <a:solidFill>
                      <a:srgbClr val="C00000"/>
                    </a:solidFill>
                    <a:latin typeface="Arial Bold" panose="020B0704020202020204"/>
                    <a:ea typeface="Arial Bold" panose="020B0704020202020204"/>
                    <a:cs typeface="Arial Bold" panose="020B0704020202020204"/>
                    <a:sym typeface="Arial Bold" panose="020B0704020202020204"/>
                  </a:rPr>
                  <a:t>luận</a:t>
                </a:r>
              </a:p>
            </p:txBody>
          </p:sp>
        </p:grpSp>
        <p:sp>
          <p:nvSpPr>
            <p:cNvPr id="12" name="AutoShape 12"/>
            <p:cNvSpPr/>
            <p:nvPr/>
          </p:nvSpPr>
          <p:spPr>
            <a:xfrm>
              <a:off x="105976" y="1007485"/>
              <a:ext cx="6647493" cy="0"/>
            </a:xfrm>
            <a:prstGeom prst="line">
              <a:avLst/>
            </a:prstGeom>
            <a:ln w="25400" cap="rnd">
              <a:solidFill>
                <a:srgbClr val="5B9BD5"/>
              </a:solidFill>
              <a:prstDash val="solid"/>
              <a:headEnd type="none" w="sm" len="sm"/>
              <a:tailEnd type="none" w="sm" len="sm"/>
            </a:ln>
          </p:spPr>
        </p:sp>
        <p:grpSp>
          <p:nvGrpSpPr>
            <p:cNvPr id="13" name="Group 13"/>
            <p:cNvGrpSpPr/>
            <p:nvPr/>
          </p:nvGrpSpPr>
          <p:grpSpPr>
            <a:xfrm>
              <a:off x="0" y="0"/>
              <a:ext cx="211952" cy="1020185"/>
              <a:chOff x="0" y="0"/>
              <a:chExt cx="211952" cy="1020185"/>
            </a:xfrm>
          </p:grpSpPr>
          <p:sp>
            <p:nvSpPr>
              <p:cNvPr id="14" name="Freeform 14"/>
              <p:cNvSpPr/>
              <p:nvPr/>
            </p:nvSpPr>
            <p:spPr>
              <a:xfrm>
                <a:off x="16891" y="16891"/>
                <a:ext cx="178181" cy="986409"/>
              </a:xfrm>
              <a:custGeom>
                <a:avLst/>
                <a:gdLst/>
                <a:ahLst/>
                <a:cxnLst/>
                <a:rect l="l" t="t" r="r" b="b"/>
                <a:pathLst>
                  <a:path w="178181" h="986409">
                    <a:moveTo>
                      <a:pt x="0" y="0"/>
                    </a:moveTo>
                    <a:lnTo>
                      <a:pt x="178181" y="0"/>
                    </a:lnTo>
                    <a:lnTo>
                      <a:pt x="178181" y="986409"/>
                    </a:lnTo>
                    <a:lnTo>
                      <a:pt x="0" y="986409"/>
                    </a:lnTo>
                    <a:close/>
                  </a:path>
                </a:pathLst>
              </a:custGeom>
              <a:solidFill>
                <a:srgbClr val="2E75B6"/>
              </a:solidFill>
              <a:ln w="12700">
                <a:solidFill>
                  <a:srgbClr val="000000"/>
                </a:solidFill>
              </a:ln>
            </p:spPr>
          </p:sp>
          <p:sp>
            <p:nvSpPr>
              <p:cNvPr id="15" name="Freeform 15"/>
              <p:cNvSpPr/>
              <p:nvPr/>
            </p:nvSpPr>
            <p:spPr>
              <a:xfrm>
                <a:off x="0" y="0"/>
                <a:ext cx="211963" cy="1020191"/>
              </a:xfrm>
              <a:custGeom>
                <a:avLst/>
                <a:gdLst/>
                <a:ahLst/>
                <a:cxnLst/>
                <a:rect l="l" t="t" r="r" b="b"/>
                <a:pathLst>
                  <a:path w="211963" h="1020191">
                    <a:moveTo>
                      <a:pt x="16891" y="0"/>
                    </a:moveTo>
                    <a:lnTo>
                      <a:pt x="195072" y="0"/>
                    </a:lnTo>
                    <a:cubicBezTo>
                      <a:pt x="204470" y="0"/>
                      <a:pt x="211963" y="7620"/>
                      <a:pt x="211963" y="16891"/>
                    </a:cubicBezTo>
                    <a:lnTo>
                      <a:pt x="211963" y="1003300"/>
                    </a:lnTo>
                    <a:cubicBezTo>
                      <a:pt x="211963" y="1012698"/>
                      <a:pt x="204343" y="1020191"/>
                      <a:pt x="195072" y="1020191"/>
                    </a:cubicBezTo>
                    <a:lnTo>
                      <a:pt x="16891" y="1020191"/>
                    </a:lnTo>
                    <a:cubicBezTo>
                      <a:pt x="7620" y="1020191"/>
                      <a:pt x="0" y="1012571"/>
                      <a:pt x="0" y="1003300"/>
                    </a:cubicBezTo>
                    <a:lnTo>
                      <a:pt x="0" y="16891"/>
                    </a:lnTo>
                    <a:cubicBezTo>
                      <a:pt x="0" y="7620"/>
                      <a:pt x="7620" y="0"/>
                      <a:pt x="16891" y="0"/>
                    </a:cubicBezTo>
                    <a:moveTo>
                      <a:pt x="16891" y="33909"/>
                    </a:moveTo>
                    <a:lnTo>
                      <a:pt x="16891" y="16891"/>
                    </a:lnTo>
                    <a:lnTo>
                      <a:pt x="33909" y="16891"/>
                    </a:lnTo>
                    <a:lnTo>
                      <a:pt x="33909" y="1003300"/>
                    </a:lnTo>
                    <a:lnTo>
                      <a:pt x="16891" y="1003300"/>
                    </a:lnTo>
                    <a:lnTo>
                      <a:pt x="16891" y="986282"/>
                    </a:lnTo>
                    <a:lnTo>
                      <a:pt x="195072" y="986282"/>
                    </a:lnTo>
                    <a:lnTo>
                      <a:pt x="195072" y="1003300"/>
                    </a:lnTo>
                    <a:lnTo>
                      <a:pt x="178054" y="1003300"/>
                    </a:lnTo>
                    <a:lnTo>
                      <a:pt x="178054" y="16891"/>
                    </a:lnTo>
                    <a:lnTo>
                      <a:pt x="194945" y="16891"/>
                    </a:lnTo>
                    <a:lnTo>
                      <a:pt x="194945" y="33909"/>
                    </a:lnTo>
                    <a:lnTo>
                      <a:pt x="16891" y="33909"/>
                    </a:lnTo>
                    <a:close/>
                  </a:path>
                </a:pathLst>
              </a:custGeom>
              <a:solidFill>
                <a:srgbClr val="2E75B6"/>
              </a:solidFill>
              <a:ln w="12700">
                <a:solidFill>
                  <a:srgbClr val="000000"/>
                </a:solidFill>
              </a:ln>
            </p:spPr>
          </p:sp>
        </p:grpSp>
      </p:grpSp>
      <p:sp>
        <p:nvSpPr>
          <p:cNvPr id="16" name="Text Box 15"/>
          <p:cNvSpPr txBox="1"/>
          <p:nvPr/>
        </p:nvSpPr>
        <p:spPr>
          <a:xfrm>
            <a:off x="345838" y="1113675"/>
            <a:ext cx="8953076" cy="4695190"/>
          </a:xfrm>
          <a:prstGeom prst="rect">
            <a:avLst/>
          </a:prstGeom>
        </p:spPr>
        <p:txBody>
          <a:bodyPr wrap="square">
            <a:noAutofit/>
          </a:bodyPr>
          <a:lstStyle/>
          <a:p>
            <a:pPr marL="342900" indent="-342900" algn="just">
              <a:lnSpc>
                <a:spcPct val="150000"/>
              </a:lnSpc>
              <a:spcAft>
                <a:spcPts val="600"/>
              </a:spcAft>
              <a:buFont typeface="Wingdings" panose="05000000000000000000" charset="0"/>
              <a:buChar char="Ø"/>
            </a:pPr>
            <a:r>
              <a:rPr sz="2400" b="0" i="0" dirty="0" err="1">
                <a:solidFill>
                  <a:srgbClr val="002060"/>
                </a:solidFill>
                <a:latin typeface="Arial" panose="020B0604020202020204" pitchFamily="34" charset="0"/>
                <a:ea typeface="SegoeuiPc"/>
                <a:cs typeface="Arial" panose="020B0604020202020204" pitchFamily="34" charset="0"/>
              </a:rPr>
              <a:t>Hoàn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thành</a:t>
            </a:r>
            <a:r>
              <a:rPr sz="2400" b="0" i="0" dirty="0">
                <a:solidFill>
                  <a:srgbClr val="002060"/>
                </a:solidFill>
                <a:latin typeface="Arial" panose="020B0604020202020204" pitchFamily="34" charset="0"/>
                <a:ea typeface="SegoeuiPc"/>
                <a:cs typeface="Arial" panose="020B0604020202020204" pitchFamily="34" charset="0"/>
              </a:rPr>
              <a:t> website </a:t>
            </a:r>
            <a:r>
              <a:rPr sz="2400" b="0" i="0" dirty="0" err="1">
                <a:solidFill>
                  <a:srgbClr val="002060"/>
                </a:solidFill>
                <a:latin typeface="Arial" panose="020B0604020202020204" pitchFamily="34" charset="0"/>
                <a:ea typeface="SegoeuiPc"/>
                <a:cs typeface="Arial" panose="020B0604020202020204" pitchFamily="34" charset="0"/>
              </a:rPr>
              <a:t>mua</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bán</a:t>
            </a:r>
            <a:r>
              <a:rPr sz="2400" b="0" i="0" dirty="0">
                <a:solidFill>
                  <a:srgbClr val="002060"/>
                </a:solidFill>
                <a:latin typeface="Arial" panose="020B0604020202020204" pitchFamily="34" charset="0"/>
                <a:ea typeface="SegoeuiPc"/>
                <a:cs typeface="Arial" panose="020B0604020202020204" pitchFamily="34" charset="0"/>
              </a:rPr>
              <a:t> laptop </a:t>
            </a:r>
            <a:r>
              <a:rPr lang="en-US" sz="2400" dirty="0" err="1" smtClean="0">
                <a:solidFill>
                  <a:srgbClr val="002060"/>
                </a:solidFill>
                <a:latin typeface="Arial" panose="020B0604020202020204" pitchFamily="34" charset="0"/>
                <a:ea typeface="SegoeuiPc"/>
                <a:cs typeface="Arial" panose="020B0604020202020204" pitchFamily="34" charset="0"/>
              </a:rPr>
              <a:t>đã</a:t>
            </a:r>
            <a:r>
              <a:rPr lang="en-US" sz="2400" dirty="0" smtClean="0">
                <a:solidFill>
                  <a:srgbClr val="002060"/>
                </a:solidFill>
                <a:latin typeface="Arial" panose="020B0604020202020204" pitchFamily="34" charset="0"/>
                <a:ea typeface="SegoeuiPc"/>
                <a:cs typeface="Arial" panose="020B0604020202020204" pitchFamily="34" charset="0"/>
              </a:rPr>
              <a:t> qua </a:t>
            </a:r>
            <a:r>
              <a:rPr lang="en-US" sz="2400" dirty="0" err="1" smtClean="0">
                <a:solidFill>
                  <a:srgbClr val="002060"/>
                </a:solidFill>
                <a:latin typeface="Arial" panose="020B0604020202020204" pitchFamily="34" charset="0"/>
                <a:ea typeface="SegoeuiPc"/>
                <a:cs typeface="Arial" panose="020B0604020202020204" pitchFamily="34" charset="0"/>
              </a:rPr>
              <a:t>sử</a:t>
            </a:r>
            <a:r>
              <a:rPr lang="en-US" sz="2400" dirty="0" smtClean="0">
                <a:solidFill>
                  <a:srgbClr val="002060"/>
                </a:solidFill>
                <a:latin typeface="Arial" panose="020B0604020202020204" pitchFamily="34" charset="0"/>
                <a:ea typeface="SegoeuiPc"/>
                <a:cs typeface="Arial" panose="020B0604020202020204" pitchFamily="34" charset="0"/>
              </a:rPr>
              <a:t> </a:t>
            </a:r>
            <a:r>
              <a:rPr lang="en-US" sz="2400" dirty="0" err="1" smtClean="0">
                <a:solidFill>
                  <a:srgbClr val="002060"/>
                </a:solidFill>
                <a:latin typeface="Arial" panose="020B0604020202020204" pitchFamily="34" charset="0"/>
                <a:ea typeface="SegoeuiPc"/>
                <a:cs typeface="Arial" panose="020B0604020202020204" pitchFamily="34" charset="0"/>
              </a:rPr>
              <a:t>dụng</a:t>
            </a:r>
            <a:r>
              <a:rPr sz="2400" b="0" i="0" dirty="0" smtClean="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theo</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kiến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smtClean="0">
                <a:solidFill>
                  <a:srgbClr val="002060"/>
                </a:solidFill>
                <a:latin typeface="Arial" panose="020B0604020202020204" pitchFamily="34" charset="0"/>
                <a:ea typeface="SegoeuiPc"/>
                <a:cs typeface="Arial" panose="020B0604020202020204" pitchFamily="34" charset="0"/>
              </a:rPr>
              <a:t>trúc</a:t>
            </a:r>
            <a:r>
              <a:rPr lang="en-US" sz="2400" dirty="0">
                <a:solidFill>
                  <a:srgbClr val="002060"/>
                </a:solidFill>
                <a:latin typeface="Arial" panose="020B0604020202020204" pitchFamily="34" charset="0"/>
                <a:ea typeface="SegoeuiPc"/>
                <a:cs typeface="Arial" panose="020B0604020202020204" pitchFamily="34" charset="0"/>
              </a:rPr>
              <a:t> </a:t>
            </a:r>
            <a:r>
              <a:rPr sz="2400" b="0" i="0" dirty="0" smtClean="0">
                <a:solidFill>
                  <a:srgbClr val="002060"/>
                </a:solidFill>
                <a:latin typeface="Arial" panose="020B0604020202020204" pitchFamily="34" charset="0"/>
                <a:ea typeface="SegoeuiPc"/>
                <a:cs typeface="Arial" panose="020B0604020202020204" pitchFamily="34" charset="0"/>
              </a:rPr>
              <a:t>(React </a:t>
            </a:r>
            <a:r>
              <a:rPr lang="en-US" sz="2400" dirty="0">
                <a:solidFill>
                  <a:srgbClr val="002060"/>
                </a:solidFill>
                <a:latin typeface="Arial" panose="020B0604020202020204" pitchFamily="34" charset="0"/>
                <a:ea typeface="SegoeuiPc"/>
                <a:cs typeface="Arial" panose="020B0604020202020204" pitchFamily="34" charset="0"/>
              </a:rPr>
              <a:t>-</a:t>
            </a:r>
            <a:r>
              <a:rPr sz="2400" b="0" i="0" dirty="0" smtClean="0">
                <a:solidFill>
                  <a:srgbClr val="002060"/>
                </a:solidFill>
                <a:latin typeface="Arial" panose="020B0604020202020204" pitchFamily="34" charset="0"/>
                <a:ea typeface="SegoeuiPc"/>
                <a:cs typeface="Arial" panose="020B0604020202020204" pitchFamily="34" charset="0"/>
              </a:rPr>
              <a:t> </a:t>
            </a:r>
            <a:r>
              <a:rPr sz="2400" b="0" i="0" dirty="0">
                <a:solidFill>
                  <a:srgbClr val="002060"/>
                </a:solidFill>
                <a:latin typeface="Arial" panose="020B0604020202020204" pitchFamily="34" charset="0"/>
                <a:ea typeface="SegoeuiPc"/>
                <a:cs typeface="Arial" panose="020B0604020202020204" pitchFamily="34" charset="0"/>
              </a:rPr>
              <a:t>Express </a:t>
            </a:r>
            <a:r>
              <a:rPr lang="en-US" sz="2400" b="0" i="0" dirty="0" smtClean="0">
                <a:solidFill>
                  <a:srgbClr val="002060"/>
                </a:solidFill>
                <a:latin typeface="Arial" panose="020B0604020202020204" pitchFamily="34" charset="0"/>
                <a:ea typeface="SegoeuiPc"/>
                <a:cs typeface="Arial" panose="020B0604020202020204" pitchFamily="34" charset="0"/>
              </a:rPr>
              <a:t>-</a:t>
            </a:r>
            <a:r>
              <a:rPr sz="2400" b="0" i="0" dirty="0" smtClean="0">
                <a:solidFill>
                  <a:srgbClr val="002060"/>
                </a:solidFill>
                <a:latin typeface="Arial" panose="020B0604020202020204" pitchFamily="34" charset="0"/>
                <a:ea typeface="SegoeuiPc"/>
                <a:cs typeface="Arial" panose="020B0604020202020204" pitchFamily="34" charset="0"/>
              </a:rPr>
              <a:t> </a:t>
            </a:r>
            <a:r>
              <a:rPr sz="2400" b="0" i="0" dirty="0">
                <a:solidFill>
                  <a:srgbClr val="002060"/>
                </a:solidFill>
                <a:latin typeface="Arial" panose="020B0604020202020204" pitchFamily="34" charset="0"/>
                <a:ea typeface="SegoeuiPc"/>
                <a:cs typeface="Arial" panose="020B0604020202020204" pitchFamily="34" charset="0"/>
              </a:rPr>
              <a:t>MySQL), </a:t>
            </a:r>
            <a:r>
              <a:rPr sz="2400" b="0" i="0" dirty="0" err="1">
                <a:solidFill>
                  <a:srgbClr val="002060"/>
                </a:solidFill>
                <a:latin typeface="Arial" panose="020B0604020202020204" pitchFamily="34" charset="0"/>
                <a:ea typeface="SegoeuiPc"/>
                <a:cs typeface="Arial" panose="020B0604020202020204" pitchFamily="34" charset="0"/>
              </a:rPr>
              <a:t>triển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khai</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bằng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smtClean="0">
                <a:solidFill>
                  <a:srgbClr val="002060"/>
                </a:solidFill>
                <a:latin typeface="Arial" panose="020B0604020202020204" pitchFamily="34" charset="0"/>
                <a:ea typeface="SegoeuiPc"/>
                <a:cs typeface="Arial" panose="020B0604020202020204" pitchFamily="34" charset="0"/>
              </a:rPr>
              <a:t>Docker</a:t>
            </a:r>
            <a:r>
              <a:rPr lang="en-US" sz="2400" b="0" i="0" dirty="0" smtClean="0">
                <a:solidFill>
                  <a:srgbClr val="002060"/>
                </a:solidFill>
                <a:latin typeface="Arial" panose="020B0604020202020204" pitchFamily="34" charset="0"/>
                <a:ea typeface="SegoeuiPc"/>
                <a:cs typeface="Arial" panose="020B0604020202020204" pitchFamily="34" charset="0"/>
              </a:rPr>
              <a:t>.</a:t>
            </a:r>
            <a:endParaRPr sz="2400" b="0" i="0" dirty="0">
              <a:solidFill>
                <a:srgbClr val="002060"/>
              </a:solidFill>
              <a:latin typeface="Arial" panose="020B0604020202020204" pitchFamily="34" charset="0"/>
              <a:ea typeface="SegoeuiPc"/>
              <a:cs typeface="Arial" panose="020B0604020202020204" pitchFamily="34" charset="0"/>
            </a:endParaRPr>
          </a:p>
          <a:p>
            <a:pPr marL="342900" indent="-342900" algn="just">
              <a:lnSpc>
                <a:spcPct val="150000"/>
              </a:lnSpc>
              <a:spcAft>
                <a:spcPts val="600"/>
              </a:spcAft>
              <a:buFont typeface="Wingdings" panose="05000000000000000000" charset="0"/>
              <a:buChar char="Ø"/>
            </a:pPr>
            <a:r>
              <a:rPr sz="2400" b="0" i="0" dirty="0" err="1">
                <a:solidFill>
                  <a:srgbClr val="002060"/>
                </a:solidFill>
                <a:latin typeface="Arial" panose="020B0604020202020204" pitchFamily="34" charset="0"/>
                <a:ea typeface="SegoeuiPc"/>
                <a:cs typeface="Arial" panose="020B0604020202020204" pitchFamily="34" charset="0"/>
              </a:rPr>
              <a:t>Đầy</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đủ</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chức</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năng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cho</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người</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dùng</a:t>
            </a:r>
            <a:r>
              <a:rPr sz="2400" b="0" i="0" dirty="0">
                <a:solidFill>
                  <a:srgbClr val="002060"/>
                </a:solidFill>
                <a:latin typeface="Arial" panose="020B0604020202020204" pitchFamily="34" charset="0"/>
                <a:ea typeface="SegoeuiPc"/>
                <a:cs typeface="Arial" panose="020B0604020202020204" pitchFamily="34" charset="0"/>
              </a:rPr>
              <a:t> </a:t>
            </a:r>
            <a:r>
              <a:rPr lang="en-US" sz="2400" b="0" i="0" dirty="0" err="1" smtClean="0">
                <a:solidFill>
                  <a:srgbClr val="002060"/>
                </a:solidFill>
                <a:latin typeface="Arial" panose="020B0604020202020204" pitchFamily="34" charset="0"/>
                <a:ea typeface="SegoeuiPc"/>
                <a:cs typeface="Arial" panose="020B0604020202020204" pitchFamily="34" charset="0"/>
              </a:rPr>
              <a:t>và</a:t>
            </a:r>
            <a:r>
              <a:rPr sz="2400" b="0" i="0" dirty="0" smtClean="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quản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trị</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smtClean="0">
                <a:solidFill>
                  <a:srgbClr val="002060"/>
                </a:solidFill>
                <a:latin typeface="Arial" panose="020B0604020202020204" pitchFamily="34" charset="0"/>
                <a:ea typeface="SegoeuiPc"/>
                <a:cs typeface="Arial" panose="020B0604020202020204" pitchFamily="34" charset="0"/>
              </a:rPr>
              <a:t>viên</a:t>
            </a:r>
            <a:r>
              <a:rPr lang="en-US" sz="2400" dirty="0">
                <a:solidFill>
                  <a:srgbClr val="002060"/>
                </a:solidFill>
                <a:latin typeface="Arial" panose="020B0604020202020204" pitchFamily="34" charset="0"/>
                <a:ea typeface="SegoeuiPc"/>
                <a:cs typeface="Arial" panose="020B0604020202020204" pitchFamily="34" charset="0"/>
              </a:rPr>
              <a:t>.</a:t>
            </a:r>
            <a:endParaRPr sz="2400" b="0" i="0" dirty="0">
              <a:solidFill>
                <a:srgbClr val="002060"/>
              </a:solidFill>
              <a:latin typeface="Arial" panose="020B0604020202020204" pitchFamily="34" charset="0"/>
              <a:ea typeface="SegoeuiPc"/>
              <a:cs typeface="Arial" panose="020B0604020202020204" pitchFamily="34" charset="0"/>
            </a:endParaRPr>
          </a:p>
          <a:p>
            <a:pPr marL="342900" indent="-342900" algn="just">
              <a:lnSpc>
                <a:spcPct val="150000"/>
              </a:lnSpc>
              <a:spcAft>
                <a:spcPts val="600"/>
              </a:spcAft>
              <a:buFont typeface="Wingdings" panose="05000000000000000000" charset="0"/>
              <a:buChar char="Ø"/>
            </a:pPr>
            <a:r>
              <a:rPr sz="2400" b="0" i="0" dirty="0" err="1">
                <a:solidFill>
                  <a:srgbClr val="002060"/>
                </a:solidFill>
                <a:latin typeface="Arial" panose="020B0604020202020204" pitchFamily="34" charset="0"/>
                <a:ea typeface="SegoeuiPc"/>
                <a:cs typeface="Arial" panose="020B0604020202020204" pitchFamily="34" charset="0"/>
              </a:rPr>
              <a:t>Giỏ</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hàng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dùng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localStorage</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đặt</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hàng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ổn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định</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quản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lý</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kho</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hiệu</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quả</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Bảo</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mật</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bằng</a:t>
            </a:r>
            <a:r>
              <a:rPr sz="2400" b="0" i="0" dirty="0">
                <a:solidFill>
                  <a:srgbClr val="002060"/>
                </a:solidFill>
                <a:latin typeface="Arial" panose="020B0604020202020204" pitchFamily="34" charset="0"/>
                <a:ea typeface="SegoeuiPc"/>
                <a:cs typeface="Arial" panose="020B0604020202020204" pitchFamily="34" charset="0"/>
              </a:rPr>
              <a:t> JWT, </a:t>
            </a:r>
            <a:r>
              <a:rPr sz="2400" b="0" i="0" dirty="0" err="1">
                <a:solidFill>
                  <a:srgbClr val="002060"/>
                </a:solidFill>
                <a:latin typeface="Arial" panose="020B0604020202020204" pitchFamily="34" charset="0"/>
                <a:ea typeface="SegoeuiPc"/>
                <a:cs typeface="Arial" panose="020B0604020202020204" pitchFamily="34" charset="0"/>
              </a:rPr>
              <a:t>hỗ</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trợ</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xác</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thực</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sinh</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smtClean="0">
                <a:solidFill>
                  <a:srgbClr val="002060"/>
                </a:solidFill>
                <a:latin typeface="Arial" panose="020B0604020202020204" pitchFamily="34" charset="0"/>
                <a:ea typeface="SegoeuiPc"/>
                <a:cs typeface="Arial" panose="020B0604020202020204" pitchFamily="34" charset="0"/>
              </a:rPr>
              <a:t>viên</a:t>
            </a:r>
            <a:r>
              <a:rPr lang="en-US" sz="2400" dirty="0">
                <a:solidFill>
                  <a:srgbClr val="002060"/>
                </a:solidFill>
                <a:latin typeface="Arial" panose="020B0604020202020204" pitchFamily="34" charset="0"/>
                <a:ea typeface="SegoeuiPc"/>
                <a:cs typeface="Arial" panose="020B0604020202020204" pitchFamily="34" charset="0"/>
              </a:rPr>
              <a:t>.</a:t>
            </a:r>
            <a:endParaRPr sz="2400" b="0" i="0" dirty="0">
              <a:solidFill>
                <a:srgbClr val="002060"/>
              </a:solidFill>
              <a:latin typeface="Arial" panose="020B0604020202020204" pitchFamily="34" charset="0"/>
              <a:ea typeface="SegoeuiPc"/>
              <a:cs typeface="Arial" panose="020B0604020202020204" pitchFamily="34" charset="0"/>
            </a:endParaRPr>
          </a:p>
          <a:p>
            <a:pPr marL="342900" indent="-342900" algn="just">
              <a:lnSpc>
                <a:spcPct val="150000"/>
              </a:lnSpc>
              <a:spcAft>
                <a:spcPts val="600"/>
              </a:spcAft>
              <a:buFont typeface="Wingdings" panose="05000000000000000000" charset="0"/>
              <a:buChar char="Ø"/>
            </a:pPr>
            <a:r>
              <a:rPr sz="2400" b="0" i="0" dirty="0" err="1">
                <a:solidFill>
                  <a:srgbClr val="002060"/>
                </a:solidFill>
                <a:latin typeface="Arial" panose="020B0604020202020204" pitchFamily="34" charset="0"/>
                <a:ea typeface="SegoeuiPc"/>
                <a:cs typeface="Arial" panose="020B0604020202020204" pitchFamily="34" charset="0"/>
              </a:rPr>
              <a:t>Trang</a:t>
            </a:r>
            <a:r>
              <a:rPr sz="2400" b="0" i="0" dirty="0">
                <a:solidFill>
                  <a:srgbClr val="002060"/>
                </a:solidFill>
                <a:latin typeface="Arial" panose="020B0604020202020204" pitchFamily="34" charset="0"/>
                <a:ea typeface="SegoeuiPc"/>
                <a:cs typeface="Arial" panose="020B0604020202020204" pitchFamily="34" charset="0"/>
              </a:rPr>
              <a:t> admin </a:t>
            </a:r>
            <a:r>
              <a:rPr sz="2400" b="0" i="0" dirty="0" err="1">
                <a:solidFill>
                  <a:srgbClr val="002060"/>
                </a:solidFill>
                <a:latin typeface="Arial" panose="020B0604020202020204" pitchFamily="34" charset="0"/>
                <a:ea typeface="SegoeuiPc"/>
                <a:cs typeface="Arial" panose="020B0604020202020204" pitchFamily="34" charset="0"/>
              </a:rPr>
              <a:t>đầy</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đủ</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hỗ</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trợ</a:t>
            </a:r>
            <a:r>
              <a:rPr sz="2400" b="0" i="0" dirty="0">
                <a:solidFill>
                  <a:srgbClr val="002060"/>
                </a:solidFill>
                <a:latin typeface="Arial" panose="020B0604020202020204" pitchFamily="34" charset="0"/>
                <a:ea typeface="SegoeuiPc"/>
                <a:cs typeface="Arial" panose="020B0604020202020204" pitchFamily="34" charset="0"/>
              </a:rPr>
              <a:t> </a:t>
            </a:r>
            <a:r>
              <a:rPr sz="2400" b="0" i="0" dirty="0" smtClean="0">
                <a:solidFill>
                  <a:srgbClr val="002060"/>
                </a:solidFill>
                <a:latin typeface="Arial" panose="020B0604020202020204" pitchFamily="34" charset="0"/>
                <a:ea typeface="SegoeuiPc"/>
                <a:cs typeface="Arial" panose="020B0604020202020204" pitchFamily="34" charset="0"/>
              </a:rPr>
              <a:t>chat real-time</a:t>
            </a:r>
            <a:r>
              <a:rPr lang="en-US" sz="2400" b="0" i="0" dirty="0" smtClean="0">
                <a:solidFill>
                  <a:srgbClr val="002060"/>
                </a:solidFill>
                <a:latin typeface="Arial" panose="020B0604020202020204" pitchFamily="34" charset="0"/>
                <a:ea typeface="SegoeuiPc"/>
                <a:cs typeface="Arial" panose="020B0604020202020204" pitchFamily="34" charset="0"/>
              </a:rPr>
              <a:t>.</a:t>
            </a:r>
            <a:endParaRPr sz="2400" b="0" i="0" dirty="0">
              <a:solidFill>
                <a:srgbClr val="002060"/>
              </a:solidFill>
              <a:latin typeface="Arial" panose="020B0604020202020204" pitchFamily="34" charset="0"/>
              <a:ea typeface="SegoeuiPc"/>
              <a:cs typeface="Arial" panose="020B0604020202020204" pitchFamily="34" charset="0"/>
            </a:endParaRPr>
          </a:p>
          <a:p>
            <a:pPr marL="342900" indent="-342900" algn="just">
              <a:lnSpc>
                <a:spcPct val="150000"/>
              </a:lnSpc>
              <a:spcAft>
                <a:spcPts val="600"/>
              </a:spcAft>
              <a:buFont typeface="Wingdings" panose="05000000000000000000" charset="0"/>
              <a:buChar char="Ø"/>
            </a:pPr>
            <a:r>
              <a:rPr sz="2400" b="0" i="0" dirty="0" err="1">
                <a:solidFill>
                  <a:srgbClr val="002060"/>
                </a:solidFill>
                <a:latin typeface="Arial" panose="020B0604020202020204" pitchFamily="34" charset="0"/>
                <a:ea typeface="SegoeuiPc"/>
                <a:cs typeface="Arial" panose="020B0604020202020204" pitchFamily="34" charset="0"/>
              </a:rPr>
              <a:t>Hệ</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thống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hoạt</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động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ổn</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smtClean="0">
                <a:solidFill>
                  <a:srgbClr val="002060"/>
                </a:solidFill>
                <a:latin typeface="Arial" panose="020B0604020202020204" pitchFamily="34" charset="0"/>
                <a:ea typeface="SegoeuiPc"/>
                <a:cs typeface="Arial" panose="020B0604020202020204" pitchFamily="34" charset="0"/>
              </a:rPr>
              <a:t>định</a:t>
            </a:r>
            <a:r>
              <a:rPr sz="2400" b="0" i="0" dirty="0" smtClean="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trải</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nghiệm</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người</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a:solidFill>
                  <a:srgbClr val="002060"/>
                </a:solidFill>
                <a:latin typeface="Arial" panose="020B0604020202020204" pitchFamily="34" charset="0"/>
                <a:ea typeface="SegoeuiPc"/>
                <a:cs typeface="Arial" panose="020B0604020202020204" pitchFamily="34" charset="0"/>
              </a:rPr>
              <a:t>dùng</a:t>
            </a:r>
            <a:r>
              <a:rPr sz="2400" b="0" i="0" dirty="0">
                <a:solidFill>
                  <a:srgbClr val="002060"/>
                </a:solidFill>
                <a:latin typeface="Arial" panose="020B0604020202020204" pitchFamily="34" charset="0"/>
                <a:ea typeface="SegoeuiPc"/>
                <a:cs typeface="Arial" panose="020B0604020202020204" pitchFamily="34" charset="0"/>
              </a:rPr>
              <a:t> </a:t>
            </a:r>
            <a:r>
              <a:rPr sz="2400" b="0" i="0" dirty="0" err="1" smtClean="0">
                <a:solidFill>
                  <a:srgbClr val="002060"/>
                </a:solidFill>
                <a:latin typeface="Arial" panose="020B0604020202020204" pitchFamily="34" charset="0"/>
                <a:ea typeface="SegoeuiPc"/>
                <a:cs typeface="Arial" panose="020B0604020202020204" pitchFamily="34" charset="0"/>
              </a:rPr>
              <a:t>tốt</a:t>
            </a:r>
            <a:r>
              <a:rPr lang="en-US" sz="2400" b="0" i="0" dirty="0" smtClean="0">
                <a:solidFill>
                  <a:srgbClr val="002060"/>
                </a:solidFill>
                <a:latin typeface="Arial" panose="020B0604020202020204" pitchFamily="34" charset="0"/>
                <a:ea typeface="SegoeuiPc"/>
                <a:cs typeface="Arial" panose="020B0604020202020204" pitchFamily="34" charset="0"/>
              </a:rPr>
              <a:t>.</a:t>
            </a:r>
            <a:endParaRPr sz="2400" b="0" i="0" dirty="0">
              <a:solidFill>
                <a:srgbClr val="002060"/>
              </a:solidFill>
              <a:latin typeface="Arial" panose="020B0604020202020204" pitchFamily="34" charset="0"/>
              <a:ea typeface="SegoeuiPc"/>
              <a:cs typeface="Arial" panose="020B0604020202020204" pitchFamily="34" charset="0"/>
            </a:endParaRPr>
          </a:p>
        </p:txBody>
      </p:sp>
      <p:grpSp>
        <p:nvGrpSpPr>
          <p:cNvPr id="17" name="Group 8"/>
          <p:cNvGrpSpPr/>
          <p:nvPr/>
        </p:nvGrpSpPr>
        <p:grpSpPr>
          <a:xfrm>
            <a:off x="260201" y="6832240"/>
            <a:ext cx="9233200" cy="331402"/>
            <a:chOff x="0" y="-19049"/>
            <a:chExt cx="12310933" cy="441869"/>
          </a:xfrm>
        </p:grpSpPr>
        <p:grpSp>
          <p:nvGrpSpPr>
            <p:cNvPr id="18" name="Group 9"/>
            <p:cNvGrpSpPr>
              <a:grpSpLocks noChangeAspect="1"/>
            </p:cNvGrpSpPr>
            <p:nvPr/>
          </p:nvGrpSpPr>
          <p:grpSpPr>
            <a:xfrm>
              <a:off x="2682866" y="46656"/>
              <a:ext cx="9628067" cy="146307"/>
              <a:chOff x="90219" y="0"/>
              <a:chExt cx="12362509" cy="187859"/>
            </a:xfrm>
          </p:grpSpPr>
          <p:sp>
            <p:nvSpPr>
              <p:cNvPr id="21"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3"/>
                <a:stretch>
                  <a:fillRect r="-22539" b="6"/>
                </a:stretch>
              </a:blipFill>
            </p:spPr>
          </p:sp>
        </p:grpSp>
        <p:sp>
          <p:nvSpPr>
            <p:cNvPr id="19"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20"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0"/>
        </a:gradFill>
        <a:effectLst/>
      </p:bgPr>
    </p:bg>
    <p:spTree>
      <p:nvGrpSpPr>
        <p:cNvPr id="1" name=""/>
        <p:cNvGrpSpPr/>
        <p:nvPr/>
      </p:nvGrpSpPr>
      <p:grpSpPr>
        <a:xfrm>
          <a:off x="0" y="0"/>
          <a:ext cx="0" cy="0"/>
          <a:chOff x="0" y="0"/>
          <a:chExt cx="0" cy="0"/>
        </a:xfrm>
      </p:grpSpPr>
      <p:sp>
        <p:nvSpPr>
          <p:cNvPr id="21" name="Freeform 15"/>
          <p:cNvSpPr/>
          <p:nvPr/>
        </p:nvSpPr>
        <p:spPr>
          <a:xfrm>
            <a:off x="2590800" y="967264"/>
            <a:ext cx="4572000" cy="4572000"/>
          </a:xfrm>
          <a:custGeom>
            <a:avLst/>
            <a:gdLst/>
            <a:ahLst/>
            <a:cxnLst/>
            <a:rect l="l" t="t" r="r" b="b"/>
            <a:pathLst>
              <a:path w="2857500" h="2857500">
                <a:moveTo>
                  <a:pt x="0" y="0"/>
                </a:moveTo>
                <a:lnTo>
                  <a:pt x="2857500" y="0"/>
                </a:lnTo>
                <a:lnTo>
                  <a:pt x="2857500" y="2857500"/>
                </a:lnTo>
                <a:lnTo>
                  <a:pt x="0" y="2857500"/>
                </a:lnTo>
                <a:lnTo>
                  <a:pt x="0" y="0"/>
                </a:lnTo>
                <a:close/>
              </a:path>
            </a:pathLst>
          </a:custGeom>
          <a:blipFill dpi="0" rotWithShape="1">
            <a:blip r:embed="rId3">
              <a:alphaModFix amt="14000"/>
            </a:blip>
            <a:srcRect/>
            <a:stretch>
              <a:fillRect/>
            </a:stretch>
          </a:blipFill>
        </p:spPr>
      </p:sp>
      <p:sp>
        <p:nvSpPr>
          <p:cNvPr id="3" name="TextBox 2"/>
          <p:cNvSpPr txBox="1"/>
          <p:nvPr/>
        </p:nvSpPr>
        <p:spPr>
          <a:xfrm>
            <a:off x="1" y="2514600"/>
            <a:ext cx="9753599" cy="1631216"/>
          </a:xfrm>
          <a:prstGeom prst="rect">
            <a:avLst/>
          </a:prstGeom>
          <a:noFill/>
        </p:spPr>
        <p:txBody>
          <a:bodyPr wrap="square" rtlCol="0">
            <a:spAutoFit/>
          </a:bodyPr>
          <a:lstStyle/>
          <a:p>
            <a:pPr algn="ctr"/>
            <a:r>
              <a:rPr lang="en-US" sz="10000" b="1" dirty="0" smtClean="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THANK YOU</a:t>
            </a:r>
            <a:endParaRPr lang="en-US" sz="10000" b="1"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nvGrpSpPr>
          <p:cNvPr id="9" name="Group 8"/>
          <p:cNvGrpSpPr/>
          <p:nvPr/>
        </p:nvGrpSpPr>
        <p:grpSpPr>
          <a:xfrm>
            <a:off x="260201" y="6832240"/>
            <a:ext cx="9233200" cy="331402"/>
            <a:chOff x="0" y="-19049"/>
            <a:chExt cx="12310933" cy="441869"/>
          </a:xfrm>
        </p:grpSpPr>
        <p:grpSp>
          <p:nvGrpSpPr>
            <p:cNvPr id="10" name="Group 9"/>
            <p:cNvGrpSpPr>
              <a:grpSpLocks noChangeAspect="1"/>
            </p:cNvGrpSpPr>
            <p:nvPr/>
          </p:nvGrpSpPr>
          <p:grpSpPr>
            <a:xfrm>
              <a:off x="2682866" y="46656"/>
              <a:ext cx="9628067" cy="146307"/>
              <a:chOff x="90219" y="0"/>
              <a:chExt cx="12362509" cy="187859"/>
            </a:xfrm>
          </p:grpSpPr>
          <p:sp>
            <p:nvSpPr>
              <p:cNvPr id="18" name="Freeform 10"/>
              <p:cNvSpPr/>
              <p:nvPr/>
            </p:nvSpPr>
            <p:spPr>
              <a:xfrm>
                <a:off x="90219" y="0"/>
                <a:ext cx="12362509" cy="187859"/>
              </a:xfrm>
              <a:custGeom>
                <a:avLst/>
                <a:gdLst/>
                <a:ahLst/>
                <a:cxnLst/>
                <a:rect l="l" t="t" r="r" b="b"/>
                <a:pathLst>
                  <a:path w="12452731" h="189230">
                    <a:moveTo>
                      <a:pt x="0" y="0"/>
                    </a:moveTo>
                    <a:lnTo>
                      <a:pt x="12452731" y="0"/>
                    </a:lnTo>
                    <a:lnTo>
                      <a:pt x="12452731" y="189230"/>
                    </a:lnTo>
                    <a:lnTo>
                      <a:pt x="0" y="189230"/>
                    </a:lnTo>
                    <a:lnTo>
                      <a:pt x="0" y="0"/>
                    </a:lnTo>
                    <a:close/>
                  </a:path>
                </a:pathLst>
              </a:custGeom>
              <a:blipFill>
                <a:blip r:embed="rId4"/>
                <a:stretch>
                  <a:fillRect r="-22539" b="6"/>
                </a:stretch>
              </a:blipFill>
            </p:spPr>
          </p:sp>
        </p:grpSp>
        <p:sp>
          <p:nvSpPr>
            <p:cNvPr id="11" name="TextBox 11"/>
            <p:cNvSpPr txBox="1"/>
            <p:nvPr/>
          </p:nvSpPr>
          <p:spPr>
            <a:xfrm>
              <a:off x="0" y="-19049"/>
              <a:ext cx="2992716" cy="256480"/>
            </a:xfrm>
            <a:prstGeom prst="rect">
              <a:avLst/>
            </a:prstGeom>
          </p:spPr>
          <p:txBody>
            <a:bodyPr lIns="0" tIns="0" rIns="0" bIns="0" rtlCol="0" anchor="t">
              <a:spAutoFit/>
            </a:bodyPr>
            <a:lstStyle/>
            <a:p>
              <a:pPr algn="l">
                <a:lnSpc>
                  <a:spcPts val="1500"/>
                </a:lnSpc>
              </a:pPr>
              <a:r>
                <a:rPr lang="en-US" sz="1500" b="1" spc="109" dirty="0">
                  <a:solidFill>
                    <a:srgbClr val="1F5CA9"/>
                  </a:solidFill>
                  <a:latin typeface="Arial Bold" panose="020B0704020202020204"/>
                  <a:ea typeface="Arial Bold" panose="020B0704020202020204"/>
                  <a:cs typeface="Arial Bold" panose="020B0704020202020204"/>
                  <a:sym typeface="Arial Bold" panose="020B0704020202020204"/>
                </a:rPr>
                <a:t>ĐẠI HỌC TRÀ VINH</a:t>
              </a:r>
            </a:p>
          </p:txBody>
        </p:sp>
        <p:sp>
          <p:nvSpPr>
            <p:cNvPr id="17" name="TextBox 12"/>
            <p:cNvSpPr txBox="1"/>
            <p:nvPr/>
          </p:nvSpPr>
          <p:spPr>
            <a:xfrm>
              <a:off x="0" y="256448"/>
              <a:ext cx="2682868" cy="166372"/>
            </a:xfrm>
            <a:prstGeom prst="rect">
              <a:avLst/>
            </a:prstGeom>
          </p:spPr>
          <p:txBody>
            <a:bodyPr lIns="0" tIns="0" rIns="0" bIns="0" rtlCol="0" anchor="t">
              <a:spAutoFit/>
            </a:bodyPr>
            <a:lstStyle/>
            <a:p>
              <a:pPr algn="l">
                <a:lnSpc>
                  <a:spcPts val="955"/>
                </a:lnSpc>
              </a:pPr>
              <a:r>
                <a:rPr lang="en-US" sz="795" spc="-23" dirty="0" err="1">
                  <a:solidFill>
                    <a:srgbClr val="00AFEF"/>
                  </a:solidFill>
                  <a:latin typeface="Arial" panose="020B0604020202020204"/>
                  <a:ea typeface="Arial" panose="020B0604020202020204"/>
                  <a:cs typeface="Arial" panose="020B0604020202020204"/>
                  <a:sym typeface="Arial" panose="020B0604020202020204"/>
                </a:rPr>
                <a:t>Tận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Tâm</a:t>
              </a:r>
              <a:r>
                <a:rPr lang="en-US" sz="795" spc="-23" dirty="0">
                  <a:solidFill>
                    <a:srgbClr val="00AFEF"/>
                  </a:solidFill>
                  <a:latin typeface="Arial" panose="020B0604020202020204"/>
                  <a:ea typeface="Arial" panose="020B0604020202020204"/>
                  <a:cs typeface="Arial" panose="020B0604020202020204"/>
                  <a:sym typeface="Arial" panose="020B0604020202020204"/>
                </a:rPr>
                <a:t> - Minh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Bạch</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Sáng</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Tạo</a:t>
              </a:r>
              <a:r>
                <a:rPr lang="en-US" sz="795" spc="-23" dirty="0">
                  <a:solidFill>
                    <a:srgbClr val="00AFEF"/>
                  </a:solidFill>
                  <a:latin typeface="Arial" panose="020B0604020202020204"/>
                  <a:ea typeface="Arial" panose="020B0604020202020204"/>
                  <a:cs typeface="Arial" panose="020B0604020202020204"/>
                  <a:sym typeface="Arial" panose="020B0604020202020204"/>
                </a:rPr>
                <a:t> -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Thân</a:t>
              </a:r>
              <a:r>
                <a:rPr lang="en-US" sz="795" spc="-23" dirty="0">
                  <a:solidFill>
                    <a:srgbClr val="00AFEF"/>
                  </a:solidFill>
                  <a:latin typeface="Arial" panose="020B0604020202020204"/>
                  <a:ea typeface="Arial" panose="020B0604020202020204"/>
                  <a:cs typeface="Arial" panose="020B0604020202020204"/>
                  <a:sym typeface="Arial" panose="020B0604020202020204"/>
                </a:rPr>
                <a:t> </a:t>
              </a:r>
              <a:r>
                <a:rPr lang="en-US" sz="795" spc="-23" dirty="0" err="1">
                  <a:solidFill>
                    <a:srgbClr val="00AFEF"/>
                  </a:solidFill>
                  <a:latin typeface="Arial" panose="020B0604020202020204"/>
                  <a:ea typeface="Arial" panose="020B0604020202020204"/>
                  <a:cs typeface="Arial" panose="020B0604020202020204"/>
                  <a:sym typeface="Arial" panose="020B0604020202020204"/>
                </a:rPr>
                <a:t>Thiện</a:t>
              </a:r>
              <a:endParaRPr lang="en-US" sz="795" spc="-23" dirty="0">
                <a:solidFill>
                  <a:srgbClr val="00AFEF"/>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03.50669291338585,&quot;left&quot;:57.6,&quot;top&quot;:170.54346456692912,&quot;width&quot;:65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233</TotalTime>
  <Words>2104</Words>
  <Application>Microsoft Office PowerPoint</Application>
  <PresentationFormat>Custom</PresentationFormat>
  <Paragraphs>266</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Times New Roman</vt:lpstr>
      <vt:lpstr>Consolas</vt:lpstr>
      <vt:lpstr>Arial</vt:lpstr>
      <vt:lpstr>Wingdings</vt:lpstr>
      <vt:lpstr>Arial Bold</vt:lpstr>
      <vt:lpstr>SegoeuiPc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Slide_TTNM.pptx</dc:title>
  <dc:creator/>
  <cp:lastModifiedBy>Admin</cp:lastModifiedBy>
  <cp:revision>66</cp:revision>
  <dcterms:created xsi:type="dcterms:W3CDTF">2006-08-16T00:00:00Z</dcterms:created>
  <dcterms:modified xsi:type="dcterms:W3CDTF">2026-01-08T16:18:30Z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CF440FF233684993BB65B03B72447C0D_12</vt:lpwstr>
  </property>
  <property fmtid="{D5CDD505-2E9C-101B-9397-08002B2CF9AE}" pid="3" name="KSOProductBuildVer">
    <vt:lpwstr>1033-12.2.0.22549</vt:lpwstr>
  </property>
</Properties>
</file>